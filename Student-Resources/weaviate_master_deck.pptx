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Lab 2. This deck covers the entire lab from setup through the security memory extension. The core architecture is identical to Lab 1 (Qdrant) but Weaviate introduces class-based schemas, automatic text2vec-transformers embeddings, GraphQL queries, and distance-based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builds the same production-grade RAG system as Lab 1 but using Weaviate. The architecture is identical — the key difference is how the vector database stores data, generates embeddings, and handles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fixes the fundamental problem with LLMs: they answer from memory alone. By retrieving relevant documents first, we ground the answer in real sources. Weaviate's class-based schema and auto-embeddings make the retrieval layer more structured than Qdrant.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key Weaviate difference: text2vec-transformers is called automatically by Weaviate when you insert or query a document. You do not need to manually generate embeddings in your ingestion code unlike Qdrant.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Weaviate and text2vec-transformers are tightly coupled — Weaviate calls text2vec automatically. This is different from Qdrant where the ingestion API calls the embedding service. The coupling is convenient but means both must be healthy for embeddings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class-based schema is the most important Weaviate concept. Once a class is created you cannot add or remove properties without recreating it. This is a production constraint that teaches schema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architectural difference from the Qdrant lab. In Qdrant, your ingestion code calls the embedding service manually. In Weaviate, text2vec-transformers is configured as Weaviate's vectorizer — Weaviate calls it for you on every insert and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uses the weaviate-client Python SDK to talk to Weaviate via GraphQL. The nearText query is how semantic search works in Weaviate — you pass the question text and Weaviate embeds it and finds matching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NGINX, and Gradio are identical between Lab 1 and Lab 2. Only the database-facing code changes. This is a good teaching moment: good system design means you can swap the DB without touching the LLM or gateway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Weaviate and text2vec-transformers share the same internal port (8080) but are on different service names. They communicate over the internal Docker network — Weaviate calls text2vec-transformers:8080 for vectorization.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Weaviate is internal-only just like Qdrant was in Lab 1. The pattern is identical: only the gateway (NGINX) and UI (Gradio) are externally accessible. The database, embedding service, and API are all internal.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slide is especially useful for students coming from Lab 1. The architecture is the same but the database layer behaves differently. Understanding these differences is a learning outcome of doing both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structure is nearly identical to Lab 1 with one key addition: the patches/ folder. This is where the security_memory module lives and gets applied to the running container with docker 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patches/ folder pattern means the security_memory module is NOT baked into the Docker image. Every time the container is rebuilt you must re-apply it with docker cp. This is a trade-off: explicit visibility vs 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concepts for Lab 2 Lesson 1 are the same as Lab 1 — service separation, internal networking, RAG flow. But students should understand the Weaviate-specific difference: the embedding happens automatically via text2vec, not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identical to Lab 1. The only Weaviate-specific thing to note: Weaviate takes longer to initialize than Qdrant on first start because text2vec-transformers also needs to load its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compose structure is the same as Lab 1. The Weaviate-specific thing to look for is the TRANSFORMERS_INFERENCE_API environment variable — this is what wires Weaviate to text2vec-transformers.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is identical to Lab 1. NGINX enforces X-API-Key, FastAPI double-checks it. 401 vs 403 is the same. The NGINX config template is the same. Students coming from Lab 1 can move through this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Lab 2 diverges most significantly from Lab 1. Weaviate requires a defined class schema. The schema extension exercise teaches the constraint: you cannot just add a field — you must update the class definition and understand immutability.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ingestion flow is nearly identical to Lab 1. The key difference: when you POST to /ingest, FastAPI calls insert_doc() which sends the JSON to Weaviate. Weaviate automatically calls text2vec-transformers to embed the text property before storing.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 endpoints are identical to Lab 1. The retrieval debug endpoint helps isolate whether the Weaviate nearText query is working correctly. The prompt debug shows whether Weaviate objects are being passed to Ollama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identical to Lab 1 except Step 3 uses Weaviate's GraphQL nearText instead of Qdrant's vector search. The result is the same: top-K relevant objects returned. But the query syntax and score type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pull process is identical to Lab 1. The retrieval debug differs in what you look for: distance scores instead of similarity scores. A distance near 0 is excellent, near 1 is acceptable, above 1.5 means poor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and RAG_TOP_K work the same in Weaviate as in Qdrant. The tradeoffs are identical. The only difference students notice is that sources show distance= values instead of score= values in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Gradio UI is largely identical to Lab 1. The key difference: sources show distance= scores instead of similarity scores. Remind students: when they see distance=0.12 it means a very good match, not a bad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debugging approach is identical to Lab 1. The key Weaviate difference: when diagnosing retrieval issues, check both Weaviate AND text2vec-transformers. If text2vec is down, Weaviate cannot embed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C is especially informative in Weaviate: stopping text2vec-transformers doesn't immediately break existing retrieval (vectors are already stored) but new ingestion and new queries will fail because Weaviate can't embed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five-layer architecture is identical to Lab 1. The key Weaviate-specific reflection: you experienced a more constrained database layer (schema discipline, auto-vectorization coupling) which mirrors real production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Lab 2 takeaway beyond Lab 1: you now understand the tradeoffs between different vector database designs. Schema flexibility vs enforcement, manual vs automatic embedding, similarity vs distance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memory extension adds the same capabilities as Lab 1 but with Weaviate-specific differences: the class is called ExpandedVSCodeMemory with typed text properties, GraphQL verification, and distance scores in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corpus organization and environment variables are identical to Lab 1. The difference is in how ingestion works: Weaviate auto-embeds via text2vec on each insert, so there's no separate embedding step in ingest.py.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patches workflow is unique to Weaviate. Students must apply the module BEFORE running ingestion, and must re-apply it after every container rebuild. This is the most common gotcha for Weaviate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contract is the same as Lab 1. The key Weaviate difference in the response: score field uses Weaviate distance (lower = better) rather than Qdrant similarity (higher = better). The field name is still 'score' but the semantics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optional steps are identical to Lab 1. The is_security_related() classifier, get_memory_context(), follow-up suggestions, and scope enforcement all work the same way regardless of which vector database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Grounded security reviews work identically to Lab 1. The only difference: when reviewing /memory/query results, distance scores appear instead of similarity scores. Students should know that low distance = strong match = trustworthy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library and templates are identical to Lab 1. The Gradio UI Security Memory tab shows distance scores. The MCP integration concept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complete both Lab 1 (Qdrant) and Lab 2 (Weaviate) have now seen the same RAG architecture with two different database backends. The next step is Milvus — the most production-scale option with a 3-service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C4B4"/>
          </a:solidFill>
          <a:ln/>
        </p:spPr>
      </p:sp>
      <p:sp>
        <p:nvSpPr>
          <p:cNvPr id="3" name="Shape 1"/>
          <p:cNvSpPr/>
          <p:nvPr/>
        </p:nvSpPr>
        <p:spPr>
          <a:xfrm>
            <a:off x="0" y="4389120"/>
            <a:ext cx="9144000" cy="754380"/>
          </a:xfrm>
          <a:prstGeom prst="rect">
            <a:avLst/>
          </a:prstGeom>
          <a:solidFill>
            <a:srgbClr val="008B80"/>
          </a:solidFill>
          <a:ln/>
        </p:spPr>
      </p:sp>
      <p:sp>
        <p:nvSpPr>
          <p:cNvPr id="4" name="Text 2"/>
          <p:cNvSpPr/>
          <p:nvPr/>
        </p:nvSpPr>
        <p:spPr>
          <a:xfrm>
            <a:off x="411480" y="548640"/>
            <a:ext cx="8229600" cy="502920"/>
          </a:xfrm>
          <a:prstGeom prst="rect">
            <a:avLst/>
          </a:prstGeom>
          <a:noFill/>
          <a:ln/>
        </p:spPr>
        <p:txBody>
          <a:bodyPr wrap="square" rtlCol="0" anchor="ctr"/>
          <a:lstStyle/>
          <a:p>
            <a:pPr algn="l" indent="0" marL="0">
              <a:buNone/>
            </a:pPr>
            <a:r>
              <a:rPr lang="en-US" sz="1500" b="1" spc="800" kern="0" dirty="0">
                <a:solidFill>
                  <a:srgbClr val="00C4B4"/>
                </a:solidFill>
                <a:latin typeface="Calibri" pitchFamily="34" charset="0"/>
                <a:ea typeface="Calibri" pitchFamily="34" charset="-122"/>
                <a:cs typeface="Calibri" pitchFamily="34" charset="-120"/>
              </a:rPr>
              <a:t>LAB 2</a:t>
            </a:r>
            <a:endParaRPr lang="en-US" sz="1500" dirty="0"/>
          </a:p>
        </p:txBody>
      </p:sp>
      <p:sp>
        <p:nvSpPr>
          <p:cNvPr id="5" name="Text 3"/>
          <p:cNvSpPr/>
          <p:nvPr/>
        </p:nvSpPr>
        <p:spPr>
          <a:xfrm>
            <a:off x="411480" y="1097280"/>
            <a:ext cx="8046720" cy="2011680"/>
          </a:xfrm>
          <a:prstGeom prst="rect">
            <a:avLst/>
          </a:prstGeom>
          <a:noFill/>
          <a:ln/>
        </p:spPr>
        <p:txBody>
          <a:bodyPr wrap="square" rtlCol="0" anchor="t"/>
          <a:lstStyle/>
          <a:p>
            <a:pPr algn="l" indent="0" marL="0">
              <a:buNone/>
            </a:pPr>
            <a:r>
              <a:rPr lang="en-US" sz="4200" b="1" dirty="0">
                <a:solidFill>
                  <a:srgbClr val="FFFFFF"/>
                </a:solidFill>
                <a:latin typeface="Calibri" pitchFamily="34" charset="0"/>
                <a:ea typeface="Calibri" pitchFamily="34" charset="-122"/>
                <a:cs typeface="Calibri" pitchFamily="34" charset="-120"/>
              </a:rPr>
              <a:t>Production-Grade RAG</a:t>
            </a:r>
            <a:endParaRPr lang="en-US" sz="4200" dirty="0"/>
          </a:p>
          <a:p>
            <a:pPr algn="l" indent="0" marL="0">
              <a:buNone/>
            </a:pPr>
            <a:r>
              <a:rPr lang="en-US" sz="4200" b="1" dirty="0">
                <a:solidFill>
                  <a:srgbClr val="FFFFFF"/>
                </a:solidFill>
                <a:latin typeface="Calibri" pitchFamily="34" charset="0"/>
                <a:ea typeface="Calibri" pitchFamily="34" charset="-122"/>
                <a:cs typeface="Calibri" pitchFamily="34" charset="-120"/>
              </a:rPr>
              <a:t>Infrastructure with Weaviate</a:t>
            </a:r>
            <a:endParaRPr lang="en-US" sz="4200" dirty="0"/>
          </a:p>
        </p:txBody>
      </p:sp>
      <p:sp>
        <p:nvSpPr>
          <p:cNvPr id="6" name="Text 4"/>
          <p:cNvSpPr/>
          <p:nvPr/>
        </p:nvSpPr>
        <p:spPr>
          <a:xfrm>
            <a:off x="411480" y="3200400"/>
            <a:ext cx="8046720" cy="548640"/>
          </a:xfrm>
          <a:prstGeom prst="rect">
            <a:avLst/>
          </a:prstGeom>
          <a:noFill/>
          <a:ln/>
        </p:spPr>
        <p:txBody>
          <a:bodyPr wrap="square" rtlCol="0" anchor="ctr"/>
          <a:lstStyle/>
          <a:p>
            <a:pPr algn="l" indent="0" marL="0">
              <a:buNone/>
            </a:pPr>
            <a:r>
              <a:rPr lang="en-US" sz="1800" dirty="0">
                <a:solidFill>
                  <a:srgbClr val="D8ECEC"/>
                </a:solidFill>
                <a:latin typeface="Calibri" pitchFamily="34" charset="0"/>
                <a:ea typeface="Calibri" pitchFamily="34" charset="-122"/>
                <a:cs typeface="Calibri" pitchFamily="34" charset="-120"/>
              </a:rPr>
              <a:t>Build a secured, multi-service AI system — Weaviate class-based schema edition</a:t>
            </a:r>
            <a:endParaRPr lang="en-US" sz="1800" dirty="0"/>
          </a:p>
        </p:txBody>
      </p:sp>
      <p:sp>
        <p:nvSpPr>
          <p:cNvPr id="7" name="Text 5"/>
          <p:cNvSpPr/>
          <p:nvPr/>
        </p:nvSpPr>
        <p:spPr>
          <a:xfrm>
            <a:off x="411480" y="4407408"/>
            <a:ext cx="8321040" cy="502920"/>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Weaviate  ·  text2vec-transformers  ·  FastAPI  ·  Ollama  ·  NGINX  ·  Gradio  ·  Security Memory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What You Will Build</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6576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By the end of this lab, you will have a fully operational, secured RAG system:</a:t>
            </a:r>
            <a:endParaRPr lang="en-US" sz="1400" dirty="0"/>
          </a:p>
        </p:txBody>
      </p:sp>
      <p:sp>
        <p:nvSpPr>
          <p:cNvPr id="7" name="Shape 4"/>
          <p:cNvSpPr/>
          <p:nvPr/>
        </p:nvSpPr>
        <p:spPr>
          <a:xfrm>
            <a:off x="274320" y="1325880"/>
            <a:ext cx="2743200" cy="1325880"/>
          </a:xfrm>
          <a:prstGeom prst="rect">
            <a:avLst/>
          </a:prstGeom>
          <a:solidFill>
            <a:srgbClr val="FFFFFF"/>
          </a:solidFill>
          <a:ln/>
          <a:effectLst>
            <a:outerShdw sx="100000" sy="100000" kx="0" ky="0" algn="bl" rotWithShape="0" blurRad="63500" dist="25400" dir="16200000">
              <a:srgbClr val="000000">
                <a:alpha val="10000"/>
              </a:srgbClr>
            </a:outerShdw>
          </a:effectLst>
        </p:spPr>
      </p:sp>
      <p:sp>
        <p:nvSpPr>
          <p:cNvPr id="8" name="Shape 5"/>
          <p:cNvSpPr/>
          <p:nvPr/>
        </p:nvSpPr>
        <p:spPr>
          <a:xfrm>
            <a:off x="274320" y="1325880"/>
            <a:ext cx="91440" cy="1325880"/>
          </a:xfrm>
          <a:prstGeom prst="rect">
            <a:avLst/>
          </a:prstGeom>
          <a:solidFill>
            <a:srgbClr val="00C4B4"/>
          </a:solidFill>
          <a:ln/>
        </p:spPr>
      </p:sp>
      <p:sp>
        <p:nvSpPr>
          <p:cNvPr id="9" name="Text 6"/>
          <p:cNvSpPr/>
          <p:nvPr/>
        </p:nvSpPr>
        <p:spPr>
          <a:xfrm>
            <a:off x="438912" y="1490472"/>
            <a:ext cx="2468880" cy="347472"/>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Weaviate</a:t>
            </a:r>
            <a:endParaRPr lang="en-US" sz="1400" dirty="0"/>
          </a:p>
        </p:txBody>
      </p:sp>
      <p:sp>
        <p:nvSpPr>
          <p:cNvPr id="10" name="Text 7"/>
          <p:cNvSpPr/>
          <p:nvPr/>
        </p:nvSpPr>
        <p:spPr>
          <a:xfrm>
            <a:off x="438912" y="1856232"/>
            <a:ext cx="2468880" cy="594360"/>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Private vector DB with class-based schema and auto-embeddings</a:t>
            </a:r>
            <a:endParaRPr lang="en-US" sz="1200" dirty="0"/>
          </a:p>
        </p:txBody>
      </p:sp>
      <p:sp>
        <p:nvSpPr>
          <p:cNvPr id="11" name="Shape 8"/>
          <p:cNvSpPr/>
          <p:nvPr/>
        </p:nvSpPr>
        <p:spPr>
          <a:xfrm>
            <a:off x="3154680" y="1325880"/>
            <a:ext cx="2743200" cy="1325880"/>
          </a:xfrm>
          <a:prstGeom prst="rect">
            <a:avLst/>
          </a:prstGeom>
          <a:solidFill>
            <a:srgbClr val="FFFFFF"/>
          </a:solidFill>
          <a:ln/>
          <a:effectLst>
            <a:outerShdw sx="100000" sy="100000" kx="0" ky="0" algn="bl" rotWithShape="0" blurRad="63500" dist="25400" dir="16200000">
              <a:srgbClr val="000000">
                <a:alpha val="10000"/>
              </a:srgbClr>
            </a:outerShdw>
          </a:effectLst>
        </p:spPr>
      </p:sp>
      <p:sp>
        <p:nvSpPr>
          <p:cNvPr id="12" name="Shape 9"/>
          <p:cNvSpPr/>
          <p:nvPr/>
        </p:nvSpPr>
        <p:spPr>
          <a:xfrm>
            <a:off x="3154680" y="1325880"/>
            <a:ext cx="91440" cy="1325880"/>
          </a:xfrm>
          <a:prstGeom prst="rect">
            <a:avLst/>
          </a:prstGeom>
          <a:solidFill>
            <a:srgbClr val="008B80"/>
          </a:solidFill>
          <a:ln/>
        </p:spPr>
      </p:sp>
      <p:sp>
        <p:nvSpPr>
          <p:cNvPr id="13" name="Text 10"/>
          <p:cNvSpPr/>
          <p:nvPr/>
        </p:nvSpPr>
        <p:spPr>
          <a:xfrm>
            <a:off x="3319272" y="1490472"/>
            <a:ext cx="2468880" cy="347472"/>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text2vec-transformers</a:t>
            </a:r>
            <a:endParaRPr lang="en-US" sz="1400" dirty="0"/>
          </a:p>
        </p:txBody>
      </p:sp>
      <p:sp>
        <p:nvSpPr>
          <p:cNvPr id="14" name="Text 11"/>
          <p:cNvSpPr/>
          <p:nvPr/>
        </p:nvSpPr>
        <p:spPr>
          <a:xfrm>
            <a:off x="3319272" y="1856232"/>
            <a:ext cx="2468880" cy="594360"/>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Automatic embedding service — Weaviate calls this for you</a:t>
            </a:r>
            <a:endParaRPr lang="en-US" sz="1200" dirty="0"/>
          </a:p>
        </p:txBody>
      </p:sp>
      <p:sp>
        <p:nvSpPr>
          <p:cNvPr id="15" name="Shape 12"/>
          <p:cNvSpPr/>
          <p:nvPr/>
        </p:nvSpPr>
        <p:spPr>
          <a:xfrm>
            <a:off x="6035040" y="1325880"/>
            <a:ext cx="2743200" cy="1325880"/>
          </a:xfrm>
          <a:prstGeom prst="rect">
            <a:avLst/>
          </a:prstGeom>
          <a:solidFill>
            <a:srgbClr val="FFFFFF"/>
          </a:solidFill>
          <a:ln/>
          <a:effectLst>
            <a:outerShdw sx="100000" sy="100000" kx="0" ky="0" algn="bl" rotWithShape="0" blurRad="63500" dist="25400" dir="16200000">
              <a:srgbClr val="000000">
                <a:alpha val="10000"/>
              </a:srgbClr>
            </a:outerShdw>
          </a:effectLst>
        </p:spPr>
      </p:sp>
      <p:sp>
        <p:nvSpPr>
          <p:cNvPr id="16" name="Shape 13"/>
          <p:cNvSpPr/>
          <p:nvPr/>
        </p:nvSpPr>
        <p:spPr>
          <a:xfrm>
            <a:off x="6035040" y="1325880"/>
            <a:ext cx="91440" cy="1325880"/>
          </a:xfrm>
          <a:prstGeom prst="rect">
            <a:avLst/>
          </a:prstGeom>
          <a:solidFill>
            <a:srgbClr val="00C4B4"/>
          </a:solidFill>
          <a:ln/>
        </p:spPr>
      </p:sp>
      <p:sp>
        <p:nvSpPr>
          <p:cNvPr id="17" name="Text 14"/>
          <p:cNvSpPr/>
          <p:nvPr/>
        </p:nvSpPr>
        <p:spPr>
          <a:xfrm>
            <a:off x="6199632" y="1490472"/>
            <a:ext cx="2468880" cy="347472"/>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FastAPI</a:t>
            </a:r>
            <a:endParaRPr lang="en-US" sz="1400" dirty="0"/>
          </a:p>
        </p:txBody>
      </p:sp>
      <p:sp>
        <p:nvSpPr>
          <p:cNvPr id="18" name="Text 15"/>
          <p:cNvSpPr/>
          <p:nvPr/>
        </p:nvSpPr>
        <p:spPr>
          <a:xfrm>
            <a:off x="6199632" y="1856232"/>
            <a:ext cx="2468880" cy="594360"/>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Ingestion + RAG orchestration API</a:t>
            </a:r>
            <a:endParaRPr lang="en-US" sz="1200" dirty="0"/>
          </a:p>
        </p:txBody>
      </p:sp>
      <p:sp>
        <p:nvSpPr>
          <p:cNvPr id="19" name="Shape 16"/>
          <p:cNvSpPr/>
          <p:nvPr/>
        </p:nvSpPr>
        <p:spPr>
          <a:xfrm>
            <a:off x="274320" y="2880360"/>
            <a:ext cx="2743200" cy="1325880"/>
          </a:xfrm>
          <a:prstGeom prst="rect">
            <a:avLst/>
          </a:prstGeom>
          <a:solidFill>
            <a:srgbClr val="FFFFFF"/>
          </a:solidFill>
          <a:ln/>
          <a:effectLst>
            <a:outerShdw sx="100000" sy="100000" kx="0" ky="0" algn="bl" rotWithShape="0" blurRad="63500" dist="25400" dir="16200000">
              <a:srgbClr val="000000">
                <a:alpha val="10000"/>
              </a:srgbClr>
            </a:outerShdw>
          </a:effectLst>
        </p:spPr>
      </p:sp>
      <p:sp>
        <p:nvSpPr>
          <p:cNvPr id="20" name="Shape 17"/>
          <p:cNvSpPr/>
          <p:nvPr/>
        </p:nvSpPr>
        <p:spPr>
          <a:xfrm>
            <a:off x="274320" y="2880360"/>
            <a:ext cx="91440" cy="1325880"/>
          </a:xfrm>
          <a:prstGeom prst="rect">
            <a:avLst/>
          </a:prstGeom>
          <a:solidFill>
            <a:srgbClr val="008B80"/>
          </a:solidFill>
          <a:ln/>
        </p:spPr>
      </p:sp>
      <p:sp>
        <p:nvSpPr>
          <p:cNvPr id="21" name="Text 18"/>
          <p:cNvSpPr/>
          <p:nvPr/>
        </p:nvSpPr>
        <p:spPr>
          <a:xfrm>
            <a:off x="438912" y="3044952"/>
            <a:ext cx="2468880" cy="347472"/>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Ollama</a:t>
            </a:r>
            <a:endParaRPr lang="en-US" sz="1400" dirty="0"/>
          </a:p>
        </p:txBody>
      </p:sp>
      <p:sp>
        <p:nvSpPr>
          <p:cNvPr id="22" name="Text 19"/>
          <p:cNvSpPr/>
          <p:nvPr/>
        </p:nvSpPr>
        <p:spPr>
          <a:xfrm>
            <a:off x="438912" y="3410712"/>
            <a:ext cx="2468880" cy="594360"/>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Local LLM — no OpenAI key needed</a:t>
            </a:r>
            <a:endParaRPr lang="en-US" sz="1200" dirty="0"/>
          </a:p>
        </p:txBody>
      </p:sp>
      <p:sp>
        <p:nvSpPr>
          <p:cNvPr id="23" name="Shape 20"/>
          <p:cNvSpPr/>
          <p:nvPr/>
        </p:nvSpPr>
        <p:spPr>
          <a:xfrm>
            <a:off x="3154680" y="2880360"/>
            <a:ext cx="2743200" cy="1325880"/>
          </a:xfrm>
          <a:prstGeom prst="rect">
            <a:avLst/>
          </a:prstGeom>
          <a:solidFill>
            <a:srgbClr val="FFFFFF"/>
          </a:solidFill>
          <a:ln/>
          <a:effectLst>
            <a:outerShdw sx="100000" sy="100000" kx="0" ky="0" algn="bl" rotWithShape="0" blurRad="63500" dist="25400" dir="16200000">
              <a:srgbClr val="000000">
                <a:alpha val="10000"/>
              </a:srgbClr>
            </a:outerShdw>
          </a:effectLst>
        </p:spPr>
      </p:sp>
      <p:sp>
        <p:nvSpPr>
          <p:cNvPr id="24" name="Shape 21"/>
          <p:cNvSpPr/>
          <p:nvPr/>
        </p:nvSpPr>
        <p:spPr>
          <a:xfrm>
            <a:off x="3154680" y="2880360"/>
            <a:ext cx="91440" cy="1325880"/>
          </a:xfrm>
          <a:prstGeom prst="rect">
            <a:avLst/>
          </a:prstGeom>
          <a:solidFill>
            <a:srgbClr val="00C4B4"/>
          </a:solidFill>
          <a:ln/>
        </p:spPr>
      </p:sp>
      <p:sp>
        <p:nvSpPr>
          <p:cNvPr id="25" name="Text 22"/>
          <p:cNvSpPr/>
          <p:nvPr/>
        </p:nvSpPr>
        <p:spPr>
          <a:xfrm>
            <a:off x="3319272" y="3044952"/>
            <a:ext cx="2468880" cy="347472"/>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NGINX</a:t>
            </a:r>
            <a:endParaRPr lang="en-US" sz="1400" dirty="0"/>
          </a:p>
        </p:txBody>
      </p:sp>
      <p:sp>
        <p:nvSpPr>
          <p:cNvPr id="26" name="Text 23"/>
          <p:cNvSpPr/>
          <p:nvPr/>
        </p:nvSpPr>
        <p:spPr>
          <a:xfrm>
            <a:off x="3319272" y="3410712"/>
            <a:ext cx="2468880" cy="594360"/>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Edge gateway with API key enforcement</a:t>
            </a:r>
            <a:endParaRPr lang="en-US" sz="1200" dirty="0"/>
          </a:p>
        </p:txBody>
      </p:sp>
      <p:sp>
        <p:nvSpPr>
          <p:cNvPr id="27" name="Shape 24"/>
          <p:cNvSpPr/>
          <p:nvPr/>
        </p:nvSpPr>
        <p:spPr>
          <a:xfrm>
            <a:off x="6035040" y="2880360"/>
            <a:ext cx="2743200" cy="1325880"/>
          </a:xfrm>
          <a:prstGeom prst="rect">
            <a:avLst/>
          </a:prstGeom>
          <a:solidFill>
            <a:srgbClr val="FFFFFF"/>
          </a:solidFill>
          <a:ln/>
          <a:effectLst>
            <a:outerShdw sx="100000" sy="100000" kx="0" ky="0" algn="bl" rotWithShape="0" blurRad="63500" dist="25400" dir="16200000">
              <a:srgbClr val="000000">
                <a:alpha val="10000"/>
              </a:srgbClr>
            </a:outerShdw>
          </a:effectLst>
        </p:spPr>
      </p:sp>
      <p:sp>
        <p:nvSpPr>
          <p:cNvPr id="28" name="Shape 25"/>
          <p:cNvSpPr/>
          <p:nvPr/>
        </p:nvSpPr>
        <p:spPr>
          <a:xfrm>
            <a:off x="6035040" y="2880360"/>
            <a:ext cx="91440" cy="1325880"/>
          </a:xfrm>
          <a:prstGeom prst="rect">
            <a:avLst/>
          </a:prstGeom>
          <a:solidFill>
            <a:srgbClr val="F4A261"/>
          </a:solidFill>
          <a:ln/>
        </p:spPr>
      </p:sp>
      <p:sp>
        <p:nvSpPr>
          <p:cNvPr id="29" name="Text 26"/>
          <p:cNvSpPr/>
          <p:nvPr/>
        </p:nvSpPr>
        <p:spPr>
          <a:xfrm>
            <a:off x="6199632" y="3044952"/>
            <a:ext cx="2468880" cy="347472"/>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Security Memory</a:t>
            </a:r>
            <a:endParaRPr lang="en-US" sz="1400" dirty="0"/>
          </a:p>
        </p:txBody>
      </p:sp>
      <p:sp>
        <p:nvSpPr>
          <p:cNvPr id="30" name="Text 27"/>
          <p:cNvSpPr/>
          <p:nvPr/>
        </p:nvSpPr>
        <p:spPr>
          <a:xfrm>
            <a:off x="6199632" y="3410712"/>
            <a:ext cx="2468880" cy="594360"/>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Cybersecurity corpus — NIST, CIS, MITRE, OWASP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What Is RAG? (Retrieval-Augmented Generation)</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3931920" cy="347472"/>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The Problem with LLMs Alone:</a:t>
            </a:r>
            <a:endParaRPr lang="en-US" sz="1400" dirty="0"/>
          </a:p>
        </p:txBody>
      </p:sp>
      <p:sp>
        <p:nvSpPr>
          <p:cNvPr id="7" name="Text 4"/>
          <p:cNvSpPr/>
          <p:nvPr/>
        </p:nvSpPr>
        <p:spPr>
          <a:xfrm>
            <a:off x="365760" y="1298448"/>
            <a:ext cx="393192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Answers from training data alone — may be outdated</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No way to verify which source was used</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Prone to hallucination — confident but wrong</a:t>
            </a:r>
            <a:endParaRPr lang="en-US" sz="1300" dirty="0"/>
          </a:p>
        </p:txBody>
      </p:sp>
      <p:sp>
        <p:nvSpPr>
          <p:cNvPr id="8" name="Text 5"/>
          <p:cNvSpPr/>
          <p:nvPr/>
        </p:nvSpPr>
        <p:spPr>
          <a:xfrm>
            <a:off x="365760" y="2514600"/>
            <a:ext cx="3931920" cy="347472"/>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RAG Fixes This:</a:t>
            </a:r>
            <a:endParaRPr lang="en-US" sz="1400" dirty="0"/>
          </a:p>
        </p:txBody>
      </p:sp>
      <p:sp>
        <p:nvSpPr>
          <p:cNvPr id="9" name="Text 6"/>
          <p:cNvSpPr/>
          <p:nvPr/>
        </p:nvSpPr>
        <p:spPr>
          <a:xfrm>
            <a:off x="365760" y="2880360"/>
            <a:ext cx="393192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Search a Weaviate class of documents first</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Hand those documents to the LLM as context</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LLM generates answer from what you gave it</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Return answer + sources for verification</a:t>
            </a:r>
            <a:endParaRPr lang="en-US" sz="1300" dirty="0"/>
          </a:p>
        </p:txBody>
      </p:sp>
      <p:sp>
        <p:nvSpPr>
          <p:cNvPr id="10" name="Shape 7"/>
          <p:cNvSpPr/>
          <p:nvPr/>
        </p:nvSpPr>
        <p:spPr>
          <a:xfrm>
            <a:off x="4754880" y="868680"/>
            <a:ext cx="4023360" cy="402336"/>
          </a:xfrm>
          <a:prstGeom prst="rect">
            <a:avLst/>
          </a:prstGeom>
          <a:solidFill>
            <a:srgbClr val="00C4B4"/>
          </a:solidFill>
          <a:ln/>
          <a:effectLst>
            <a:outerShdw sx="100000" sy="100000" kx="0" ky="0" algn="bl" rotWithShape="0" blurRad="38100" dist="12700" dir="16200000">
              <a:srgbClr val="000000">
                <a:alpha val="15000"/>
              </a:srgbClr>
            </a:outerShdw>
          </a:effectLst>
        </p:spPr>
      </p:sp>
      <p:sp>
        <p:nvSpPr>
          <p:cNvPr id="11" name="Text 8"/>
          <p:cNvSpPr/>
          <p:nvPr/>
        </p:nvSpPr>
        <p:spPr>
          <a:xfrm>
            <a:off x="4754880" y="868680"/>
            <a:ext cx="4023360" cy="402336"/>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1. User Question</a:t>
            </a:r>
            <a:endParaRPr lang="en-US" sz="1300" dirty="0"/>
          </a:p>
        </p:txBody>
      </p:sp>
      <p:sp>
        <p:nvSpPr>
          <p:cNvPr id="12" name="Text 9"/>
          <p:cNvSpPr/>
          <p:nvPr/>
        </p:nvSpPr>
        <p:spPr>
          <a:xfrm>
            <a:off x="4754880" y="1271016"/>
            <a:ext cx="4023360" cy="164592"/>
          </a:xfrm>
          <a:prstGeom prst="rect">
            <a:avLst/>
          </a:prstGeom>
          <a:noFill/>
          <a:ln/>
        </p:spPr>
        <p:txBody>
          <a:bodyPr wrap="square" rtlCol="0" anchor="ctr"/>
          <a:lstStyle/>
          <a:p>
            <a:pPr algn="ctr" indent="0" marL="0">
              <a:buNone/>
            </a:pPr>
            <a:r>
              <a:rPr lang="en-US" sz="1000" dirty="0">
                <a:solidFill>
                  <a:srgbClr val="7A9BAA"/>
                </a:solidFill>
                <a:latin typeface="Calibri" pitchFamily="34" charset="0"/>
                <a:ea typeface="Calibri" pitchFamily="34" charset="-122"/>
                <a:cs typeface="Calibri" pitchFamily="34" charset="-120"/>
              </a:rPr>
              <a:t>▼</a:t>
            </a:r>
            <a:endParaRPr lang="en-US" sz="1000" dirty="0"/>
          </a:p>
        </p:txBody>
      </p:sp>
      <p:sp>
        <p:nvSpPr>
          <p:cNvPr id="13" name="Shape 10"/>
          <p:cNvSpPr/>
          <p:nvPr/>
        </p:nvSpPr>
        <p:spPr>
          <a:xfrm>
            <a:off x="4754880" y="1435608"/>
            <a:ext cx="4023360" cy="402336"/>
          </a:xfrm>
          <a:prstGeom prst="rect">
            <a:avLst/>
          </a:prstGeom>
          <a:solidFill>
            <a:srgbClr val="008B80"/>
          </a:solidFill>
          <a:ln/>
          <a:effectLst>
            <a:outerShdw sx="100000" sy="100000" kx="0" ky="0" algn="bl" rotWithShape="0" blurRad="38100" dist="12700" dir="16200000">
              <a:srgbClr val="000000">
                <a:alpha val="15000"/>
              </a:srgbClr>
            </a:outerShdw>
          </a:effectLst>
        </p:spPr>
      </p:sp>
      <p:sp>
        <p:nvSpPr>
          <p:cNvPr id="14" name="Text 11"/>
          <p:cNvSpPr/>
          <p:nvPr/>
        </p:nvSpPr>
        <p:spPr>
          <a:xfrm>
            <a:off x="4754880" y="1435608"/>
            <a:ext cx="4023360" cy="402336"/>
          </a:xfrm>
          <a:prstGeom prst="rect">
            <a:avLst/>
          </a:prstGeom>
          <a:noFill/>
          <a:ln/>
        </p:spPr>
        <p:txBody>
          <a:bodyPr wrap="square" rtlCol="0" anchor="ctr"/>
          <a:lstStyle/>
          <a:p>
            <a:pPr algn="ctr" indent="0" marL="0">
              <a:buNone/>
            </a:pPr>
            <a:r>
              <a:rPr lang="en-US" sz="1300" dirty="0">
                <a:solidFill>
                  <a:srgbClr val="0D1B2A"/>
                </a:solidFill>
                <a:latin typeface="Calibri" pitchFamily="34" charset="0"/>
                <a:ea typeface="Calibri" pitchFamily="34" charset="-122"/>
                <a:cs typeface="Calibri" pitchFamily="34" charset="-120"/>
              </a:rPr>
              <a:t>2. text2vec embeds query</a:t>
            </a:r>
            <a:endParaRPr lang="en-US" sz="1300" dirty="0"/>
          </a:p>
        </p:txBody>
      </p:sp>
      <p:sp>
        <p:nvSpPr>
          <p:cNvPr id="15" name="Text 12"/>
          <p:cNvSpPr/>
          <p:nvPr/>
        </p:nvSpPr>
        <p:spPr>
          <a:xfrm>
            <a:off x="4754880" y="1837944"/>
            <a:ext cx="4023360" cy="164592"/>
          </a:xfrm>
          <a:prstGeom prst="rect">
            <a:avLst/>
          </a:prstGeom>
          <a:noFill/>
          <a:ln/>
        </p:spPr>
        <p:txBody>
          <a:bodyPr wrap="square" rtlCol="0" anchor="ctr"/>
          <a:lstStyle/>
          <a:p>
            <a:pPr algn="ctr" indent="0" marL="0">
              <a:buNone/>
            </a:pPr>
            <a:r>
              <a:rPr lang="en-US" sz="1000" dirty="0">
                <a:solidFill>
                  <a:srgbClr val="7A9BAA"/>
                </a:solidFill>
                <a:latin typeface="Calibri" pitchFamily="34" charset="0"/>
                <a:ea typeface="Calibri" pitchFamily="34" charset="-122"/>
                <a:cs typeface="Calibri" pitchFamily="34" charset="-120"/>
              </a:rPr>
              <a:t>▼</a:t>
            </a:r>
            <a:endParaRPr lang="en-US" sz="1000" dirty="0"/>
          </a:p>
        </p:txBody>
      </p:sp>
      <p:sp>
        <p:nvSpPr>
          <p:cNvPr id="16" name="Shape 13"/>
          <p:cNvSpPr/>
          <p:nvPr/>
        </p:nvSpPr>
        <p:spPr>
          <a:xfrm>
            <a:off x="4754880" y="2002536"/>
            <a:ext cx="4023360" cy="402336"/>
          </a:xfrm>
          <a:prstGeom prst="rect">
            <a:avLst/>
          </a:prstGeom>
          <a:solidFill>
            <a:srgbClr val="00C4B4"/>
          </a:solidFill>
          <a:ln/>
          <a:effectLst>
            <a:outerShdw sx="100000" sy="100000" kx="0" ky="0" algn="bl" rotWithShape="0" blurRad="38100" dist="12700" dir="16200000">
              <a:srgbClr val="000000">
                <a:alpha val="15000"/>
              </a:srgbClr>
            </a:outerShdw>
          </a:effectLst>
        </p:spPr>
      </p:sp>
      <p:sp>
        <p:nvSpPr>
          <p:cNvPr id="17" name="Text 14"/>
          <p:cNvSpPr/>
          <p:nvPr/>
        </p:nvSpPr>
        <p:spPr>
          <a:xfrm>
            <a:off x="4754880" y="2002536"/>
            <a:ext cx="4023360" cy="402336"/>
          </a:xfrm>
          <a:prstGeom prst="rect">
            <a:avLst/>
          </a:prstGeom>
          <a:noFill/>
          <a:ln/>
        </p:spPr>
        <p:txBody>
          <a:bodyPr wrap="square" rtlCol="0" anchor="ctr"/>
          <a:lstStyle/>
          <a:p>
            <a:pPr algn="ctr" indent="0" marL="0">
              <a:buNone/>
            </a:pPr>
            <a:r>
              <a:rPr lang="en-US" sz="1300" dirty="0">
                <a:solidFill>
                  <a:srgbClr val="0D1B2A"/>
                </a:solidFill>
                <a:latin typeface="Calibri" pitchFamily="34" charset="0"/>
                <a:ea typeface="Calibri" pitchFamily="34" charset="-122"/>
                <a:cs typeface="Calibri" pitchFamily="34" charset="-120"/>
              </a:rPr>
              <a:t>3. Weaviate GraphQL search</a:t>
            </a:r>
            <a:endParaRPr lang="en-US" sz="1300" dirty="0"/>
          </a:p>
        </p:txBody>
      </p:sp>
      <p:sp>
        <p:nvSpPr>
          <p:cNvPr id="18" name="Text 15"/>
          <p:cNvSpPr/>
          <p:nvPr/>
        </p:nvSpPr>
        <p:spPr>
          <a:xfrm>
            <a:off x="4754880" y="2404872"/>
            <a:ext cx="4023360" cy="164592"/>
          </a:xfrm>
          <a:prstGeom prst="rect">
            <a:avLst/>
          </a:prstGeom>
          <a:noFill/>
          <a:ln/>
        </p:spPr>
        <p:txBody>
          <a:bodyPr wrap="square" rtlCol="0" anchor="ctr"/>
          <a:lstStyle/>
          <a:p>
            <a:pPr algn="ctr" indent="0" marL="0">
              <a:buNone/>
            </a:pPr>
            <a:r>
              <a:rPr lang="en-US" sz="1000" dirty="0">
                <a:solidFill>
                  <a:srgbClr val="7A9BAA"/>
                </a:solidFill>
                <a:latin typeface="Calibri" pitchFamily="34" charset="0"/>
                <a:ea typeface="Calibri" pitchFamily="34" charset="-122"/>
                <a:cs typeface="Calibri" pitchFamily="34" charset="-120"/>
              </a:rPr>
              <a:t>▼</a:t>
            </a:r>
            <a:endParaRPr lang="en-US" sz="1000" dirty="0"/>
          </a:p>
        </p:txBody>
      </p:sp>
      <p:sp>
        <p:nvSpPr>
          <p:cNvPr id="19" name="Shape 16"/>
          <p:cNvSpPr/>
          <p:nvPr/>
        </p:nvSpPr>
        <p:spPr>
          <a:xfrm>
            <a:off x="4754880" y="2569464"/>
            <a:ext cx="4023360" cy="402336"/>
          </a:xfrm>
          <a:prstGeom prst="rect">
            <a:avLst/>
          </a:prstGeom>
          <a:solidFill>
            <a:srgbClr val="008B80"/>
          </a:solidFill>
          <a:ln/>
          <a:effectLst>
            <a:outerShdw sx="100000" sy="100000" kx="0" ky="0" algn="bl" rotWithShape="0" blurRad="38100" dist="12700" dir="16200000">
              <a:srgbClr val="000000">
                <a:alpha val="15000"/>
              </a:srgbClr>
            </a:outerShdw>
          </a:effectLst>
        </p:spPr>
      </p:sp>
      <p:sp>
        <p:nvSpPr>
          <p:cNvPr id="20" name="Text 17"/>
          <p:cNvSpPr/>
          <p:nvPr/>
        </p:nvSpPr>
        <p:spPr>
          <a:xfrm>
            <a:off x="4754880" y="2569464"/>
            <a:ext cx="4023360" cy="402336"/>
          </a:xfrm>
          <a:prstGeom prst="rect">
            <a:avLst/>
          </a:prstGeom>
          <a:noFill/>
          <a:ln/>
        </p:spPr>
        <p:txBody>
          <a:bodyPr wrap="square" rtlCol="0" anchor="ctr"/>
          <a:lstStyle/>
          <a:p>
            <a:pPr algn="ctr" indent="0" marL="0">
              <a:buNone/>
            </a:pPr>
            <a:r>
              <a:rPr lang="en-US" sz="1300" dirty="0">
                <a:solidFill>
                  <a:srgbClr val="0D1B2A"/>
                </a:solidFill>
                <a:latin typeface="Calibri" pitchFamily="34" charset="0"/>
                <a:ea typeface="Calibri" pitchFamily="34" charset="-122"/>
                <a:cs typeface="Calibri" pitchFamily="34" charset="-120"/>
              </a:rPr>
              <a:t>4. Retrieved Objects</a:t>
            </a:r>
            <a:endParaRPr lang="en-US" sz="1300" dirty="0"/>
          </a:p>
        </p:txBody>
      </p:sp>
      <p:sp>
        <p:nvSpPr>
          <p:cNvPr id="21" name="Text 18"/>
          <p:cNvSpPr/>
          <p:nvPr/>
        </p:nvSpPr>
        <p:spPr>
          <a:xfrm>
            <a:off x="4754880" y="2971800"/>
            <a:ext cx="4023360" cy="164592"/>
          </a:xfrm>
          <a:prstGeom prst="rect">
            <a:avLst/>
          </a:prstGeom>
          <a:noFill/>
          <a:ln/>
        </p:spPr>
        <p:txBody>
          <a:bodyPr wrap="square" rtlCol="0" anchor="ctr"/>
          <a:lstStyle/>
          <a:p>
            <a:pPr algn="ctr" indent="0" marL="0">
              <a:buNone/>
            </a:pPr>
            <a:r>
              <a:rPr lang="en-US" sz="1000" dirty="0">
                <a:solidFill>
                  <a:srgbClr val="7A9BAA"/>
                </a:solidFill>
                <a:latin typeface="Calibri" pitchFamily="34" charset="0"/>
                <a:ea typeface="Calibri" pitchFamily="34" charset="-122"/>
                <a:cs typeface="Calibri" pitchFamily="34" charset="-120"/>
              </a:rPr>
              <a:t>▼</a:t>
            </a:r>
            <a:endParaRPr lang="en-US" sz="1000" dirty="0"/>
          </a:p>
        </p:txBody>
      </p:sp>
      <p:sp>
        <p:nvSpPr>
          <p:cNvPr id="22" name="Shape 19"/>
          <p:cNvSpPr/>
          <p:nvPr/>
        </p:nvSpPr>
        <p:spPr>
          <a:xfrm>
            <a:off x="4754880" y="3136392"/>
            <a:ext cx="4023360" cy="402336"/>
          </a:xfrm>
          <a:prstGeom prst="rect">
            <a:avLst/>
          </a:prstGeom>
          <a:solidFill>
            <a:srgbClr val="00C4B4"/>
          </a:solidFill>
          <a:ln/>
          <a:effectLst>
            <a:outerShdw sx="100000" sy="100000" kx="0" ky="0" algn="bl" rotWithShape="0" blurRad="38100" dist="12700" dir="16200000">
              <a:srgbClr val="000000">
                <a:alpha val="15000"/>
              </a:srgbClr>
            </a:outerShdw>
          </a:effectLst>
        </p:spPr>
      </p:sp>
      <p:sp>
        <p:nvSpPr>
          <p:cNvPr id="23" name="Text 20"/>
          <p:cNvSpPr/>
          <p:nvPr/>
        </p:nvSpPr>
        <p:spPr>
          <a:xfrm>
            <a:off x="4754880" y="3136392"/>
            <a:ext cx="4023360" cy="402336"/>
          </a:xfrm>
          <a:prstGeom prst="rect">
            <a:avLst/>
          </a:prstGeom>
          <a:noFill/>
          <a:ln/>
        </p:spPr>
        <p:txBody>
          <a:bodyPr wrap="square" rtlCol="0" anchor="ctr"/>
          <a:lstStyle/>
          <a:p>
            <a:pPr algn="ctr" indent="0" marL="0">
              <a:buNone/>
            </a:pPr>
            <a:r>
              <a:rPr lang="en-US" sz="1300" dirty="0">
                <a:solidFill>
                  <a:srgbClr val="0D1B2A"/>
                </a:solidFill>
                <a:latin typeface="Calibri" pitchFamily="34" charset="0"/>
                <a:ea typeface="Calibri" pitchFamily="34" charset="-122"/>
                <a:cs typeface="Calibri" pitchFamily="34" charset="-120"/>
              </a:rPr>
              <a:t>5. Build Prompt</a:t>
            </a:r>
            <a:endParaRPr lang="en-US" sz="1300" dirty="0"/>
          </a:p>
        </p:txBody>
      </p:sp>
      <p:sp>
        <p:nvSpPr>
          <p:cNvPr id="24" name="Text 21"/>
          <p:cNvSpPr/>
          <p:nvPr/>
        </p:nvSpPr>
        <p:spPr>
          <a:xfrm>
            <a:off x="4754880" y="3538728"/>
            <a:ext cx="4023360" cy="164592"/>
          </a:xfrm>
          <a:prstGeom prst="rect">
            <a:avLst/>
          </a:prstGeom>
          <a:noFill/>
          <a:ln/>
        </p:spPr>
        <p:txBody>
          <a:bodyPr wrap="square" rtlCol="0" anchor="ctr"/>
          <a:lstStyle/>
          <a:p>
            <a:pPr algn="ctr" indent="0" marL="0">
              <a:buNone/>
            </a:pPr>
            <a:r>
              <a:rPr lang="en-US" sz="1000" dirty="0">
                <a:solidFill>
                  <a:srgbClr val="7A9BAA"/>
                </a:solidFill>
                <a:latin typeface="Calibri" pitchFamily="34" charset="0"/>
                <a:ea typeface="Calibri" pitchFamily="34" charset="-122"/>
                <a:cs typeface="Calibri" pitchFamily="34" charset="-120"/>
              </a:rPr>
              <a:t>▼</a:t>
            </a:r>
            <a:endParaRPr lang="en-US" sz="1000" dirty="0"/>
          </a:p>
        </p:txBody>
      </p:sp>
      <p:sp>
        <p:nvSpPr>
          <p:cNvPr id="25" name="Shape 22"/>
          <p:cNvSpPr/>
          <p:nvPr/>
        </p:nvSpPr>
        <p:spPr>
          <a:xfrm>
            <a:off x="4754880" y="3703320"/>
            <a:ext cx="4023360" cy="402336"/>
          </a:xfrm>
          <a:prstGeom prst="rect">
            <a:avLst/>
          </a:prstGeom>
          <a:solidFill>
            <a:srgbClr val="008B80"/>
          </a:solidFill>
          <a:ln/>
          <a:effectLst>
            <a:outerShdw sx="100000" sy="100000" kx="0" ky="0" algn="bl" rotWithShape="0" blurRad="38100" dist="12700" dir="16200000">
              <a:srgbClr val="000000">
                <a:alpha val="15000"/>
              </a:srgbClr>
            </a:outerShdw>
          </a:effectLst>
        </p:spPr>
      </p:sp>
      <p:sp>
        <p:nvSpPr>
          <p:cNvPr id="26" name="Text 23"/>
          <p:cNvSpPr/>
          <p:nvPr/>
        </p:nvSpPr>
        <p:spPr>
          <a:xfrm>
            <a:off x="4754880" y="3703320"/>
            <a:ext cx="4023360" cy="402336"/>
          </a:xfrm>
          <a:prstGeom prst="rect">
            <a:avLst/>
          </a:prstGeom>
          <a:noFill/>
          <a:ln/>
        </p:spPr>
        <p:txBody>
          <a:bodyPr wrap="square" rtlCol="0" anchor="ctr"/>
          <a:lstStyle/>
          <a:p>
            <a:pPr algn="ctr" indent="0" marL="0">
              <a:buNone/>
            </a:pPr>
            <a:r>
              <a:rPr lang="en-US" sz="1300" dirty="0">
                <a:solidFill>
                  <a:srgbClr val="0D1B2A"/>
                </a:solidFill>
                <a:latin typeface="Calibri" pitchFamily="34" charset="0"/>
                <a:ea typeface="Calibri" pitchFamily="34" charset="-122"/>
                <a:cs typeface="Calibri" pitchFamily="34" charset="-120"/>
              </a:rPr>
              <a:t>6. Ollama Generates</a:t>
            </a:r>
            <a:endParaRPr lang="en-US" sz="1300" dirty="0"/>
          </a:p>
        </p:txBody>
      </p:sp>
      <p:sp>
        <p:nvSpPr>
          <p:cNvPr id="27" name="Text 24"/>
          <p:cNvSpPr/>
          <p:nvPr/>
        </p:nvSpPr>
        <p:spPr>
          <a:xfrm>
            <a:off x="4754880" y="4105656"/>
            <a:ext cx="4023360" cy="164592"/>
          </a:xfrm>
          <a:prstGeom prst="rect">
            <a:avLst/>
          </a:prstGeom>
          <a:noFill/>
          <a:ln/>
        </p:spPr>
        <p:txBody>
          <a:bodyPr wrap="square" rtlCol="0" anchor="ctr"/>
          <a:lstStyle/>
          <a:p>
            <a:pPr algn="ctr" indent="0" marL="0">
              <a:buNone/>
            </a:pPr>
            <a:r>
              <a:rPr lang="en-US" sz="1000" dirty="0">
                <a:solidFill>
                  <a:srgbClr val="7A9BAA"/>
                </a:solidFill>
                <a:latin typeface="Calibri" pitchFamily="34" charset="0"/>
                <a:ea typeface="Calibri" pitchFamily="34" charset="-122"/>
                <a:cs typeface="Calibri" pitchFamily="34" charset="-120"/>
              </a:rPr>
              <a:t>▼</a:t>
            </a:r>
            <a:endParaRPr lang="en-US" sz="1000" dirty="0"/>
          </a:p>
        </p:txBody>
      </p:sp>
      <p:sp>
        <p:nvSpPr>
          <p:cNvPr id="28" name="Shape 25"/>
          <p:cNvSpPr/>
          <p:nvPr/>
        </p:nvSpPr>
        <p:spPr>
          <a:xfrm>
            <a:off x="4754880" y="4270248"/>
            <a:ext cx="4023360" cy="402336"/>
          </a:xfrm>
          <a:prstGeom prst="rect">
            <a:avLst/>
          </a:prstGeom>
          <a:solidFill>
            <a:srgbClr val="00C4B4"/>
          </a:solidFill>
          <a:ln/>
          <a:effectLst>
            <a:outerShdw sx="100000" sy="100000" kx="0" ky="0" algn="bl" rotWithShape="0" blurRad="38100" dist="12700" dir="16200000">
              <a:srgbClr val="000000">
                <a:alpha val="15000"/>
              </a:srgbClr>
            </a:outerShdw>
          </a:effectLst>
        </p:spPr>
      </p:sp>
      <p:sp>
        <p:nvSpPr>
          <p:cNvPr id="29" name="Text 26"/>
          <p:cNvSpPr/>
          <p:nvPr/>
        </p:nvSpPr>
        <p:spPr>
          <a:xfrm>
            <a:off x="4754880" y="4270248"/>
            <a:ext cx="4023360" cy="402336"/>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7. Answer + Sources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The Complete RAG Flow — End to End</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47472"/>
          </a:xfrm>
          <a:prstGeom prst="rect">
            <a:avLst/>
          </a:prstGeom>
          <a:noFill/>
          <a:ln/>
        </p:spPr>
        <p:txBody>
          <a:bodyPr wrap="square" rtlCol="0" anchor="ctr"/>
          <a:lstStyle/>
          <a:p>
            <a:pPr indent="0" marL="0">
              <a:buNone/>
            </a:pPr>
            <a:r>
              <a:rPr lang="en-US" sz="1300" i="1" dirty="0">
                <a:solidFill>
                  <a:srgbClr val="008B80"/>
                </a:solidFill>
                <a:latin typeface="Calibri" pitchFamily="34" charset="0"/>
                <a:ea typeface="Calibri" pitchFamily="34" charset="-122"/>
                <a:cs typeface="Calibri" pitchFamily="34" charset="-120"/>
              </a:rPr>
              <a:t>User → NGINX → FastAPI → Weaviate (auto-embeds via text2vec) → prompt → Ollama → Answer + Sources</a:t>
            </a:r>
            <a:endParaRPr lang="en-US" sz="1300" dirty="0"/>
          </a:p>
        </p:txBody>
      </p:sp>
      <p:sp>
        <p:nvSpPr>
          <p:cNvPr id="7" name="Shape 4"/>
          <p:cNvSpPr/>
          <p:nvPr/>
        </p:nvSpPr>
        <p:spPr>
          <a:xfrm>
            <a:off x="182880" y="1325880"/>
            <a:ext cx="2057400" cy="1417320"/>
          </a:xfrm>
          <a:prstGeom prst="rect">
            <a:avLst/>
          </a:prstGeom>
          <a:solidFill>
            <a:srgbClr val="0D1B2A"/>
          </a:solidFill>
          <a:ln/>
          <a:effectLst>
            <a:outerShdw sx="100000" sy="100000" kx="0" ky="0" algn="bl" rotWithShape="0" blurRad="50800" dist="25400" dir="16200000">
              <a:srgbClr val="000000">
                <a:alpha val="15000"/>
              </a:srgbClr>
            </a:outerShdw>
          </a:effectLst>
        </p:spPr>
      </p:sp>
      <p:sp>
        <p:nvSpPr>
          <p:cNvPr id="8" name="Text 5"/>
          <p:cNvSpPr/>
          <p:nvPr/>
        </p:nvSpPr>
        <p:spPr>
          <a:xfrm>
            <a:off x="182880" y="1417320"/>
            <a:ext cx="2057400" cy="34747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p:nvPr/>
        </p:nvSpPr>
        <p:spPr>
          <a:xfrm>
            <a:off x="274320" y="1783080"/>
            <a:ext cx="18745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User asks a question</a:t>
            </a:r>
            <a:endParaRPr lang="en-US" sz="1200" dirty="0"/>
          </a:p>
        </p:txBody>
      </p:sp>
      <p:sp>
        <p:nvSpPr>
          <p:cNvPr id="10" name="Text 7"/>
          <p:cNvSpPr/>
          <p:nvPr/>
        </p:nvSpPr>
        <p:spPr>
          <a:xfrm>
            <a:off x="274320" y="2221992"/>
            <a:ext cx="1874520" cy="411480"/>
          </a:xfrm>
          <a:prstGeom prst="rect">
            <a:avLst/>
          </a:prstGeom>
          <a:noFill/>
          <a:ln/>
        </p:spPr>
        <p:txBody>
          <a:bodyPr wrap="square" rtlCol="0" anchor="ctr"/>
          <a:lstStyle/>
          <a:p>
            <a:pPr algn="ctr" indent="0" marL="0">
              <a:buNone/>
            </a:pPr>
            <a:r>
              <a:rPr lang="en-US" sz="1050" dirty="0">
                <a:solidFill>
                  <a:srgbClr val="D8ECEC"/>
                </a:solidFill>
                <a:latin typeface="Calibri" pitchFamily="34" charset="0"/>
                <a:ea typeface="Calibri" pitchFamily="34" charset="-122"/>
                <a:cs typeface="Calibri" pitchFamily="34" charset="-120"/>
              </a:rPr>
              <a:t>Via Gradio UI or curl</a:t>
            </a:r>
            <a:endParaRPr lang="en-US" sz="1050" dirty="0"/>
          </a:p>
        </p:txBody>
      </p:sp>
      <p:sp>
        <p:nvSpPr>
          <p:cNvPr id="11" name="Shape 8"/>
          <p:cNvSpPr/>
          <p:nvPr/>
        </p:nvSpPr>
        <p:spPr>
          <a:xfrm>
            <a:off x="2395728" y="1325880"/>
            <a:ext cx="2057400" cy="1417320"/>
          </a:xfrm>
          <a:prstGeom prst="rect">
            <a:avLst/>
          </a:prstGeom>
          <a:solidFill>
            <a:srgbClr val="E63946"/>
          </a:solidFill>
          <a:ln/>
          <a:effectLst>
            <a:outerShdw sx="100000" sy="100000" kx="0" ky="0" algn="bl" rotWithShape="0" blurRad="50800" dist="25400" dir="16200000">
              <a:srgbClr val="000000">
                <a:alpha val="15000"/>
              </a:srgbClr>
            </a:outerShdw>
          </a:effectLst>
        </p:spPr>
      </p:sp>
      <p:sp>
        <p:nvSpPr>
          <p:cNvPr id="12" name="Text 9"/>
          <p:cNvSpPr/>
          <p:nvPr/>
        </p:nvSpPr>
        <p:spPr>
          <a:xfrm>
            <a:off x="2395728" y="1417320"/>
            <a:ext cx="2057400" cy="34747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2487168" y="1783080"/>
            <a:ext cx="18745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NGINX checks API key</a:t>
            </a:r>
            <a:endParaRPr lang="en-US" sz="1200" dirty="0"/>
          </a:p>
        </p:txBody>
      </p:sp>
      <p:sp>
        <p:nvSpPr>
          <p:cNvPr id="14" name="Text 11"/>
          <p:cNvSpPr/>
          <p:nvPr/>
        </p:nvSpPr>
        <p:spPr>
          <a:xfrm>
            <a:off x="2487168" y="2221992"/>
            <a:ext cx="1874520" cy="411480"/>
          </a:xfrm>
          <a:prstGeom prst="rect">
            <a:avLst/>
          </a:prstGeom>
          <a:noFill/>
          <a:ln/>
        </p:spPr>
        <p:txBody>
          <a:bodyPr wrap="square" rtlCol="0" anchor="ctr"/>
          <a:lstStyle/>
          <a:p>
            <a:pPr algn="ctr" indent="0" marL="0">
              <a:buNone/>
            </a:pPr>
            <a:r>
              <a:rPr lang="en-US" sz="1050" dirty="0">
                <a:solidFill>
                  <a:srgbClr val="D8ECEC"/>
                </a:solidFill>
                <a:latin typeface="Calibri" pitchFamily="34" charset="0"/>
                <a:ea typeface="Calibri" pitchFamily="34" charset="-122"/>
                <a:cs typeface="Calibri" pitchFamily="34" charset="-120"/>
              </a:rPr>
              <a:t>401 if missing, 403 if wrong</a:t>
            </a:r>
            <a:endParaRPr lang="en-US" sz="1050" dirty="0"/>
          </a:p>
        </p:txBody>
      </p:sp>
      <p:sp>
        <p:nvSpPr>
          <p:cNvPr id="15" name="Shape 12"/>
          <p:cNvSpPr/>
          <p:nvPr/>
        </p:nvSpPr>
        <p:spPr>
          <a:xfrm>
            <a:off x="4608576" y="1325880"/>
            <a:ext cx="2057400" cy="1417320"/>
          </a:xfrm>
          <a:prstGeom prst="rect">
            <a:avLst/>
          </a:prstGeom>
          <a:solidFill>
            <a:srgbClr val="008B80"/>
          </a:solidFill>
          <a:ln/>
          <a:effectLst>
            <a:outerShdw sx="100000" sy="100000" kx="0" ky="0" algn="bl" rotWithShape="0" blurRad="50800" dist="25400" dir="16200000">
              <a:srgbClr val="000000">
                <a:alpha val="15000"/>
              </a:srgbClr>
            </a:outerShdw>
          </a:effectLst>
        </p:spPr>
      </p:sp>
      <p:sp>
        <p:nvSpPr>
          <p:cNvPr id="16" name="Text 13"/>
          <p:cNvSpPr/>
          <p:nvPr/>
        </p:nvSpPr>
        <p:spPr>
          <a:xfrm>
            <a:off x="4608576" y="1417320"/>
            <a:ext cx="2057400" cy="34747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4"/>
          <p:cNvSpPr/>
          <p:nvPr/>
        </p:nvSpPr>
        <p:spPr>
          <a:xfrm>
            <a:off x="4700016" y="1783080"/>
            <a:ext cx="18745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FastAPI receives request</a:t>
            </a:r>
            <a:endParaRPr lang="en-US" sz="1200" dirty="0"/>
          </a:p>
        </p:txBody>
      </p:sp>
      <p:sp>
        <p:nvSpPr>
          <p:cNvPr id="18" name="Text 15"/>
          <p:cNvSpPr/>
          <p:nvPr/>
        </p:nvSpPr>
        <p:spPr>
          <a:xfrm>
            <a:off x="4700016" y="2221992"/>
            <a:ext cx="1874520" cy="411480"/>
          </a:xfrm>
          <a:prstGeom prst="rect">
            <a:avLst/>
          </a:prstGeom>
          <a:noFill/>
          <a:ln/>
        </p:spPr>
        <p:txBody>
          <a:bodyPr wrap="square" rtlCol="0" anchor="ctr"/>
          <a:lstStyle/>
          <a:p>
            <a:pPr algn="ctr" indent="0" marL="0">
              <a:buNone/>
            </a:pPr>
            <a:r>
              <a:rPr lang="en-US" sz="1050" dirty="0">
                <a:solidFill>
                  <a:srgbClr val="D8ECEC"/>
                </a:solidFill>
                <a:latin typeface="Calibri" pitchFamily="34" charset="0"/>
                <a:ea typeface="Calibri" pitchFamily="34" charset="-122"/>
                <a:cs typeface="Calibri" pitchFamily="34" charset="-120"/>
              </a:rPr>
              <a:t>Validates schema (ChatIn)</a:t>
            </a:r>
            <a:endParaRPr lang="en-US" sz="1050" dirty="0"/>
          </a:p>
        </p:txBody>
      </p:sp>
      <p:sp>
        <p:nvSpPr>
          <p:cNvPr id="19" name="Shape 16"/>
          <p:cNvSpPr/>
          <p:nvPr/>
        </p:nvSpPr>
        <p:spPr>
          <a:xfrm>
            <a:off x="6821424" y="1325880"/>
            <a:ext cx="2057400" cy="1417320"/>
          </a:xfrm>
          <a:prstGeom prst="rect">
            <a:avLst/>
          </a:prstGeom>
          <a:solidFill>
            <a:srgbClr val="00C4B4"/>
          </a:solidFill>
          <a:ln/>
          <a:effectLst>
            <a:outerShdw sx="100000" sy="100000" kx="0" ky="0" algn="bl" rotWithShape="0" blurRad="50800" dist="25400" dir="16200000">
              <a:srgbClr val="000000">
                <a:alpha val="15000"/>
              </a:srgbClr>
            </a:outerShdw>
          </a:effectLst>
        </p:spPr>
      </p:sp>
      <p:sp>
        <p:nvSpPr>
          <p:cNvPr id="20" name="Text 17"/>
          <p:cNvSpPr/>
          <p:nvPr/>
        </p:nvSpPr>
        <p:spPr>
          <a:xfrm>
            <a:off x="6821424" y="1417320"/>
            <a:ext cx="2057400" cy="34747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8"/>
          <p:cNvSpPr/>
          <p:nvPr/>
        </p:nvSpPr>
        <p:spPr>
          <a:xfrm>
            <a:off x="6912864" y="1783080"/>
            <a:ext cx="18745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Weaviate GraphQL query</a:t>
            </a:r>
            <a:endParaRPr lang="en-US" sz="1200" dirty="0"/>
          </a:p>
        </p:txBody>
      </p:sp>
      <p:sp>
        <p:nvSpPr>
          <p:cNvPr id="22" name="Text 19"/>
          <p:cNvSpPr/>
          <p:nvPr/>
        </p:nvSpPr>
        <p:spPr>
          <a:xfrm>
            <a:off x="6912864" y="2221992"/>
            <a:ext cx="1874520" cy="411480"/>
          </a:xfrm>
          <a:prstGeom prst="rect">
            <a:avLst/>
          </a:prstGeom>
          <a:noFill/>
          <a:ln/>
        </p:spPr>
        <p:txBody>
          <a:bodyPr wrap="square" rtlCol="0" anchor="ctr"/>
          <a:lstStyle/>
          <a:p>
            <a:pPr algn="ctr" indent="0" marL="0">
              <a:buNone/>
            </a:pPr>
            <a:r>
              <a:rPr lang="en-US" sz="1050" dirty="0">
                <a:solidFill>
                  <a:srgbClr val="D8ECEC"/>
                </a:solidFill>
                <a:latin typeface="Calibri" pitchFamily="34" charset="0"/>
                <a:ea typeface="Calibri" pitchFamily="34" charset="-122"/>
                <a:cs typeface="Calibri" pitchFamily="34" charset="-120"/>
              </a:rPr>
              <a:t>text2vec auto-embeds query → nearText search</a:t>
            </a:r>
            <a:endParaRPr lang="en-US" sz="1050" dirty="0"/>
          </a:p>
        </p:txBody>
      </p:sp>
      <p:sp>
        <p:nvSpPr>
          <p:cNvPr id="23" name="Shape 20"/>
          <p:cNvSpPr/>
          <p:nvPr/>
        </p:nvSpPr>
        <p:spPr>
          <a:xfrm>
            <a:off x="182880" y="2907792"/>
            <a:ext cx="2834640" cy="1417320"/>
          </a:xfrm>
          <a:prstGeom prst="rect">
            <a:avLst/>
          </a:prstGeom>
          <a:solidFill>
            <a:srgbClr val="00C4B4"/>
          </a:solidFill>
          <a:ln/>
          <a:effectLst>
            <a:outerShdw sx="100000" sy="100000" kx="0" ky="0" algn="bl" rotWithShape="0" blurRad="50800" dist="25400" dir="16200000">
              <a:srgbClr val="000000">
                <a:alpha val="15000"/>
              </a:srgbClr>
            </a:outerShdw>
          </a:effectLst>
        </p:spPr>
      </p:sp>
      <p:sp>
        <p:nvSpPr>
          <p:cNvPr id="24" name="Text 21"/>
          <p:cNvSpPr/>
          <p:nvPr/>
        </p:nvSpPr>
        <p:spPr>
          <a:xfrm>
            <a:off x="182880" y="2999232"/>
            <a:ext cx="2834640" cy="34747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5" name="Text 22"/>
          <p:cNvSpPr/>
          <p:nvPr/>
        </p:nvSpPr>
        <p:spPr>
          <a:xfrm>
            <a:off x="274320" y="3364992"/>
            <a:ext cx="265176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build_prompt()</a:t>
            </a:r>
            <a:endParaRPr lang="en-US" sz="1200" dirty="0"/>
          </a:p>
        </p:txBody>
      </p:sp>
      <p:sp>
        <p:nvSpPr>
          <p:cNvPr id="26" name="Text 23"/>
          <p:cNvSpPr/>
          <p:nvPr/>
        </p:nvSpPr>
        <p:spPr>
          <a:xfrm>
            <a:off x="274320" y="3803904"/>
            <a:ext cx="2651760" cy="411480"/>
          </a:xfrm>
          <a:prstGeom prst="rect">
            <a:avLst/>
          </a:prstGeom>
          <a:noFill/>
          <a:ln/>
        </p:spPr>
        <p:txBody>
          <a:bodyPr wrap="square" rtlCol="0" anchor="ctr"/>
          <a:lstStyle/>
          <a:p>
            <a:pPr algn="ctr" indent="0" marL="0">
              <a:buNone/>
            </a:pPr>
            <a:r>
              <a:rPr lang="en-US" sz="1050" dirty="0">
                <a:solidFill>
                  <a:srgbClr val="D8ECEC"/>
                </a:solidFill>
                <a:latin typeface="Calibri" pitchFamily="34" charset="0"/>
                <a:ea typeface="Calibri" pitchFamily="34" charset="-122"/>
                <a:cs typeface="Calibri" pitchFamily="34" charset="-120"/>
              </a:rPr>
              <a:t>Inserts sources + grounding instructions</a:t>
            </a:r>
            <a:endParaRPr lang="en-US" sz="1050" dirty="0"/>
          </a:p>
        </p:txBody>
      </p:sp>
      <p:sp>
        <p:nvSpPr>
          <p:cNvPr id="27" name="Shape 24"/>
          <p:cNvSpPr/>
          <p:nvPr/>
        </p:nvSpPr>
        <p:spPr>
          <a:xfrm>
            <a:off x="3172968" y="2907792"/>
            <a:ext cx="2834640" cy="1417320"/>
          </a:xfrm>
          <a:prstGeom prst="rect">
            <a:avLst/>
          </a:prstGeom>
          <a:solidFill>
            <a:srgbClr val="008B80"/>
          </a:solidFill>
          <a:ln/>
          <a:effectLst>
            <a:outerShdw sx="100000" sy="100000" kx="0" ky="0" algn="bl" rotWithShape="0" blurRad="50800" dist="25400" dir="16200000">
              <a:srgbClr val="000000">
                <a:alpha val="15000"/>
              </a:srgbClr>
            </a:outerShdw>
          </a:effectLst>
        </p:spPr>
      </p:sp>
      <p:sp>
        <p:nvSpPr>
          <p:cNvPr id="28" name="Text 25"/>
          <p:cNvSpPr/>
          <p:nvPr/>
        </p:nvSpPr>
        <p:spPr>
          <a:xfrm>
            <a:off x="3172968" y="2999232"/>
            <a:ext cx="2834640" cy="34747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9" name="Text 26"/>
          <p:cNvSpPr/>
          <p:nvPr/>
        </p:nvSpPr>
        <p:spPr>
          <a:xfrm>
            <a:off x="3264408" y="3364992"/>
            <a:ext cx="265176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ollama_generate()</a:t>
            </a:r>
            <a:endParaRPr lang="en-US" sz="1200" dirty="0"/>
          </a:p>
        </p:txBody>
      </p:sp>
      <p:sp>
        <p:nvSpPr>
          <p:cNvPr id="30" name="Text 27"/>
          <p:cNvSpPr/>
          <p:nvPr/>
        </p:nvSpPr>
        <p:spPr>
          <a:xfrm>
            <a:off x="3264408" y="3803904"/>
            <a:ext cx="2651760" cy="411480"/>
          </a:xfrm>
          <a:prstGeom prst="rect">
            <a:avLst/>
          </a:prstGeom>
          <a:noFill/>
          <a:ln/>
        </p:spPr>
        <p:txBody>
          <a:bodyPr wrap="square" rtlCol="0" anchor="ctr"/>
          <a:lstStyle/>
          <a:p>
            <a:pPr algn="ctr" indent="0" marL="0">
              <a:buNone/>
            </a:pPr>
            <a:r>
              <a:rPr lang="en-US" sz="1050" dirty="0">
                <a:solidFill>
                  <a:srgbClr val="D8ECEC"/>
                </a:solidFill>
                <a:latin typeface="Calibri" pitchFamily="34" charset="0"/>
                <a:ea typeface="Calibri" pitchFamily="34" charset="-122"/>
                <a:cs typeface="Calibri" pitchFamily="34" charset="-120"/>
              </a:rPr>
              <a:t>LLM generates from prompt — no DB access</a:t>
            </a:r>
            <a:endParaRPr lang="en-US" sz="1050" dirty="0"/>
          </a:p>
        </p:txBody>
      </p:sp>
      <p:sp>
        <p:nvSpPr>
          <p:cNvPr id="31" name="Shape 28"/>
          <p:cNvSpPr/>
          <p:nvPr/>
        </p:nvSpPr>
        <p:spPr>
          <a:xfrm>
            <a:off x="6163056" y="2907792"/>
            <a:ext cx="2834640" cy="1417320"/>
          </a:xfrm>
          <a:prstGeom prst="rect">
            <a:avLst/>
          </a:prstGeom>
          <a:solidFill>
            <a:srgbClr val="0D1B2A"/>
          </a:solidFill>
          <a:ln/>
          <a:effectLst>
            <a:outerShdw sx="100000" sy="100000" kx="0" ky="0" algn="bl" rotWithShape="0" blurRad="50800" dist="25400" dir="16200000">
              <a:srgbClr val="000000">
                <a:alpha val="15000"/>
              </a:srgbClr>
            </a:outerShdw>
          </a:effectLst>
        </p:spPr>
      </p:sp>
      <p:sp>
        <p:nvSpPr>
          <p:cNvPr id="32" name="Text 29"/>
          <p:cNvSpPr/>
          <p:nvPr/>
        </p:nvSpPr>
        <p:spPr>
          <a:xfrm>
            <a:off x="6163056" y="2999232"/>
            <a:ext cx="2834640" cy="34747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33" name="Text 30"/>
          <p:cNvSpPr/>
          <p:nvPr/>
        </p:nvSpPr>
        <p:spPr>
          <a:xfrm>
            <a:off x="6254496" y="3364992"/>
            <a:ext cx="265176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Return answer + sources</a:t>
            </a:r>
            <a:endParaRPr lang="en-US" sz="1200" dirty="0"/>
          </a:p>
        </p:txBody>
      </p:sp>
      <p:sp>
        <p:nvSpPr>
          <p:cNvPr id="34" name="Text 31"/>
          <p:cNvSpPr/>
          <p:nvPr/>
        </p:nvSpPr>
        <p:spPr>
          <a:xfrm>
            <a:off x="6254496" y="3803904"/>
            <a:ext cx="2651760" cy="411480"/>
          </a:xfrm>
          <a:prstGeom prst="rect">
            <a:avLst/>
          </a:prstGeom>
          <a:noFill/>
          <a:ln/>
        </p:spPr>
        <p:txBody>
          <a:bodyPr wrap="square" rtlCol="0" anchor="ctr"/>
          <a:lstStyle/>
          <a:p>
            <a:pPr algn="ctr" indent="0" marL="0">
              <a:buNone/>
            </a:pPr>
            <a:r>
              <a:rPr lang="en-US" sz="1050" dirty="0">
                <a:solidFill>
                  <a:srgbClr val="D8ECEC"/>
                </a:solidFill>
                <a:latin typeface="Calibri" pitchFamily="34" charset="0"/>
                <a:ea typeface="Calibri" pitchFamily="34" charset="-122"/>
                <a:cs typeface="Calibri" pitchFamily="34" charset="-120"/>
              </a:rPr>
              <a:t>Structured JSON with distance scores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System Architecture — All 6 Containers</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274320" y="914400"/>
            <a:ext cx="3840480" cy="274320"/>
          </a:xfrm>
          <a:prstGeom prst="rect">
            <a:avLst/>
          </a:prstGeom>
          <a:noFill/>
          <a:ln/>
        </p:spPr>
        <p:txBody>
          <a:bodyPr wrap="square" rtlCol="0" anchor="ctr"/>
          <a:lstStyle/>
          <a:p>
            <a:pPr indent="0" marL="0">
              <a:buNone/>
            </a:pPr>
            <a:r>
              <a:rPr lang="en-US" sz="1100" b="1" spc="200" kern="0" dirty="0">
                <a:solidFill>
                  <a:srgbClr val="F4A261"/>
                </a:solidFill>
                <a:latin typeface="Calibri" pitchFamily="34" charset="0"/>
                <a:ea typeface="Calibri" pitchFamily="34" charset="-122"/>
                <a:cs typeface="Calibri" pitchFamily="34" charset="-120"/>
              </a:rPr>
              <a:t>EXPOSED TO YOUR MACHINE</a:t>
            </a:r>
            <a:endParaRPr lang="en-US" sz="1100" dirty="0"/>
          </a:p>
        </p:txBody>
      </p:sp>
      <p:sp>
        <p:nvSpPr>
          <p:cNvPr id="7" name="Shape 4"/>
          <p:cNvSpPr/>
          <p:nvPr/>
        </p:nvSpPr>
        <p:spPr>
          <a:xfrm>
            <a:off x="274320" y="1234440"/>
            <a:ext cx="3840480" cy="1097280"/>
          </a:xfrm>
          <a:prstGeom prst="rect">
            <a:avLst/>
          </a:prstGeom>
          <a:solidFill>
            <a:srgbClr val="192C20"/>
          </a:solidFill>
          <a:ln/>
          <a:effectLst>
            <a:outerShdw sx="100000" sy="100000" kx="0" ky="0" algn="bl" rotWithShape="0" blurRad="50800" dist="25400" dir="16200000">
              <a:srgbClr val="000000">
                <a:alpha val="20000"/>
              </a:srgbClr>
            </a:outerShdw>
          </a:effectLst>
        </p:spPr>
      </p:sp>
      <p:sp>
        <p:nvSpPr>
          <p:cNvPr id="8" name="Text 5"/>
          <p:cNvSpPr/>
          <p:nvPr/>
        </p:nvSpPr>
        <p:spPr>
          <a:xfrm>
            <a:off x="411480" y="1325880"/>
            <a:ext cx="356616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NGINX — edge-nginx</a:t>
            </a:r>
            <a:endParaRPr lang="en-US" sz="1400" dirty="0"/>
          </a:p>
        </p:txBody>
      </p:sp>
      <p:sp>
        <p:nvSpPr>
          <p:cNvPr id="9" name="Text 6"/>
          <p:cNvSpPr/>
          <p:nvPr/>
        </p:nvSpPr>
        <p:spPr>
          <a:xfrm>
            <a:off x="411480" y="1664208"/>
            <a:ext cx="3566160" cy="274320"/>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Port 8088 → API gateway, enforces X-API-Key</a:t>
            </a:r>
            <a:endParaRPr lang="en-US" sz="1100" dirty="0"/>
          </a:p>
        </p:txBody>
      </p:sp>
      <p:sp>
        <p:nvSpPr>
          <p:cNvPr id="10" name="Shape 7"/>
          <p:cNvSpPr/>
          <p:nvPr/>
        </p:nvSpPr>
        <p:spPr>
          <a:xfrm>
            <a:off x="274320" y="2423160"/>
            <a:ext cx="3840480" cy="1097280"/>
          </a:xfrm>
          <a:prstGeom prst="rect">
            <a:avLst/>
          </a:prstGeom>
          <a:solidFill>
            <a:srgbClr val="192C20"/>
          </a:solidFill>
          <a:ln/>
          <a:effectLst>
            <a:outerShdw sx="100000" sy="100000" kx="0" ky="0" algn="bl" rotWithShape="0" blurRad="50800" dist="25400" dir="16200000">
              <a:srgbClr val="000000">
                <a:alpha val="20000"/>
              </a:srgbClr>
            </a:outerShdw>
          </a:effectLst>
        </p:spPr>
      </p:sp>
      <p:sp>
        <p:nvSpPr>
          <p:cNvPr id="11" name="Text 8"/>
          <p:cNvSpPr/>
          <p:nvPr/>
        </p:nvSpPr>
        <p:spPr>
          <a:xfrm>
            <a:off x="411480" y="2514600"/>
            <a:ext cx="356616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Gradio — gradio-ui</a:t>
            </a:r>
            <a:endParaRPr lang="en-US" sz="1400" dirty="0"/>
          </a:p>
        </p:txBody>
      </p:sp>
      <p:sp>
        <p:nvSpPr>
          <p:cNvPr id="12" name="Text 9"/>
          <p:cNvSpPr/>
          <p:nvPr/>
        </p:nvSpPr>
        <p:spPr>
          <a:xfrm>
            <a:off x="411480" y="2852928"/>
            <a:ext cx="3566160" cy="274320"/>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Port 7860 → Browser chat UI + Security Memory tab</a:t>
            </a:r>
            <a:endParaRPr lang="en-US" sz="1100" dirty="0"/>
          </a:p>
        </p:txBody>
      </p:sp>
      <p:sp>
        <p:nvSpPr>
          <p:cNvPr id="13" name="Text 10"/>
          <p:cNvSpPr/>
          <p:nvPr/>
        </p:nvSpPr>
        <p:spPr>
          <a:xfrm>
            <a:off x="4846320" y="914400"/>
            <a:ext cx="4023360" cy="274320"/>
          </a:xfrm>
          <a:prstGeom prst="rect">
            <a:avLst/>
          </a:prstGeom>
          <a:noFill/>
          <a:ln/>
        </p:spPr>
        <p:txBody>
          <a:bodyPr wrap="square" rtlCol="0" anchor="ctr"/>
          <a:lstStyle/>
          <a:p>
            <a:pPr indent="0" marL="0">
              <a:buNone/>
            </a:pPr>
            <a:r>
              <a:rPr lang="en-US" sz="1100" b="1" spc="200" kern="0" dirty="0">
                <a:solidFill>
                  <a:srgbClr val="2DC653"/>
                </a:solidFill>
                <a:latin typeface="Calibri" pitchFamily="34" charset="0"/>
                <a:ea typeface="Calibri" pitchFamily="34" charset="-122"/>
                <a:cs typeface="Calibri" pitchFamily="34" charset="-120"/>
              </a:rPr>
              <a:t>INTERNAL DOCKER NETWORK ONLY</a:t>
            </a:r>
            <a:endParaRPr lang="en-US" sz="1100" dirty="0"/>
          </a:p>
        </p:txBody>
      </p:sp>
      <p:sp>
        <p:nvSpPr>
          <p:cNvPr id="14" name="Shape 11"/>
          <p:cNvSpPr/>
          <p:nvPr/>
        </p:nvSpPr>
        <p:spPr>
          <a:xfrm>
            <a:off x="4846320" y="1234440"/>
            <a:ext cx="4023360" cy="713232"/>
          </a:xfrm>
          <a:prstGeom prst="rect">
            <a:avLst/>
          </a:prstGeom>
          <a:solidFill>
            <a:srgbClr val="192C20"/>
          </a:solidFill>
          <a:ln/>
          <a:effectLst>
            <a:outerShdw sx="100000" sy="100000" kx="0" ky="0" algn="bl" rotWithShape="0" blurRad="50800" dist="25400" dir="16200000">
              <a:srgbClr val="000000">
                <a:alpha val="20000"/>
              </a:srgbClr>
            </a:outerShdw>
          </a:effectLst>
        </p:spPr>
      </p:sp>
      <p:sp>
        <p:nvSpPr>
          <p:cNvPr id="15" name="Text 12"/>
          <p:cNvSpPr/>
          <p:nvPr/>
        </p:nvSpPr>
        <p:spPr>
          <a:xfrm>
            <a:off x="4983480" y="1307592"/>
            <a:ext cx="3749040" cy="274320"/>
          </a:xfrm>
          <a:prstGeom prst="rect">
            <a:avLst/>
          </a:prstGeom>
          <a:noFill/>
          <a:ln/>
        </p:spPr>
        <p:txBody>
          <a:bodyPr wrap="square" rtlCol="0" anchor="ctr"/>
          <a:lstStyle/>
          <a:p>
            <a:pPr indent="0" marL="0">
              <a:buNone/>
            </a:pPr>
            <a:r>
              <a:rPr lang="en-US" sz="1300" b="1" dirty="0">
                <a:solidFill>
                  <a:srgbClr val="00C4B4"/>
                </a:solidFill>
                <a:latin typeface="Calibri" pitchFamily="34" charset="0"/>
                <a:ea typeface="Calibri" pitchFamily="34" charset="-122"/>
                <a:cs typeface="Calibri" pitchFamily="34" charset="-120"/>
              </a:rPr>
              <a:t>Weaviate</a:t>
            </a:r>
            <a:endParaRPr lang="en-US" sz="1300" dirty="0"/>
          </a:p>
        </p:txBody>
      </p:sp>
      <p:sp>
        <p:nvSpPr>
          <p:cNvPr id="16" name="Text 13"/>
          <p:cNvSpPr/>
          <p:nvPr/>
        </p:nvSpPr>
        <p:spPr>
          <a:xfrm>
            <a:off x="4983480" y="1600200"/>
            <a:ext cx="3749040" cy="256032"/>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Port 8080 — vector DB with class-based schema</a:t>
            </a:r>
            <a:endParaRPr lang="en-US" sz="1100" dirty="0"/>
          </a:p>
        </p:txBody>
      </p:sp>
      <p:sp>
        <p:nvSpPr>
          <p:cNvPr id="17" name="Shape 14"/>
          <p:cNvSpPr/>
          <p:nvPr/>
        </p:nvSpPr>
        <p:spPr>
          <a:xfrm>
            <a:off x="4846320" y="2148840"/>
            <a:ext cx="4023360" cy="713232"/>
          </a:xfrm>
          <a:prstGeom prst="rect">
            <a:avLst/>
          </a:prstGeom>
          <a:solidFill>
            <a:srgbClr val="192C20"/>
          </a:solidFill>
          <a:ln/>
          <a:effectLst>
            <a:outerShdw sx="100000" sy="100000" kx="0" ky="0" algn="bl" rotWithShape="0" blurRad="50800" dist="25400" dir="16200000">
              <a:srgbClr val="000000">
                <a:alpha val="20000"/>
              </a:srgbClr>
            </a:outerShdw>
          </a:effectLst>
        </p:spPr>
      </p:sp>
      <p:sp>
        <p:nvSpPr>
          <p:cNvPr id="18" name="Text 15"/>
          <p:cNvSpPr/>
          <p:nvPr/>
        </p:nvSpPr>
        <p:spPr>
          <a:xfrm>
            <a:off x="4983480" y="2221992"/>
            <a:ext cx="3749040" cy="274320"/>
          </a:xfrm>
          <a:prstGeom prst="rect">
            <a:avLst/>
          </a:prstGeom>
          <a:noFill/>
          <a:ln/>
        </p:spPr>
        <p:txBody>
          <a:bodyPr wrap="square" rtlCol="0" anchor="ctr"/>
          <a:lstStyle/>
          <a:p>
            <a:pPr indent="0" marL="0">
              <a:buNone/>
            </a:pPr>
            <a:r>
              <a:rPr lang="en-US" sz="1300" b="1" dirty="0">
                <a:solidFill>
                  <a:srgbClr val="00C4B4"/>
                </a:solidFill>
                <a:latin typeface="Calibri" pitchFamily="34" charset="0"/>
                <a:ea typeface="Calibri" pitchFamily="34" charset="-122"/>
                <a:cs typeface="Calibri" pitchFamily="34" charset="-120"/>
              </a:rPr>
              <a:t>text2vec-transformers</a:t>
            </a:r>
            <a:endParaRPr lang="en-US" sz="1300" dirty="0"/>
          </a:p>
        </p:txBody>
      </p:sp>
      <p:sp>
        <p:nvSpPr>
          <p:cNvPr id="19" name="Text 16"/>
          <p:cNvSpPr/>
          <p:nvPr/>
        </p:nvSpPr>
        <p:spPr>
          <a:xfrm>
            <a:off x="4983480" y="2514600"/>
            <a:ext cx="3749040" cy="256032"/>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Port 8080 — auto-embeddings (called by Weaviate)</a:t>
            </a:r>
            <a:endParaRPr lang="en-US" sz="1100" dirty="0"/>
          </a:p>
        </p:txBody>
      </p:sp>
      <p:sp>
        <p:nvSpPr>
          <p:cNvPr id="20" name="Shape 17"/>
          <p:cNvSpPr/>
          <p:nvPr/>
        </p:nvSpPr>
        <p:spPr>
          <a:xfrm>
            <a:off x="4846320" y="3063240"/>
            <a:ext cx="4023360" cy="713232"/>
          </a:xfrm>
          <a:prstGeom prst="rect">
            <a:avLst/>
          </a:prstGeom>
          <a:solidFill>
            <a:srgbClr val="192C20"/>
          </a:solidFill>
          <a:ln/>
          <a:effectLst>
            <a:outerShdw sx="100000" sy="100000" kx="0" ky="0" algn="bl" rotWithShape="0" blurRad="50800" dist="25400" dir="16200000">
              <a:srgbClr val="000000">
                <a:alpha val="20000"/>
              </a:srgbClr>
            </a:outerShdw>
          </a:effectLst>
        </p:spPr>
      </p:sp>
      <p:sp>
        <p:nvSpPr>
          <p:cNvPr id="21" name="Text 18"/>
          <p:cNvSpPr/>
          <p:nvPr/>
        </p:nvSpPr>
        <p:spPr>
          <a:xfrm>
            <a:off x="4983480" y="3136392"/>
            <a:ext cx="3749040" cy="274320"/>
          </a:xfrm>
          <a:prstGeom prst="rect">
            <a:avLst/>
          </a:prstGeom>
          <a:noFill/>
          <a:ln/>
        </p:spPr>
        <p:txBody>
          <a:bodyPr wrap="square" rtlCol="0" anchor="ctr"/>
          <a:lstStyle/>
          <a:p>
            <a:pPr indent="0" marL="0">
              <a:buNone/>
            </a:pPr>
            <a:r>
              <a:rPr lang="en-US" sz="1300" b="1" dirty="0">
                <a:solidFill>
                  <a:srgbClr val="00C4B4"/>
                </a:solidFill>
                <a:latin typeface="Calibri" pitchFamily="34" charset="0"/>
                <a:ea typeface="Calibri" pitchFamily="34" charset="-122"/>
                <a:cs typeface="Calibri" pitchFamily="34" charset="-120"/>
              </a:rPr>
              <a:t>FastAPI (ingestion-api)</a:t>
            </a:r>
            <a:endParaRPr lang="en-US" sz="1300" dirty="0"/>
          </a:p>
        </p:txBody>
      </p:sp>
      <p:sp>
        <p:nvSpPr>
          <p:cNvPr id="22" name="Text 19"/>
          <p:cNvSpPr/>
          <p:nvPr/>
        </p:nvSpPr>
        <p:spPr>
          <a:xfrm>
            <a:off x="4983480" y="3429000"/>
            <a:ext cx="3749040" cy="256032"/>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Port 8000 — RAG orchestrator</a:t>
            </a:r>
            <a:endParaRPr lang="en-US" sz="1100" dirty="0"/>
          </a:p>
        </p:txBody>
      </p:sp>
      <p:sp>
        <p:nvSpPr>
          <p:cNvPr id="23" name="Shape 20"/>
          <p:cNvSpPr/>
          <p:nvPr/>
        </p:nvSpPr>
        <p:spPr>
          <a:xfrm>
            <a:off x="4846320" y="3977640"/>
            <a:ext cx="4023360" cy="713232"/>
          </a:xfrm>
          <a:prstGeom prst="rect">
            <a:avLst/>
          </a:prstGeom>
          <a:solidFill>
            <a:srgbClr val="192C20"/>
          </a:solidFill>
          <a:ln/>
          <a:effectLst>
            <a:outerShdw sx="100000" sy="100000" kx="0" ky="0" algn="bl" rotWithShape="0" blurRad="50800" dist="25400" dir="16200000">
              <a:srgbClr val="000000">
                <a:alpha val="20000"/>
              </a:srgbClr>
            </a:outerShdw>
          </a:effectLst>
        </p:spPr>
      </p:sp>
      <p:sp>
        <p:nvSpPr>
          <p:cNvPr id="24" name="Text 21"/>
          <p:cNvSpPr/>
          <p:nvPr/>
        </p:nvSpPr>
        <p:spPr>
          <a:xfrm>
            <a:off x="4983480" y="4050792"/>
            <a:ext cx="3749040" cy="274320"/>
          </a:xfrm>
          <a:prstGeom prst="rect">
            <a:avLst/>
          </a:prstGeom>
          <a:noFill/>
          <a:ln/>
        </p:spPr>
        <p:txBody>
          <a:bodyPr wrap="square" rtlCol="0" anchor="ctr"/>
          <a:lstStyle/>
          <a:p>
            <a:pPr indent="0" marL="0">
              <a:buNone/>
            </a:pPr>
            <a:r>
              <a:rPr lang="en-US" sz="1300" b="1" dirty="0">
                <a:solidFill>
                  <a:srgbClr val="00C4B4"/>
                </a:solidFill>
                <a:latin typeface="Calibri" pitchFamily="34" charset="0"/>
                <a:ea typeface="Calibri" pitchFamily="34" charset="-122"/>
                <a:cs typeface="Calibri" pitchFamily="34" charset="-120"/>
              </a:rPr>
              <a:t>Ollama</a:t>
            </a:r>
            <a:endParaRPr lang="en-US" sz="1300" dirty="0"/>
          </a:p>
        </p:txBody>
      </p:sp>
      <p:sp>
        <p:nvSpPr>
          <p:cNvPr id="25" name="Text 22"/>
          <p:cNvSpPr/>
          <p:nvPr/>
        </p:nvSpPr>
        <p:spPr>
          <a:xfrm>
            <a:off x="4983480" y="4343400"/>
            <a:ext cx="3749040" cy="256032"/>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Port 11434 — local LLM</a:t>
            </a:r>
            <a:endParaRPr lang="en-US" sz="1100" dirty="0"/>
          </a:p>
        </p:txBody>
      </p:sp>
      <p:sp>
        <p:nvSpPr>
          <p:cNvPr id="26" name="Text 23"/>
          <p:cNvSpPr/>
          <p:nvPr/>
        </p:nvSpPr>
        <p:spPr>
          <a:xfrm>
            <a:off x="4160520" y="2103120"/>
            <a:ext cx="640080" cy="365760"/>
          </a:xfrm>
          <a:prstGeom prst="rect">
            <a:avLst/>
          </a:prstGeom>
          <a:noFill/>
          <a:ln/>
        </p:spPr>
        <p:txBody>
          <a:bodyPr wrap="square" rtlCol="0" anchor="ctr"/>
          <a:lstStyle/>
          <a:p>
            <a:pPr algn="ctr" indent="0" marL="0">
              <a:buNone/>
            </a:pPr>
            <a:r>
              <a:rPr lang="en-US" sz="2200" dirty="0">
                <a:solidFill>
                  <a:srgbClr val="00C4B4"/>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Container Deep Dive — Weaviate (Vector Database)</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Weaviate stores data as objects inside a class — think of a class as a typed table:</a:t>
            </a:r>
            <a:endParaRPr lang="en-US" sz="1400" dirty="0"/>
          </a:p>
        </p:txBody>
      </p:sp>
      <p:sp>
        <p:nvSpPr>
          <p:cNvPr id="7" name="Shape 4"/>
          <p:cNvSpPr/>
          <p:nvPr/>
        </p:nvSpPr>
        <p:spPr>
          <a:xfrm>
            <a:off x="320040" y="1261872"/>
            <a:ext cx="4160520" cy="2606040"/>
          </a:xfrm>
          <a:prstGeom prst="rect">
            <a:avLst/>
          </a:prstGeom>
          <a:solidFill>
            <a:srgbClr val="0D1B2A"/>
          </a:solidFill>
          <a:ln/>
          <a:effectLst>
            <a:outerShdw sx="100000" sy="100000" kx="0" ky="0" algn="bl" rotWithShape="0" blurRad="63500" dist="25400" dir="16200000">
              <a:srgbClr val="000000">
                <a:alpha val="12000"/>
              </a:srgbClr>
            </a:outerShdw>
          </a:effectLst>
        </p:spPr>
      </p:sp>
      <p:sp>
        <p:nvSpPr>
          <p:cNvPr id="8" name="Text 5"/>
          <p:cNvSpPr/>
          <p:nvPr/>
        </p:nvSpPr>
        <p:spPr>
          <a:xfrm>
            <a:off x="457200" y="1371600"/>
            <a:ext cx="3886200" cy="347472"/>
          </a:xfrm>
          <a:prstGeom prst="rect">
            <a:avLst/>
          </a:prstGeom>
          <a:noFill/>
          <a:ln/>
        </p:spPr>
        <p:txBody>
          <a:bodyPr wrap="square" rtlCol="0" anchor="ctr"/>
          <a:lstStyle/>
          <a:p>
            <a:pPr indent="0" marL="0">
              <a:buNone/>
            </a:pPr>
            <a:r>
              <a:rPr lang="en-US" sz="1600" b="1" dirty="0">
                <a:solidFill>
                  <a:srgbClr val="00C4B4"/>
                </a:solidFill>
                <a:latin typeface="Calibri" pitchFamily="34" charset="0"/>
                <a:ea typeface="Calibri" pitchFamily="34" charset="-122"/>
                <a:cs typeface="Calibri" pitchFamily="34" charset="-120"/>
              </a:rPr>
              <a:t>Class Schema (LabDoc)</a:t>
            </a:r>
            <a:endParaRPr lang="en-US" sz="1600" dirty="0"/>
          </a:p>
        </p:txBody>
      </p:sp>
      <p:sp>
        <p:nvSpPr>
          <p:cNvPr id="9" name="Text 6"/>
          <p:cNvSpPr/>
          <p:nvPr/>
        </p:nvSpPr>
        <p:spPr>
          <a:xfrm>
            <a:off x="457200" y="1755648"/>
            <a:ext cx="3886200" cy="19202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title — text property</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url — text property</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source — text property</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tags — text[] property (array)</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text — text property (the content)</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published_date — text property</a:t>
            </a:r>
            <a:endParaRPr lang="en-US" sz="1250" dirty="0"/>
          </a:p>
        </p:txBody>
      </p:sp>
      <p:sp>
        <p:nvSpPr>
          <p:cNvPr id="10" name="Shape 7"/>
          <p:cNvSpPr/>
          <p:nvPr/>
        </p:nvSpPr>
        <p:spPr>
          <a:xfrm>
            <a:off x="4663440" y="1261872"/>
            <a:ext cx="4160520" cy="2606040"/>
          </a:xfrm>
          <a:prstGeom prst="rect">
            <a:avLst/>
          </a:prstGeom>
          <a:solidFill>
            <a:srgbClr val="0D1B2A"/>
          </a:solidFill>
          <a:ln/>
          <a:effectLst>
            <a:outerShdw sx="100000" sy="100000" kx="0" ky="0" algn="bl" rotWithShape="0" blurRad="63500" dist="25400" dir="16200000">
              <a:srgbClr val="000000">
                <a:alpha val="12000"/>
              </a:srgbClr>
            </a:outerShdw>
          </a:effectLst>
        </p:spPr>
      </p:sp>
      <p:sp>
        <p:nvSpPr>
          <p:cNvPr id="11" name="Text 8"/>
          <p:cNvSpPr/>
          <p:nvPr/>
        </p:nvSpPr>
        <p:spPr>
          <a:xfrm>
            <a:off x="4800600" y="1371600"/>
            <a:ext cx="3886200" cy="347472"/>
          </a:xfrm>
          <a:prstGeom prst="rect">
            <a:avLst/>
          </a:prstGeom>
          <a:noFill/>
          <a:ln/>
        </p:spPr>
        <p:txBody>
          <a:bodyPr wrap="square" rtlCol="0" anchor="ctr"/>
          <a:lstStyle/>
          <a:p>
            <a:pPr indent="0" marL="0">
              <a:buNone/>
            </a:pPr>
            <a:r>
              <a:rPr lang="en-US" sz="1600" b="1" dirty="0">
                <a:solidFill>
                  <a:srgbClr val="00C4B4"/>
                </a:solidFill>
                <a:latin typeface="Calibri" pitchFamily="34" charset="0"/>
                <a:ea typeface="Calibri" pitchFamily="34" charset="-122"/>
                <a:cs typeface="Calibri" pitchFamily="34" charset="-120"/>
              </a:rPr>
              <a:t>Key Weaviate Differences</a:t>
            </a:r>
            <a:endParaRPr lang="en-US" sz="1600" dirty="0"/>
          </a:p>
        </p:txBody>
      </p:sp>
      <p:sp>
        <p:nvSpPr>
          <p:cNvPr id="12" name="Text 9"/>
          <p:cNvSpPr/>
          <p:nvPr/>
        </p:nvSpPr>
        <p:spPr>
          <a:xfrm>
            <a:off x="4800600" y="1755648"/>
            <a:ext cx="3886200" cy="19202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Schema defined upfront — cannot alter after creation</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text2vec-transformers auto-generates embeddings on insert</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Queries use GraphQL nearText syntax</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Returns distance scores (0-2, lower = better match)</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Data stored as objects in classes — not points in collections</a:t>
            </a:r>
            <a:endParaRPr lang="en-US" sz="1250" dirty="0"/>
          </a:p>
        </p:txBody>
      </p:sp>
      <p:sp>
        <p:nvSpPr>
          <p:cNvPr id="13" name="Text 10"/>
          <p:cNvSpPr/>
          <p:nvPr/>
        </p:nvSpPr>
        <p:spPr>
          <a:xfrm>
            <a:off x="320040" y="3950208"/>
            <a:ext cx="8503920" cy="502920"/>
          </a:xfrm>
          <a:prstGeom prst="rect">
            <a:avLst/>
          </a:prstGeom>
          <a:noFill/>
          <a:ln/>
        </p:spPr>
        <p:txBody>
          <a:bodyPr wrap="square" rtlCol="0" anchor="ctr"/>
          <a:lstStyle/>
          <a:p>
            <a:pPr indent="0" marL="0">
              <a:buNone/>
            </a:pPr>
            <a:r>
              <a:rPr lang="en-US" sz="1250" i="1" dirty="0">
                <a:solidFill>
                  <a:srgbClr val="F4A261"/>
                </a:solidFill>
                <a:latin typeface="Calibri" pitchFamily="34" charset="0"/>
                <a:ea typeface="Calibri" pitchFamily="34" charset="-122"/>
                <a:cs typeface="Calibri" pitchFamily="34" charset="-120"/>
              </a:rPr>
              <a:t>⚠ Scoring note: Weaviate returns DISTANCE (lower = better). Qdrant returns SIMILARITY (higher = better). Opposite directions!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Container Deep Dive — text2vec-transformers (Auto-Embedding)</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914400"/>
            <a:ext cx="8503920" cy="347472"/>
          </a:xfrm>
          <a:prstGeom prst="rect">
            <a:avLst/>
          </a:prstGeom>
          <a:noFill/>
          <a:ln/>
        </p:spPr>
        <p:txBody>
          <a:bodyPr wrap="square"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How Weaviate + text2vec-transformers work together:</a:t>
            </a:r>
            <a:endParaRPr lang="en-US" sz="1500" dirty="0"/>
          </a:p>
        </p:txBody>
      </p:sp>
      <p:sp>
        <p:nvSpPr>
          <p:cNvPr id="7" name="Text 4"/>
          <p:cNvSpPr/>
          <p:nvPr/>
        </p:nvSpPr>
        <p:spPr>
          <a:xfrm>
            <a:off x="320040" y="1298448"/>
            <a:ext cx="850392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When you ingest a document → Weaviate automatically calls text2vec-transformers to embed it</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When you run a nearText query → Weaviate automatically embeds the query text before searching</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Your ingestion code just sends JSON — no manual embedding calls needed</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This is configured via TRANSFORMERS_INFERENCE_API=http://text2vec-transformers:8080 in docker-compose.yml</a:t>
            </a:r>
            <a:endParaRPr lang="en-US" sz="1300" dirty="0"/>
          </a:p>
        </p:txBody>
      </p:sp>
      <p:sp>
        <p:nvSpPr>
          <p:cNvPr id="8" name="Text 5"/>
          <p:cNvSpPr/>
          <p:nvPr/>
        </p:nvSpPr>
        <p:spPr>
          <a:xfrm>
            <a:off x="320040" y="2606040"/>
            <a:ext cx="8503920" cy="347472"/>
          </a:xfrm>
          <a:prstGeom prst="rect">
            <a:avLst/>
          </a:prstGeom>
          <a:noFill/>
          <a:ln/>
        </p:spPr>
        <p:txBody>
          <a:bodyPr wrap="square"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Weaviate vs Qdrant embedding approach:</a:t>
            </a:r>
            <a:endParaRPr lang="en-US" sz="1500" dirty="0"/>
          </a:p>
        </p:txBody>
      </p:sp>
      <p:sp>
        <p:nvSpPr>
          <p:cNvPr id="9" name="Shape 6"/>
          <p:cNvSpPr/>
          <p:nvPr/>
        </p:nvSpPr>
        <p:spPr>
          <a:xfrm>
            <a:off x="320040" y="2999232"/>
            <a:ext cx="4160520" cy="1554480"/>
          </a:xfrm>
          <a:prstGeom prst="rect">
            <a:avLst/>
          </a:prstGeom>
          <a:solidFill>
            <a:srgbClr val="0D1B2A"/>
          </a:solidFill>
          <a:ln/>
          <a:effectLst>
            <a:outerShdw sx="100000" sy="100000" kx="0" ky="0" algn="bl" rotWithShape="0" blurRad="50800" dist="25400" dir="16200000">
              <a:srgbClr val="000000">
                <a:alpha val="10000"/>
              </a:srgbClr>
            </a:outerShdw>
          </a:effectLst>
        </p:spPr>
      </p:sp>
      <p:sp>
        <p:nvSpPr>
          <p:cNvPr id="10" name="Text 7"/>
          <p:cNvSpPr/>
          <p:nvPr/>
        </p:nvSpPr>
        <p:spPr>
          <a:xfrm>
            <a:off x="457200" y="3090672"/>
            <a:ext cx="3886200" cy="292608"/>
          </a:xfrm>
          <a:prstGeom prst="rect">
            <a:avLst/>
          </a:prstGeom>
          <a:noFill/>
          <a:ln/>
        </p:spPr>
        <p:txBody>
          <a:bodyPr wrap="square" rtlCol="0" anchor="ctr"/>
          <a:lstStyle/>
          <a:p>
            <a:pPr indent="0" marL="0">
              <a:buNone/>
            </a:pPr>
            <a:r>
              <a:rPr lang="en-US" sz="1300" b="1" dirty="0">
                <a:solidFill>
                  <a:srgbClr val="7A9BAA"/>
                </a:solidFill>
                <a:latin typeface="Calibri" pitchFamily="34" charset="0"/>
                <a:ea typeface="Calibri" pitchFamily="34" charset="-122"/>
                <a:cs typeface="Calibri" pitchFamily="34" charset="-120"/>
              </a:rPr>
              <a:t>Qdrant (Lab 1)</a:t>
            </a:r>
            <a:endParaRPr lang="en-US" sz="1300" dirty="0"/>
          </a:p>
        </p:txBody>
      </p:sp>
      <p:sp>
        <p:nvSpPr>
          <p:cNvPr id="11" name="Text 8"/>
          <p:cNvSpPr/>
          <p:nvPr/>
        </p:nvSpPr>
        <p:spPr>
          <a:xfrm>
            <a:off x="457200" y="3429000"/>
            <a:ext cx="3886200" cy="10058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Ingestion API calls text2vec manually</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Gets back vector, stores in Qdrant</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More control but more code</a:t>
            </a:r>
            <a:endParaRPr lang="en-US" sz="1250" dirty="0"/>
          </a:p>
        </p:txBody>
      </p:sp>
      <p:sp>
        <p:nvSpPr>
          <p:cNvPr id="12" name="Shape 9"/>
          <p:cNvSpPr/>
          <p:nvPr/>
        </p:nvSpPr>
        <p:spPr>
          <a:xfrm>
            <a:off x="4663440" y="2999232"/>
            <a:ext cx="4160520" cy="1554480"/>
          </a:xfrm>
          <a:prstGeom prst="rect">
            <a:avLst/>
          </a:prstGeom>
          <a:solidFill>
            <a:srgbClr val="0A2520"/>
          </a:solidFill>
          <a:ln/>
          <a:effectLst>
            <a:outerShdw sx="100000" sy="100000" kx="0" ky="0" algn="bl" rotWithShape="0" blurRad="50800" dist="25400" dir="16200000">
              <a:srgbClr val="000000">
                <a:alpha val="10000"/>
              </a:srgbClr>
            </a:outerShdw>
          </a:effectLst>
        </p:spPr>
      </p:sp>
      <p:sp>
        <p:nvSpPr>
          <p:cNvPr id="13" name="Text 10"/>
          <p:cNvSpPr/>
          <p:nvPr/>
        </p:nvSpPr>
        <p:spPr>
          <a:xfrm>
            <a:off x="4800600" y="3090672"/>
            <a:ext cx="3886200" cy="292608"/>
          </a:xfrm>
          <a:prstGeom prst="rect">
            <a:avLst/>
          </a:prstGeom>
          <a:noFill/>
          <a:ln/>
        </p:spPr>
        <p:txBody>
          <a:bodyPr wrap="square" rtlCol="0" anchor="ctr"/>
          <a:lstStyle/>
          <a:p>
            <a:pPr indent="0" marL="0">
              <a:buNone/>
            </a:pPr>
            <a:r>
              <a:rPr lang="en-US" sz="1300" b="1" dirty="0">
                <a:solidFill>
                  <a:srgbClr val="00C4B4"/>
                </a:solidFill>
                <a:latin typeface="Calibri" pitchFamily="34" charset="0"/>
                <a:ea typeface="Calibri" pitchFamily="34" charset="-122"/>
                <a:cs typeface="Calibri" pitchFamily="34" charset="-120"/>
              </a:rPr>
              <a:t>Weaviate (Lab 2)</a:t>
            </a:r>
            <a:endParaRPr lang="en-US" sz="1300" dirty="0"/>
          </a:p>
        </p:txBody>
      </p:sp>
      <p:sp>
        <p:nvSpPr>
          <p:cNvPr id="14" name="Text 11"/>
          <p:cNvSpPr/>
          <p:nvPr/>
        </p:nvSpPr>
        <p:spPr>
          <a:xfrm>
            <a:off x="4800600" y="3429000"/>
            <a:ext cx="3886200" cy="10058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Weaviate calls text2vec automatically</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Send JSON, get auto-vectorized storage</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Less code but tighter coupling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Container Deep Dive — FastAPI (The Orchestrator)</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dirty="0">
                <a:solidFill>
                  <a:srgbClr val="D8ECEC"/>
                </a:solidFill>
                <a:latin typeface="Calibri" pitchFamily="34" charset="0"/>
                <a:ea typeface="Calibri" pitchFamily="34" charset="-122"/>
                <a:cs typeface="Calibri" pitchFamily="34" charset="-120"/>
              </a:rPr>
              <a:t>FastAPI orchestrates all services — using Weaviate-specific client calls:</a:t>
            </a:r>
            <a:endParaRPr lang="en-US" sz="1400" dirty="0"/>
          </a:p>
        </p:txBody>
      </p:sp>
      <p:sp>
        <p:nvSpPr>
          <p:cNvPr id="7" name="Shape 4"/>
          <p:cNvSpPr/>
          <p:nvPr/>
        </p:nvSpPr>
        <p:spPr>
          <a:xfrm>
            <a:off x="365760" y="1298448"/>
            <a:ext cx="8412480" cy="594360"/>
          </a:xfrm>
          <a:prstGeom prst="rect">
            <a:avLst/>
          </a:prstGeom>
          <a:solidFill>
            <a:srgbClr val="192C20"/>
          </a:solidFill>
          <a:ln/>
          <a:effectLst>
            <a:outerShdw sx="100000" sy="100000" kx="0" ky="0" algn="bl" rotWithShape="0" blurRad="38100" dist="12700" dir="16200000">
              <a:srgbClr val="000000">
                <a:alpha val="20000"/>
              </a:srgbClr>
            </a:outerShdw>
          </a:effectLst>
        </p:spPr>
      </p:sp>
      <p:sp>
        <p:nvSpPr>
          <p:cNvPr id="8" name="Shape 5"/>
          <p:cNvSpPr/>
          <p:nvPr/>
        </p:nvSpPr>
        <p:spPr>
          <a:xfrm>
            <a:off x="365760" y="1298448"/>
            <a:ext cx="73152" cy="594360"/>
          </a:xfrm>
          <a:prstGeom prst="rect">
            <a:avLst/>
          </a:prstGeom>
          <a:solidFill>
            <a:srgbClr val="00C4B4"/>
          </a:solidFill>
          <a:ln/>
        </p:spPr>
      </p:sp>
      <p:sp>
        <p:nvSpPr>
          <p:cNvPr id="9" name="Text 6"/>
          <p:cNvSpPr/>
          <p:nvPr/>
        </p:nvSpPr>
        <p:spPr>
          <a:xfrm>
            <a:off x="530352" y="1353312"/>
            <a:ext cx="8138160" cy="237744"/>
          </a:xfrm>
          <a:prstGeom prst="rect">
            <a:avLst/>
          </a:prstGeom>
          <a:noFill/>
          <a:ln/>
        </p:spPr>
        <p:txBody>
          <a:bodyPr wrap="square" rtlCol="0" anchor="ctr"/>
          <a:lstStyle/>
          <a:p>
            <a:pPr indent="0" marL="0">
              <a:buNone/>
            </a:pPr>
            <a:r>
              <a:rPr lang="en-US" sz="1250" b="1" dirty="0">
                <a:solidFill>
                  <a:srgbClr val="00C4B4"/>
                </a:solidFill>
                <a:latin typeface="Consolas" pitchFamily="34" charset="0"/>
                <a:ea typeface="Consolas" pitchFamily="34" charset="-122"/>
                <a:cs typeface="Consolas" pitchFamily="34" charset="-120"/>
              </a:rPr>
              <a:t>retrieve_sources(query)</a:t>
            </a:r>
            <a:endParaRPr lang="en-US" sz="1250" dirty="0"/>
          </a:p>
        </p:txBody>
      </p:sp>
      <p:sp>
        <p:nvSpPr>
          <p:cNvPr id="10" name="Text 7"/>
          <p:cNvSpPr/>
          <p:nvPr/>
        </p:nvSpPr>
        <p:spPr>
          <a:xfrm>
            <a:off x="530352" y="1618488"/>
            <a:ext cx="8138160" cy="219456"/>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Calls Weaviate GraphQL nearText query → returns top-K objects with distance scores</a:t>
            </a:r>
            <a:endParaRPr lang="en-US" sz="1200" dirty="0"/>
          </a:p>
        </p:txBody>
      </p:sp>
      <p:sp>
        <p:nvSpPr>
          <p:cNvPr id="11" name="Shape 8"/>
          <p:cNvSpPr/>
          <p:nvPr/>
        </p:nvSpPr>
        <p:spPr>
          <a:xfrm>
            <a:off x="365760" y="2002536"/>
            <a:ext cx="8412480" cy="594360"/>
          </a:xfrm>
          <a:prstGeom prst="rect">
            <a:avLst/>
          </a:prstGeom>
          <a:solidFill>
            <a:srgbClr val="192C20"/>
          </a:solidFill>
          <a:ln/>
          <a:effectLst>
            <a:outerShdw sx="100000" sy="100000" kx="0" ky="0" algn="bl" rotWithShape="0" blurRad="38100" dist="12700" dir="16200000">
              <a:srgbClr val="000000">
                <a:alpha val="20000"/>
              </a:srgbClr>
            </a:outerShdw>
          </a:effectLst>
        </p:spPr>
      </p:sp>
      <p:sp>
        <p:nvSpPr>
          <p:cNvPr id="12" name="Shape 9"/>
          <p:cNvSpPr/>
          <p:nvPr/>
        </p:nvSpPr>
        <p:spPr>
          <a:xfrm>
            <a:off x="365760" y="2002536"/>
            <a:ext cx="73152" cy="594360"/>
          </a:xfrm>
          <a:prstGeom prst="rect">
            <a:avLst/>
          </a:prstGeom>
          <a:solidFill>
            <a:srgbClr val="00C4B4"/>
          </a:solidFill>
          <a:ln/>
        </p:spPr>
      </p:sp>
      <p:sp>
        <p:nvSpPr>
          <p:cNvPr id="13" name="Text 10"/>
          <p:cNvSpPr/>
          <p:nvPr/>
        </p:nvSpPr>
        <p:spPr>
          <a:xfrm>
            <a:off x="530352" y="2057400"/>
            <a:ext cx="8138160" cy="237744"/>
          </a:xfrm>
          <a:prstGeom prst="rect">
            <a:avLst/>
          </a:prstGeom>
          <a:noFill/>
          <a:ln/>
        </p:spPr>
        <p:txBody>
          <a:bodyPr wrap="square" rtlCol="0" anchor="ctr"/>
          <a:lstStyle/>
          <a:p>
            <a:pPr indent="0" marL="0">
              <a:buNone/>
            </a:pPr>
            <a:r>
              <a:rPr lang="en-US" sz="1250" b="1" dirty="0">
                <a:solidFill>
                  <a:srgbClr val="00C4B4"/>
                </a:solidFill>
                <a:latin typeface="Consolas" pitchFamily="34" charset="0"/>
                <a:ea typeface="Consolas" pitchFamily="34" charset="-122"/>
                <a:cs typeface="Consolas" pitchFamily="34" charset="-120"/>
              </a:rPr>
              <a:t>build_prompt(message, sources)</a:t>
            </a:r>
            <a:endParaRPr lang="en-US" sz="1250" dirty="0"/>
          </a:p>
        </p:txBody>
      </p:sp>
      <p:sp>
        <p:nvSpPr>
          <p:cNvPr id="14" name="Text 11"/>
          <p:cNvSpPr/>
          <p:nvPr/>
        </p:nvSpPr>
        <p:spPr>
          <a:xfrm>
            <a:off x="530352" y="2322576"/>
            <a:ext cx="8138160" cy="219456"/>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Assembles: system instruction + user question + source excerpts from Weaviate objects</a:t>
            </a:r>
            <a:endParaRPr lang="en-US" sz="1200" dirty="0"/>
          </a:p>
        </p:txBody>
      </p:sp>
      <p:sp>
        <p:nvSpPr>
          <p:cNvPr id="15" name="Shape 12"/>
          <p:cNvSpPr/>
          <p:nvPr/>
        </p:nvSpPr>
        <p:spPr>
          <a:xfrm>
            <a:off x="365760" y="2706624"/>
            <a:ext cx="8412480" cy="594360"/>
          </a:xfrm>
          <a:prstGeom prst="rect">
            <a:avLst/>
          </a:prstGeom>
          <a:solidFill>
            <a:srgbClr val="192C20"/>
          </a:solidFill>
          <a:ln/>
          <a:effectLst>
            <a:outerShdw sx="100000" sy="100000" kx="0" ky="0" algn="bl" rotWithShape="0" blurRad="38100" dist="12700" dir="16200000">
              <a:srgbClr val="000000">
                <a:alpha val="20000"/>
              </a:srgbClr>
            </a:outerShdw>
          </a:effectLst>
        </p:spPr>
      </p:sp>
      <p:sp>
        <p:nvSpPr>
          <p:cNvPr id="16" name="Shape 13"/>
          <p:cNvSpPr/>
          <p:nvPr/>
        </p:nvSpPr>
        <p:spPr>
          <a:xfrm>
            <a:off x="365760" y="2706624"/>
            <a:ext cx="73152" cy="594360"/>
          </a:xfrm>
          <a:prstGeom prst="rect">
            <a:avLst/>
          </a:prstGeom>
          <a:solidFill>
            <a:srgbClr val="00C4B4"/>
          </a:solidFill>
          <a:ln/>
        </p:spPr>
      </p:sp>
      <p:sp>
        <p:nvSpPr>
          <p:cNvPr id="17" name="Text 14"/>
          <p:cNvSpPr/>
          <p:nvPr/>
        </p:nvSpPr>
        <p:spPr>
          <a:xfrm>
            <a:off x="530352" y="2761488"/>
            <a:ext cx="8138160" cy="237744"/>
          </a:xfrm>
          <a:prstGeom prst="rect">
            <a:avLst/>
          </a:prstGeom>
          <a:noFill/>
          <a:ln/>
        </p:spPr>
        <p:txBody>
          <a:bodyPr wrap="square" rtlCol="0" anchor="ctr"/>
          <a:lstStyle/>
          <a:p>
            <a:pPr indent="0" marL="0">
              <a:buNone/>
            </a:pPr>
            <a:r>
              <a:rPr lang="en-US" sz="1250" b="1" dirty="0">
                <a:solidFill>
                  <a:srgbClr val="00C4B4"/>
                </a:solidFill>
                <a:latin typeface="Consolas" pitchFamily="34" charset="0"/>
                <a:ea typeface="Consolas" pitchFamily="34" charset="-122"/>
                <a:cs typeface="Consolas" pitchFamily="34" charset="-120"/>
              </a:rPr>
              <a:t>ollama_generate(prompt)</a:t>
            </a:r>
            <a:endParaRPr lang="en-US" sz="1250" dirty="0"/>
          </a:p>
        </p:txBody>
      </p:sp>
      <p:sp>
        <p:nvSpPr>
          <p:cNvPr id="18" name="Text 15"/>
          <p:cNvSpPr/>
          <p:nvPr/>
        </p:nvSpPr>
        <p:spPr>
          <a:xfrm>
            <a:off x="530352" y="3026664"/>
            <a:ext cx="8138160" cy="219456"/>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Sends constructed prompt to Ollama — same as Qdrant lab, generation is identical</a:t>
            </a:r>
            <a:endParaRPr lang="en-US" sz="1200" dirty="0"/>
          </a:p>
        </p:txBody>
      </p:sp>
      <p:sp>
        <p:nvSpPr>
          <p:cNvPr id="19" name="Shape 16"/>
          <p:cNvSpPr/>
          <p:nvPr/>
        </p:nvSpPr>
        <p:spPr>
          <a:xfrm>
            <a:off x="365760" y="3410712"/>
            <a:ext cx="8412480" cy="594360"/>
          </a:xfrm>
          <a:prstGeom prst="rect">
            <a:avLst/>
          </a:prstGeom>
          <a:solidFill>
            <a:srgbClr val="192C20"/>
          </a:solidFill>
          <a:ln/>
          <a:effectLst>
            <a:outerShdw sx="100000" sy="100000" kx="0" ky="0" algn="bl" rotWithShape="0" blurRad="38100" dist="12700" dir="16200000">
              <a:srgbClr val="000000">
                <a:alpha val="20000"/>
              </a:srgbClr>
            </a:outerShdw>
          </a:effectLst>
        </p:spPr>
      </p:sp>
      <p:sp>
        <p:nvSpPr>
          <p:cNvPr id="20" name="Shape 17"/>
          <p:cNvSpPr/>
          <p:nvPr/>
        </p:nvSpPr>
        <p:spPr>
          <a:xfrm>
            <a:off x="365760" y="3410712"/>
            <a:ext cx="73152" cy="594360"/>
          </a:xfrm>
          <a:prstGeom prst="rect">
            <a:avLst/>
          </a:prstGeom>
          <a:solidFill>
            <a:srgbClr val="F4A261"/>
          </a:solidFill>
          <a:ln/>
        </p:spPr>
      </p:sp>
      <p:sp>
        <p:nvSpPr>
          <p:cNvPr id="21" name="Text 18"/>
          <p:cNvSpPr/>
          <p:nvPr/>
        </p:nvSpPr>
        <p:spPr>
          <a:xfrm>
            <a:off x="530352" y="3465576"/>
            <a:ext cx="8138160" cy="237744"/>
          </a:xfrm>
          <a:prstGeom prst="rect">
            <a:avLst/>
          </a:prstGeom>
          <a:noFill/>
          <a:ln/>
        </p:spPr>
        <p:txBody>
          <a:bodyPr wrap="square" rtlCol="0" anchor="ctr"/>
          <a:lstStyle/>
          <a:p>
            <a:pPr indent="0" marL="0">
              <a:buNone/>
            </a:pPr>
            <a:r>
              <a:rPr lang="en-US" sz="1250" b="1" dirty="0">
                <a:solidFill>
                  <a:srgbClr val="F4A261"/>
                </a:solidFill>
                <a:latin typeface="Consolas" pitchFamily="34" charset="0"/>
                <a:ea typeface="Consolas" pitchFamily="34" charset="-122"/>
                <a:cs typeface="Consolas" pitchFamily="34" charset="-120"/>
              </a:rPr>
              <a:t>require_api_key(request)</a:t>
            </a:r>
            <a:endParaRPr lang="en-US" sz="1250" dirty="0"/>
          </a:p>
        </p:txBody>
      </p:sp>
      <p:sp>
        <p:nvSpPr>
          <p:cNvPr id="22" name="Text 19"/>
          <p:cNvSpPr/>
          <p:nvPr/>
        </p:nvSpPr>
        <p:spPr>
          <a:xfrm>
            <a:off x="530352" y="3730752"/>
            <a:ext cx="8138160" cy="219456"/>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Second auth layer — checks X-API-Key inside FastAPI even after NGINX already validated</a:t>
            </a:r>
            <a:endParaRPr lang="en-US" sz="1200" dirty="0"/>
          </a:p>
        </p:txBody>
      </p:sp>
      <p:sp>
        <p:nvSpPr>
          <p:cNvPr id="23" name="Shape 20"/>
          <p:cNvSpPr/>
          <p:nvPr/>
        </p:nvSpPr>
        <p:spPr>
          <a:xfrm>
            <a:off x="365760" y="4114800"/>
            <a:ext cx="8412480" cy="594360"/>
          </a:xfrm>
          <a:prstGeom prst="rect">
            <a:avLst/>
          </a:prstGeom>
          <a:solidFill>
            <a:srgbClr val="192C20"/>
          </a:solidFill>
          <a:ln/>
          <a:effectLst>
            <a:outerShdw sx="100000" sy="100000" kx="0" ky="0" algn="bl" rotWithShape="0" blurRad="38100" dist="12700" dir="16200000">
              <a:srgbClr val="000000">
                <a:alpha val="20000"/>
              </a:srgbClr>
            </a:outerShdw>
          </a:effectLst>
        </p:spPr>
      </p:sp>
      <p:sp>
        <p:nvSpPr>
          <p:cNvPr id="24" name="Shape 21"/>
          <p:cNvSpPr/>
          <p:nvPr/>
        </p:nvSpPr>
        <p:spPr>
          <a:xfrm>
            <a:off x="365760" y="4114800"/>
            <a:ext cx="73152" cy="594360"/>
          </a:xfrm>
          <a:prstGeom prst="rect">
            <a:avLst/>
          </a:prstGeom>
          <a:solidFill>
            <a:srgbClr val="7B2FBE"/>
          </a:solidFill>
          <a:ln/>
        </p:spPr>
      </p:sp>
      <p:sp>
        <p:nvSpPr>
          <p:cNvPr id="25" name="Text 22"/>
          <p:cNvSpPr/>
          <p:nvPr/>
        </p:nvSpPr>
        <p:spPr>
          <a:xfrm>
            <a:off x="530352" y="4169664"/>
            <a:ext cx="8138160" cy="237744"/>
          </a:xfrm>
          <a:prstGeom prst="rect">
            <a:avLst/>
          </a:prstGeom>
          <a:noFill/>
          <a:ln/>
        </p:spPr>
        <p:txBody>
          <a:bodyPr wrap="square" rtlCol="0" anchor="ctr"/>
          <a:lstStyle/>
          <a:p>
            <a:pPr indent="0" marL="0">
              <a:buNone/>
            </a:pPr>
            <a:r>
              <a:rPr lang="en-US" sz="1250" b="1" dirty="0">
                <a:solidFill>
                  <a:srgbClr val="7B2FBE"/>
                </a:solidFill>
                <a:latin typeface="Consolas" pitchFamily="34" charset="0"/>
                <a:ea typeface="Consolas" pitchFamily="34" charset="-122"/>
                <a:cs typeface="Consolas" pitchFamily="34" charset="-120"/>
              </a:rPr>
              <a:t>ensure_schema()</a:t>
            </a:r>
            <a:endParaRPr lang="en-US" sz="1250" dirty="0"/>
          </a:p>
        </p:txBody>
      </p:sp>
      <p:sp>
        <p:nvSpPr>
          <p:cNvPr id="26" name="Text 23"/>
          <p:cNvSpPr/>
          <p:nvPr/>
        </p:nvSpPr>
        <p:spPr>
          <a:xfrm>
            <a:off x="530352" y="4434840"/>
            <a:ext cx="8138160" cy="219456"/>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Weaviate-specific: creates LabDoc class if it doesn't exist before ingest. No equivalent in Qdrant.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Container Deep Dive — Ollama, NGINX, and Gradio</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Shape 3"/>
          <p:cNvSpPr/>
          <p:nvPr/>
        </p:nvSpPr>
        <p:spPr>
          <a:xfrm>
            <a:off x="320040" y="868680"/>
            <a:ext cx="8503920" cy="347472"/>
          </a:xfrm>
          <a:prstGeom prst="rect">
            <a:avLst/>
          </a:prstGeom>
          <a:solidFill>
            <a:srgbClr val="00C4B4"/>
          </a:solidFill>
          <a:ln/>
        </p:spPr>
      </p:sp>
      <p:sp>
        <p:nvSpPr>
          <p:cNvPr id="7" name="Text 4"/>
          <p:cNvSpPr/>
          <p:nvPr/>
        </p:nvSpPr>
        <p:spPr>
          <a:xfrm>
            <a:off x="457200" y="868680"/>
            <a:ext cx="8229600"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These three services are IDENTICAL to Lab 1 (Qdrant) — no changes needed</a:t>
            </a:r>
            <a:endParaRPr lang="en-US" sz="1300" dirty="0"/>
          </a:p>
        </p:txBody>
      </p:sp>
      <p:sp>
        <p:nvSpPr>
          <p:cNvPr id="8" name="Shape 5"/>
          <p:cNvSpPr/>
          <p:nvPr/>
        </p:nvSpPr>
        <p:spPr>
          <a:xfrm>
            <a:off x="320040" y="1298448"/>
            <a:ext cx="2651760" cy="3246120"/>
          </a:xfrm>
          <a:prstGeom prst="rect">
            <a:avLst/>
          </a:prstGeom>
          <a:solidFill>
            <a:srgbClr val="0D1B2A"/>
          </a:solidFill>
          <a:ln/>
          <a:effectLst>
            <a:outerShdw sx="100000" sy="100000" kx="0" ky="0" algn="bl" rotWithShape="0" blurRad="63500" dist="25400" dir="16200000">
              <a:srgbClr val="000000">
                <a:alpha val="10000"/>
              </a:srgbClr>
            </a:outerShdw>
          </a:effectLst>
        </p:spPr>
      </p:sp>
      <p:sp>
        <p:nvSpPr>
          <p:cNvPr id="9" name="Text 6"/>
          <p:cNvSpPr/>
          <p:nvPr/>
        </p:nvSpPr>
        <p:spPr>
          <a:xfrm>
            <a:off x="457200" y="1417320"/>
            <a:ext cx="237744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Ollama</a:t>
            </a:r>
            <a:endParaRPr lang="en-US" sz="1400" dirty="0"/>
          </a:p>
        </p:txBody>
      </p:sp>
      <p:sp>
        <p:nvSpPr>
          <p:cNvPr id="10" name="Text 7"/>
          <p:cNvSpPr/>
          <p:nvPr/>
        </p:nvSpPr>
        <p:spPr>
          <a:xfrm>
            <a:off x="457200" y="1783080"/>
            <a:ext cx="237744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Port 11434 (internal)</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Runs llama3.2:1b or 3b</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Generation only — no DB access</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Pull once with ./bin/pull_model.sh</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8GB mem_limit in compose</a:t>
            </a:r>
            <a:endParaRPr lang="en-US" sz="1200" dirty="0"/>
          </a:p>
        </p:txBody>
      </p:sp>
      <p:sp>
        <p:nvSpPr>
          <p:cNvPr id="11" name="Shape 8"/>
          <p:cNvSpPr/>
          <p:nvPr/>
        </p:nvSpPr>
        <p:spPr>
          <a:xfrm>
            <a:off x="3246120" y="1298448"/>
            <a:ext cx="2651760" cy="3246120"/>
          </a:xfrm>
          <a:prstGeom prst="rect">
            <a:avLst/>
          </a:prstGeom>
          <a:solidFill>
            <a:srgbClr val="0D1B2A"/>
          </a:solidFill>
          <a:ln/>
          <a:effectLst>
            <a:outerShdw sx="100000" sy="100000" kx="0" ky="0" algn="bl" rotWithShape="0" blurRad="63500" dist="25400" dir="16200000">
              <a:srgbClr val="000000">
                <a:alpha val="10000"/>
              </a:srgbClr>
            </a:outerShdw>
          </a:effectLst>
        </p:spPr>
      </p:sp>
      <p:sp>
        <p:nvSpPr>
          <p:cNvPr id="12" name="Text 9"/>
          <p:cNvSpPr/>
          <p:nvPr/>
        </p:nvSpPr>
        <p:spPr>
          <a:xfrm>
            <a:off x="3383280" y="1417320"/>
            <a:ext cx="237744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NGINX</a:t>
            </a:r>
            <a:endParaRPr lang="en-US" sz="1400" dirty="0"/>
          </a:p>
        </p:txBody>
      </p:sp>
      <p:sp>
        <p:nvSpPr>
          <p:cNvPr id="13" name="Text 10"/>
          <p:cNvSpPr/>
          <p:nvPr/>
        </p:nvSpPr>
        <p:spPr>
          <a:xfrm>
            <a:off x="3383280" y="1783080"/>
            <a:ext cx="237744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Port 8088 (exposed)</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Enforces X-API-Key</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401 = missing key</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403 = wrong key</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Config in nginx/templates/</a:t>
            </a:r>
            <a:endParaRPr lang="en-US" sz="1200" dirty="0"/>
          </a:p>
        </p:txBody>
      </p:sp>
      <p:sp>
        <p:nvSpPr>
          <p:cNvPr id="14" name="Shape 11"/>
          <p:cNvSpPr/>
          <p:nvPr/>
        </p:nvSpPr>
        <p:spPr>
          <a:xfrm>
            <a:off x="6172200" y="1298448"/>
            <a:ext cx="2651760" cy="3246120"/>
          </a:xfrm>
          <a:prstGeom prst="rect">
            <a:avLst/>
          </a:prstGeom>
          <a:solidFill>
            <a:srgbClr val="0D1B2A"/>
          </a:solidFill>
          <a:ln/>
          <a:effectLst>
            <a:outerShdw sx="100000" sy="100000" kx="0" ky="0" algn="bl" rotWithShape="0" blurRad="63500" dist="25400" dir="16200000">
              <a:srgbClr val="000000">
                <a:alpha val="10000"/>
              </a:srgbClr>
            </a:outerShdw>
          </a:effectLst>
        </p:spPr>
      </p:sp>
      <p:sp>
        <p:nvSpPr>
          <p:cNvPr id="15" name="Text 12"/>
          <p:cNvSpPr/>
          <p:nvPr/>
        </p:nvSpPr>
        <p:spPr>
          <a:xfrm>
            <a:off x="6309360" y="1417320"/>
            <a:ext cx="237744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Gradio</a:t>
            </a:r>
            <a:endParaRPr lang="en-US" sz="1400" dirty="0"/>
          </a:p>
        </p:txBody>
      </p:sp>
      <p:sp>
        <p:nvSpPr>
          <p:cNvPr id="16" name="Text 13"/>
          <p:cNvSpPr/>
          <p:nvPr/>
        </p:nvSpPr>
        <p:spPr>
          <a:xfrm>
            <a:off x="6309360" y="1783080"/>
            <a:ext cx="237744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Port 7860 (exposed)</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Chat tab + Security Memory tab</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Calls NGINX, not API directly</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Shows sources + distance scores</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Follow-up suggestion buttons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Docker Networking &amp; Volumes</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dirty="0">
                <a:solidFill>
                  <a:srgbClr val="D8ECEC"/>
                </a:solidFill>
                <a:latin typeface="Calibri" pitchFamily="34" charset="0"/>
                <a:ea typeface="Calibri" pitchFamily="34" charset="-122"/>
                <a:cs typeface="Calibri" pitchFamily="34" charset="-120"/>
              </a:rPr>
              <a:t>Internal Docker network service names:</a:t>
            </a:r>
            <a:endParaRPr lang="en-US" sz="1400" dirty="0"/>
          </a:p>
        </p:txBody>
      </p:sp>
      <p:sp>
        <p:nvSpPr>
          <p:cNvPr id="7" name="Shape 4"/>
          <p:cNvSpPr/>
          <p:nvPr/>
        </p:nvSpPr>
        <p:spPr>
          <a:xfrm>
            <a:off x="365760" y="1298448"/>
            <a:ext cx="8412480" cy="384048"/>
          </a:xfrm>
          <a:prstGeom prst="rect">
            <a:avLst/>
          </a:prstGeom>
          <a:solidFill>
            <a:srgbClr val="192C20"/>
          </a:solidFill>
          <a:ln/>
          <a:effectLst>
            <a:outerShdw sx="100000" sy="100000" kx="0" ky="0" algn="bl" rotWithShape="0" blurRad="38100" dist="12700" dir="16200000">
              <a:srgbClr val="000000">
                <a:alpha val="8000"/>
              </a:srgbClr>
            </a:outerShdw>
          </a:effectLst>
        </p:spPr>
      </p:sp>
      <p:sp>
        <p:nvSpPr>
          <p:cNvPr id="8" name="Text 5"/>
          <p:cNvSpPr/>
          <p:nvPr/>
        </p:nvSpPr>
        <p:spPr>
          <a:xfrm>
            <a:off x="566928" y="1298448"/>
            <a:ext cx="8229600" cy="384048"/>
          </a:xfrm>
          <a:prstGeom prst="rect">
            <a:avLst/>
          </a:prstGeom>
          <a:noFill/>
          <a:ln/>
        </p:spPr>
        <p:txBody>
          <a:bodyPr wrap="square" rtlCol="0" anchor="ctr"/>
          <a:lstStyle/>
          <a:p>
            <a:pPr indent="0" marL="0">
              <a:buNone/>
            </a:pPr>
            <a:r>
              <a:rPr lang="en-US" sz="1300" dirty="0">
                <a:solidFill>
                  <a:srgbClr val="00C4B4"/>
                </a:solidFill>
                <a:latin typeface="Consolas" pitchFamily="34" charset="0"/>
                <a:ea typeface="Consolas" pitchFamily="34" charset="-122"/>
                <a:cs typeface="Consolas" pitchFamily="34" charset="-120"/>
              </a:rPr>
              <a:t>API calls Weaviate at → http://weaviate:8080</a:t>
            </a:r>
            <a:endParaRPr lang="en-US" sz="1300" dirty="0"/>
          </a:p>
        </p:txBody>
      </p:sp>
      <p:sp>
        <p:nvSpPr>
          <p:cNvPr id="9" name="Shape 6"/>
          <p:cNvSpPr/>
          <p:nvPr/>
        </p:nvSpPr>
        <p:spPr>
          <a:xfrm>
            <a:off x="365760" y="1801368"/>
            <a:ext cx="8412480" cy="384048"/>
          </a:xfrm>
          <a:prstGeom prst="rect">
            <a:avLst/>
          </a:prstGeom>
          <a:solidFill>
            <a:srgbClr val="192C20"/>
          </a:solidFill>
          <a:ln/>
          <a:effectLst>
            <a:outerShdw sx="100000" sy="100000" kx="0" ky="0" algn="bl" rotWithShape="0" blurRad="38100" dist="12700" dir="16200000">
              <a:srgbClr val="000000">
                <a:alpha val="8000"/>
              </a:srgbClr>
            </a:outerShdw>
          </a:effectLst>
        </p:spPr>
      </p:sp>
      <p:sp>
        <p:nvSpPr>
          <p:cNvPr id="10" name="Text 7"/>
          <p:cNvSpPr/>
          <p:nvPr/>
        </p:nvSpPr>
        <p:spPr>
          <a:xfrm>
            <a:off x="566928" y="1801368"/>
            <a:ext cx="8229600" cy="384048"/>
          </a:xfrm>
          <a:prstGeom prst="rect">
            <a:avLst/>
          </a:prstGeom>
          <a:noFill/>
          <a:ln/>
        </p:spPr>
        <p:txBody>
          <a:bodyPr wrap="square" rtlCol="0" anchor="ctr"/>
          <a:lstStyle/>
          <a:p>
            <a:pPr indent="0" marL="0">
              <a:buNone/>
            </a:pPr>
            <a:r>
              <a:rPr lang="en-US" sz="1300" dirty="0">
                <a:solidFill>
                  <a:srgbClr val="00C4B4"/>
                </a:solidFill>
                <a:latin typeface="Consolas" pitchFamily="34" charset="0"/>
                <a:ea typeface="Consolas" pitchFamily="34" charset="-122"/>
                <a:cs typeface="Consolas" pitchFamily="34" charset="-120"/>
              </a:rPr>
              <a:t>Weaviate calls embeddings at → http://text2vec-transformers:8080</a:t>
            </a:r>
            <a:endParaRPr lang="en-US" sz="1300" dirty="0"/>
          </a:p>
        </p:txBody>
      </p:sp>
      <p:sp>
        <p:nvSpPr>
          <p:cNvPr id="11" name="Shape 8"/>
          <p:cNvSpPr/>
          <p:nvPr/>
        </p:nvSpPr>
        <p:spPr>
          <a:xfrm>
            <a:off x="365760" y="2304288"/>
            <a:ext cx="8412480" cy="384048"/>
          </a:xfrm>
          <a:prstGeom prst="rect">
            <a:avLst/>
          </a:prstGeom>
          <a:solidFill>
            <a:srgbClr val="192C20"/>
          </a:solidFill>
          <a:ln/>
          <a:effectLst>
            <a:outerShdw sx="100000" sy="100000" kx="0" ky="0" algn="bl" rotWithShape="0" blurRad="38100" dist="12700" dir="16200000">
              <a:srgbClr val="000000">
                <a:alpha val="8000"/>
              </a:srgbClr>
            </a:outerShdw>
          </a:effectLst>
        </p:spPr>
      </p:sp>
      <p:sp>
        <p:nvSpPr>
          <p:cNvPr id="12" name="Text 9"/>
          <p:cNvSpPr/>
          <p:nvPr/>
        </p:nvSpPr>
        <p:spPr>
          <a:xfrm>
            <a:off x="566928" y="2304288"/>
            <a:ext cx="8229600" cy="384048"/>
          </a:xfrm>
          <a:prstGeom prst="rect">
            <a:avLst/>
          </a:prstGeom>
          <a:noFill/>
          <a:ln/>
        </p:spPr>
        <p:txBody>
          <a:bodyPr wrap="square" rtlCol="0" anchor="ctr"/>
          <a:lstStyle/>
          <a:p>
            <a:pPr indent="0" marL="0">
              <a:buNone/>
            </a:pPr>
            <a:r>
              <a:rPr lang="en-US" sz="1300" dirty="0">
                <a:solidFill>
                  <a:srgbClr val="00C4B4"/>
                </a:solidFill>
                <a:latin typeface="Consolas" pitchFamily="34" charset="0"/>
                <a:ea typeface="Consolas" pitchFamily="34" charset="-122"/>
                <a:cs typeface="Consolas" pitchFamily="34" charset="-120"/>
              </a:rPr>
              <a:t>API calls Ollama at → http://ollama:11434</a:t>
            </a:r>
            <a:endParaRPr lang="en-US" sz="1300" dirty="0"/>
          </a:p>
        </p:txBody>
      </p:sp>
      <p:sp>
        <p:nvSpPr>
          <p:cNvPr id="13" name="Shape 10"/>
          <p:cNvSpPr/>
          <p:nvPr/>
        </p:nvSpPr>
        <p:spPr>
          <a:xfrm>
            <a:off x="365760" y="2807208"/>
            <a:ext cx="8412480" cy="384048"/>
          </a:xfrm>
          <a:prstGeom prst="rect">
            <a:avLst/>
          </a:prstGeom>
          <a:solidFill>
            <a:srgbClr val="192C20"/>
          </a:solidFill>
          <a:ln/>
          <a:effectLst>
            <a:outerShdw sx="100000" sy="100000" kx="0" ky="0" algn="bl" rotWithShape="0" blurRad="38100" dist="12700" dir="16200000">
              <a:srgbClr val="000000">
                <a:alpha val="8000"/>
              </a:srgbClr>
            </a:outerShdw>
          </a:effectLst>
        </p:spPr>
      </p:sp>
      <p:sp>
        <p:nvSpPr>
          <p:cNvPr id="14" name="Text 11"/>
          <p:cNvSpPr/>
          <p:nvPr/>
        </p:nvSpPr>
        <p:spPr>
          <a:xfrm>
            <a:off x="566928" y="2807208"/>
            <a:ext cx="8229600" cy="384048"/>
          </a:xfrm>
          <a:prstGeom prst="rect">
            <a:avLst/>
          </a:prstGeom>
          <a:noFill/>
          <a:ln/>
        </p:spPr>
        <p:txBody>
          <a:bodyPr wrap="square" rtlCol="0" anchor="ctr"/>
          <a:lstStyle/>
          <a:p>
            <a:pPr indent="0" marL="0">
              <a:buNone/>
            </a:pPr>
            <a:r>
              <a:rPr lang="en-US" sz="1300" dirty="0">
                <a:solidFill>
                  <a:srgbClr val="00C4B4"/>
                </a:solidFill>
                <a:latin typeface="Consolas" pitchFamily="34" charset="0"/>
                <a:ea typeface="Consolas" pitchFamily="34" charset="-122"/>
                <a:cs typeface="Consolas" pitchFamily="34" charset="-120"/>
              </a:rPr>
              <a:t>Gradio calls NGINX at → http://nginx:8088</a:t>
            </a:r>
            <a:endParaRPr lang="en-US" sz="1300" dirty="0"/>
          </a:p>
        </p:txBody>
      </p:sp>
      <p:sp>
        <p:nvSpPr>
          <p:cNvPr id="15" name="Text 12"/>
          <p:cNvSpPr/>
          <p:nvPr/>
        </p:nvSpPr>
        <p:spPr>
          <a:xfrm>
            <a:off x="365760" y="3401568"/>
            <a:ext cx="8412480" cy="347472"/>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Docker Volumes — What Persists:</a:t>
            </a:r>
            <a:endParaRPr lang="en-US" sz="1400" dirty="0"/>
          </a:p>
        </p:txBody>
      </p:sp>
      <p:sp>
        <p:nvSpPr>
          <p:cNvPr id="16" name="Text 13"/>
          <p:cNvSpPr/>
          <p:nvPr/>
        </p:nvSpPr>
        <p:spPr>
          <a:xfrm>
            <a:off x="365760" y="3794760"/>
            <a:ext cx="8412480" cy="1005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weaviate_data — Weaviate objects, vectors, and class schema (survives restarts and rebuilds)</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ollama_data — downloaded models (pull once, keep forever until reset)</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docker compose down does NOT delete volumes — use ./bin/reset_all.sh for full wipe</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If you change the class schema you must wipe weaviate_data and reingest — schema is immutable after creation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The Security Model — What's Exposed vs Internal</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Only 2 ports are exposed to your machine:</a:t>
            </a:r>
            <a:endParaRPr lang="en-US" sz="1400" dirty="0"/>
          </a:p>
        </p:txBody>
      </p:sp>
      <p:sp>
        <p:nvSpPr>
          <p:cNvPr id="7" name="Shape 4"/>
          <p:cNvSpPr/>
          <p:nvPr/>
        </p:nvSpPr>
        <p:spPr>
          <a:xfrm>
            <a:off x="320040" y="1261872"/>
            <a:ext cx="4069080" cy="804672"/>
          </a:xfrm>
          <a:prstGeom prst="rect">
            <a:avLst/>
          </a:prstGeom>
          <a:solidFill>
            <a:srgbClr val="2A1505"/>
          </a:solidFill>
          <a:ln/>
          <a:effectLst>
            <a:outerShdw sx="100000" sy="100000" kx="0" ky="0" algn="bl" rotWithShape="0" blurRad="50800" dist="25400" dir="16200000">
              <a:srgbClr val="000000">
                <a:alpha val="15000"/>
              </a:srgbClr>
            </a:outerShdw>
          </a:effectLst>
        </p:spPr>
      </p:sp>
      <p:sp>
        <p:nvSpPr>
          <p:cNvPr id="8" name="Shape 5"/>
          <p:cNvSpPr/>
          <p:nvPr/>
        </p:nvSpPr>
        <p:spPr>
          <a:xfrm>
            <a:off x="320040" y="1261872"/>
            <a:ext cx="73152" cy="804672"/>
          </a:xfrm>
          <a:prstGeom prst="rect">
            <a:avLst/>
          </a:prstGeom>
          <a:solidFill>
            <a:srgbClr val="F4A261"/>
          </a:solidFill>
          <a:ln/>
        </p:spPr>
      </p:sp>
      <p:sp>
        <p:nvSpPr>
          <p:cNvPr id="9" name="Text 6"/>
          <p:cNvSpPr/>
          <p:nvPr/>
        </p:nvSpPr>
        <p:spPr>
          <a:xfrm>
            <a:off x="484632" y="1335024"/>
            <a:ext cx="3794760" cy="274320"/>
          </a:xfrm>
          <a:prstGeom prst="rect">
            <a:avLst/>
          </a:prstGeom>
          <a:noFill/>
          <a:ln/>
        </p:spPr>
        <p:txBody>
          <a:bodyPr wrap="square"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localhost:8088 — NGINX</a:t>
            </a:r>
            <a:endParaRPr lang="en-US" sz="1300" dirty="0"/>
          </a:p>
        </p:txBody>
      </p:sp>
      <p:sp>
        <p:nvSpPr>
          <p:cNvPr id="10" name="Text 7"/>
          <p:cNvSpPr/>
          <p:nvPr/>
        </p:nvSpPr>
        <p:spPr>
          <a:xfrm>
            <a:off x="484632" y="1627632"/>
            <a:ext cx="3794760" cy="274320"/>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API entry point — key enforced here</a:t>
            </a:r>
            <a:endParaRPr lang="en-US" sz="1150" dirty="0"/>
          </a:p>
        </p:txBody>
      </p:sp>
      <p:sp>
        <p:nvSpPr>
          <p:cNvPr id="11" name="Shape 8"/>
          <p:cNvSpPr/>
          <p:nvPr/>
        </p:nvSpPr>
        <p:spPr>
          <a:xfrm>
            <a:off x="4617720" y="1261872"/>
            <a:ext cx="4069080" cy="804672"/>
          </a:xfrm>
          <a:prstGeom prst="rect">
            <a:avLst/>
          </a:prstGeom>
          <a:solidFill>
            <a:srgbClr val="2A1505"/>
          </a:solidFill>
          <a:ln/>
          <a:effectLst>
            <a:outerShdw sx="100000" sy="100000" kx="0" ky="0" algn="bl" rotWithShape="0" blurRad="50800" dist="25400" dir="16200000">
              <a:srgbClr val="000000">
                <a:alpha val="15000"/>
              </a:srgbClr>
            </a:outerShdw>
          </a:effectLst>
        </p:spPr>
      </p:sp>
      <p:sp>
        <p:nvSpPr>
          <p:cNvPr id="12" name="Shape 9"/>
          <p:cNvSpPr/>
          <p:nvPr/>
        </p:nvSpPr>
        <p:spPr>
          <a:xfrm>
            <a:off x="4617720" y="1261872"/>
            <a:ext cx="73152" cy="804672"/>
          </a:xfrm>
          <a:prstGeom prst="rect">
            <a:avLst/>
          </a:prstGeom>
          <a:solidFill>
            <a:srgbClr val="F4A261"/>
          </a:solidFill>
          <a:ln/>
        </p:spPr>
      </p:sp>
      <p:sp>
        <p:nvSpPr>
          <p:cNvPr id="13" name="Text 10"/>
          <p:cNvSpPr/>
          <p:nvPr/>
        </p:nvSpPr>
        <p:spPr>
          <a:xfrm>
            <a:off x="4782312" y="1335024"/>
            <a:ext cx="3794760" cy="274320"/>
          </a:xfrm>
          <a:prstGeom prst="rect">
            <a:avLst/>
          </a:prstGeom>
          <a:noFill/>
          <a:ln/>
        </p:spPr>
        <p:txBody>
          <a:bodyPr wrap="square"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localhost:7860 — Gradio</a:t>
            </a:r>
            <a:endParaRPr lang="en-US" sz="1300" dirty="0"/>
          </a:p>
        </p:txBody>
      </p:sp>
      <p:sp>
        <p:nvSpPr>
          <p:cNvPr id="14" name="Text 11"/>
          <p:cNvSpPr/>
          <p:nvPr/>
        </p:nvSpPr>
        <p:spPr>
          <a:xfrm>
            <a:off x="4782312" y="1627632"/>
            <a:ext cx="3794760" cy="274320"/>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Browser UI — calls NGINX, not API directly</a:t>
            </a:r>
            <a:endParaRPr lang="en-US" sz="1150" dirty="0"/>
          </a:p>
        </p:txBody>
      </p:sp>
      <p:sp>
        <p:nvSpPr>
          <p:cNvPr id="15" name="Text 12"/>
          <p:cNvSpPr/>
          <p:nvPr/>
        </p:nvSpPr>
        <p:spPr>
          <a:xfrm>
            <a:off x="320040" y="219456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Everything else is internal-only:</a:t>
            </a:r>
            <a:endParaRPr lang="en-US" sz="1400" dirty="0"/>
          </a:p>
        </p:txBody>
      </p:sp>
      <p:sp>
        <p:nvSpPr>
          <p:cNvPr id="16" name="Text 13"/>
          <p:cNvSpPr/>
          <p:nvPr/>
        </p:nvSpPr>
        <p:spPr>
          <a:xfrm>
            <a:off x="320040" y="2578608"/>
            <a:ext cx="850392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Weaviate (weaviate:8080) — class data and vectors must not be directly exposed</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text2vec-transformers (text2vec-transformers:8080) — embedding model service, internal only</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FastAPI (ingestion-api:8000) — RAG orchestrator, only reachable via NGINX</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Ollama (ollama:11434) — LLM runtime, internal only</a:t>
            </a:r>
            <a:endParaRPr lang="en-US" sz="1300" dirty="0"/>
          </a:p>
        </p:txBody>
      </p:sp>
      <p:sp>
        <p:nvSpPr>
          <p:cNvPr id="17" name="Text 14"/>
          <p:cNvSpPr/>
          <p:nvPr/>
        </p:nvSpPr>
        <p:spPr>
          <a:xfrm>
            <a:off x="320040" y="3913632"/>
            <a:ext cx="8503920" cy="457200"/>
          </a:xfrm>
          <a:prstGeom prst="rect">
            <a:avLst/>
          </a:prstGeom>
          <a:noFill/>
          <a:ln/>
        </p:spPr>
        <p:txBody>
          <a:bodyPr wrap="square" rtlCol="0" anchor="ctr"/>
          <a:lstStyle/>
          <a:p>
            <a:pPr indent="0" marL="0">
              <a:buNone/>
            </a:pPr>
            <a:r>
              <a:rPr lang="en-US" sz="1200" i="1" dirty="0">
                <a:solidFill>
                  <a:srgbClr val="008B80"/>
                </a:solidFill>
                <a:latin typeface="Calibri" pitchFamily="34" charset="0"/>
                <a:ea typeface="Calibri" pitchFamily="34" charset="-122"/>
                <a:cs typeface="Calibri" pitchFamily="34" charset="-120"/>
              </a:rPr>
              <a:t>Security controls: network segmentation · API key (2 layers) · schema validation · bounded LLM prompting · container resource limits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Weaviate vs Qdrant — Key Differences</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dirty="0">
                <a:solidFill>
                  <a:srgbClr val="D8ECEC"/>
                </a:solidFill>
                <a:latin typeface="Calibri" pitchFamily="34" charset="0"/>
                <a:ea typeface="Calibri" pitchFamily="34" charset="-122"/>
                <a:cs typeface="Calibri" pitchFamily="34" charset="-120"/>
              </a:rPr>
              <a:t>Same architecture pattern — different database behavior:</a:t>
            </a:r>
            <a:endParaRPr lang="en-US" sz="1400" dirty="0"/>
          </a:p>
        </p:txBody>
      </p:sp>
      <p:sp>
        <p:nvSpPr>
          <p:cNvPr id="7" name="Shape 4"/>
          <p:cNvSpPr/>
          <p:nvPr/>
        </p:nvSpPr>
        <p:spPr>
          <a:xfrm>
            <a:off x="365760" y="1298448"/>
            <a:ext cx="8412480" cy="347472"/>
          </a:xfrm>
          <a:prstGeom prst="rect">
            <a:avLst/>
          </a:prstGeom>
          <a:solidFill>
            <a:srgbClr val="00C4B4"/>
          </a:solidFill>
          <a:ln/>
        </p:spPr>
      </p:sp>
      <p:sp>
        <p:nvSpPr>
          <p:cNvPr id="8" name="Text 5"/>
          <p:cNvSpPr/>
          <p:nvPr/>
        </p:nvSpPr>
        <p:spPr>
          <a:xfrm>
            <a:off x="502920" y="1298448"/>
            <a:ext cx="2103120" cy="34747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Aspect</a:t>
            </a:r>
            <a:endParaRPr lang="en-US" sz="1200" dirty="0"/>
          </a:p>
        </p:txBody>
      </p:sp>
      <p:sp>
        <p:nvSpPr>
          <p:cNvPr id="9" name="Text 6"/>
          <p:cNvSpPr/>
          <p:nvPr/>
        </p:nvSpPr>
        <p:spPr>
          <a:xfrm>
            <a:off x="2697480" y="1298448"/>
            <a:ext cx="2834640" cy="34747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Qdrant (Lab 1)</a:t>
            </a:r>
            <a:endParaRPr lang="en-US" sz="1200" dirty="0"/>
          </a:p>
        </p:txBody>
      </p:sp>
      <p:sp>
        <p:nvSpPr>
          <p:cNvPr id="10" name="Text 7"/>
          <p:cNvSpPr/>
          <p:nvPr/>
        </p:nvSpPr>
        <p:spPr>
          <a:xfrm>
            <a:off x="5623560" y="1298448"/>
            <a:ext cx="2926080" cy="34747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Weaviate (Lab 2)</a:t>
            </a:r>
            <a:endParaRPr lang="en-US" sz="1200" dirty="0"/>
          </a:p>
        </p:txBody>
      </p:sp>
      <p:sp>
        <p:nvSpPr>
          <p:cNvPr id="11" name="Shape 8"/>
          <p:cNvSpPr/>
          <p:nvPr/>
        </p:nvSpPr>
        <p:spPr>
          <a:xfrm>
            <a:off x="365760" y="1691640"/>
            <a:ext cx="8412480" cy="438912"/>
          </a:xfrm>
          <a:prstGeom prst="rect">
            <a:avLst/>
          </a:prstGeom>
          <a:solidFill>
            <a:srgbClr val="192C20"/>
          </a:solidFill>
          <a:ln/>
        </p:spPr>
      </p:sp>
      <p:sp>
        <p:nvSpPr>
          <p:cNvPr id="12" name="Text 9"/>
          <p:cNvSpPr/>
          <p:nvPr/>
        </p:nvSpPr>
        <p:spPr>
          <a:xfrm>
            <a:off x="502920" y="1691640"/>
            <a:ext cx="2103120" cy="438912"/>
          </a:xfrm>
          <a:prstGeom prst="rect">
            <a:avLst/>
          </a:prstGeom>
          <a:noFill/>
          <a:ln/>
        </p:spPr>
        <p:txBody>
          <a:bodyPr wrap="square" rtlCol="0" anchor="ctr"/>
          <a:lstStyle/>
          <a:p>
            <a:pPr indent="0" marL="0">
              <a:buNone/>
            </a:pPr>
            <a:r>
              <a:rPr lang="en-US" sz="1200" b="1" dirty="0">
                <a:solidFill>
                  <a:srgbClr val="00C4B4"/>
                </a:solidFill>
                <a:latin typeface="Calibri" pitchFamily="34" charset="0"/>
                <a:ea typeface="Calibri" pitchFamily="34" charset="-122"/>
                <a:cs typeface="Calibri" pitchFamily="34" charset="-120"/>
              </a:rPr>
              <a:t>Data structure</a:t>
            </a:r>
            <a:endParaRPr lang="en-US" sz="1200" dirty="0"/>
          </a:p>
        </p:txBody>
      </p:sp>
      <p:sp>
        <p:nvSpPr>
          <p:cNvPr id="13" name="Text 10"/>
          <p:cNvSpPr/>
          <p:nvPr/>
        </p:nvSpPr>
        <p:spPr>
          <a:xfrm>
            <a:off x="2697480" y="1691640"/>
            <a:ext cx="2834640" cy="43891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Points with vector + payload</a:t>
            </a:r>
            <a:endParaRPr lang="en-US" sz="1150" dirty="0"/>
          </a:p>
        </p:txBody>
      </p:sp>
      <p:sp>
        <p:nvSpPr>
          <p:cNvPr id="14" name="Text 11"/>
          <p:cNvSpPr/>
          <p:nvPr/>
        </p:nvSpPr>
        <p:spPr>
          <a:xfrm>
            <a:off x="5623560" y="1691640"/>
            <a:ext cx="2926080" cy="43891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Objects inside a class (typed)</a:t>
            </a:r>
            <a:endParaRPr lang="en-US" sz="1150" dirty="0"/>
          </a:p>
        </p:txBody>
      </p:sp>
      <p:sp>
        <p:nvSpPr>
          <p:cNvPr id="15" name="Shape 12"/>
          <p:cNvSpPr/>
          <p:nvPr/>
        </p:nvSpPr>
        <p:spPr>
          <a:xfrm>
            <a:off x="365760" y="2194560"/>
            <a:ext cx="8412480" cy="438912"/>
          </a:xfrm>
          <a:prstGeom prst="rect">
            <a:avLst/>
          </a:prstGeom>
          <a:solidFill>
            <a:srgbClr val="122410"/>
          </a:solidFill>
          <a:ln/>
        </p:spPr>
      </p:sp>
      <p:sp>
        <p:nvSpPr>
          <p:cNvPr id="16" name="Text 13"/>
          <p:cNvSpPr/>
          <p:nvPr/>
        </p:nvSpPr>
        <p:spPr>
          <a:xfrm>
            <a:off x="502920" y="2194560"/>
            <a:ext cx="2103120" cy="438912"/>
          </a:xfrm>
          <a:prstGeom prst="rect">
            <a:avLst/>
          </a:prstGeom>
          <a:noFill/>
          <a:ln/>
        </p:spPr>
        <p:txBody>
          <a:bodyPr wrap="square" rtlCol="0" anchor="ctr"/>
          <a:lstStyle/>
          <a:p>
            <a:pPr indent="0" marL="0">
              <a:buNone/>
            </a:pPr>
            <a:r>
              <a:rPr lang="en-US" sz="1200" b="1" dirty="0">
                <a:solidFill>
                  <a:srgbClr val="00C4B4"/>
                </a:solidFill>
                <a:latin typeface="Calibri" pitchFamily="34" charset="0"/>
                <a:ea typeface="Calibri" pitchFamily="34" charset="-122"/>
                <a:cs typeface="Calibri" pitchFamily="34" charset="-120"/>
              </a:rPr>
              <a:t>Schema</a:t>
            </a:r>
            <a:endParaRPr lang="en-US" sz="1200" dirty="0"/>
          </a:p>
        </p:txBody>
      </p:sp>
      <p:sp>
        <p:nvSpPr>
          <p:cNvPr id="17" name="Text 14"/>
          <p:cNvSpPr/>
          <p:nvPr/>
        </p:nvSpPr>
        <p:spPr>
          <a:xfrm>
            <a:off x="2697480" y="2194560"/>
            <a:ext cx="2834640" cy="43891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Flexible — no schema required</a:t>
            </a:r>
            <a:endParaRPr lang="en-US" sz="1150" dirty="0"/>
          </a:p>
        </p:txBody>
      </p:sp>
      <p:sp>
        <p:nvSpPr>
          <p:cNvPr id="18" name="Text 15"/>
          <p:cNvSpPr/>
          <p:nvPr/>
        </p:nvSpPr>
        <p:spPr>
          <a:xfrm>
            <a:off x="5623560" y="2194560"/>
            <a:ext cx="2926080" cy="43891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Required upfront — cannot change after creation</a:t>
            </a:r>
            <a:endParaRPr lang="en-US" sz="1150" dirty="0"/>
          </a:p>
        </p:txBody>
      </p:sp>
      <p:sp>
        <p:nvSpPr>
          <p:cNvPr id="19" name="Shape 16"/>
          <p:cNvSpPr/>
          <p:nvPr/>
        </p:nvSpPr>
        <p:spPr>
          <a:xfrm>
            <a:off x="365760" y="2697480"/>
            <a:ext cx="8412480" cy="438912"/>
          </a:xfrm>
          <a:prstGeom prst="rect">
            <a:avLst/>
          </a:prstGeom>
          <a:solidFill>
            <a:srgbClr val="192C20"/>
          </a:solidFill>
          <a:ln/>
        </p:spPr>
      </p:sp>
      <p:sp>
        <p:nvSpPr>
          <p:cNvPr id="20" name="Text 17"/>
          <p:cNvSpPr/>
          <p:nvPr/>
        </p:nvSpPr>
        <p:spPr>
          <a:xfrm>
            <a:off x="502920" y="2697480"/>
            <a:ext cx="2103120" cy="438912"/>
          </a:xfrm>
          <a:prstGeom prst="rect">
            <a:avLst/>
          </a:prstGeom>
          <a:noFill/>
          <a:ln/>
        </p:spPr>
        <p:txBody>
          <a:bodyPr wrap="square" rtlCol="0" anchor="ctr"/>
          <a:lstStyle/>
          <a:p>
            <a:pPr indent="0" marL="0">
              <a:buNone/>
            </a:pPr>
            <a:r>
              <a:rPr lang="en-US" sz="1200" b="1" dirty="0">
                <a:solidFill>
                  <a:srgbClr val="00C4B4"/>
                </a:solidFill>
                <a:latin typeface="Calibri" pitchFamily="34" charset="0"/>
                <a:ea typeface="Calibri" pitchFamily="34" charset="-122"/>
                <a:cs typeface="Calibri" pitchFamily="34" charset="-120"/>
              </a:rPr>
              <a:t>Embeddings</a:t>
            </a:r>
            <a:endParaRPr lang="en-US" sz="1200" dirty="0"/>
          </a:p>
        </p:txBody>
      </p:sp>
      <p:sp>
        <p:nvSpPr>
          <p:cNvPr id="21" name="Text 18"/>
          <p:cNvSpPr/>
          <p:nvPr/>
        </p:nvSpPr>
        <p:spPr>
          <a:xfrm>
            <a:off x="2697480" y="2697480"/>
            <a:ext cx="2834640" cy="43891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API generates manually via text2vec</a:t>
            </a:r>
            <a:endParaRPr lang="en-US" sz="1150" dirty="0"/>
          </a:p>
        </p:txBody>
      </p:sp>
      <p:sp>
        <p:nvSpPr>
          <p:cNvPr id="22" name="Text 19"/>
          <p:cNvSpPr/>
          <p:nvPr/>
        </p:nvSpPr>
        <p:spPr>
          <a:xfrm>
            <a:off x="5623560" y="2697480"/>
            <a:ext cx="2926080" cy="43891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Auto-generated by Weaviate on insert/query</a:t>
            </a:r>
            <a:endParaRPr lang="en-US" sz="1150" dirty="0"/>
          </a:p>
        </p:txBody>
      </p:sp>
      <p:sp>
        <p:nvSpPr>
          <p:cNvPr id="23" name="Shape 20"/>
          <p:cNvSpPr/>
          <p:nvPr/>
        </p:nvSpPr>
        <p:spPr>
          <a:xfrm>
            <a:off x="365760" y="3200400"/>
            <a:ext cx="8412480" cy="438912"/>
          </a:xfrm>
          <a:prstGeom prst="rect">
            <a:avLst/>
          </a:prstGeom>
          <a:solidFill>
            <a:srgbClr val="122410"/>
          </a:solidFill>
          <a:ln/>
        </p:spPr>
      </p:sp>
      <p:sp>
        <p:nvSpPr>
          <p:cNvPr id="24" name="Text 21"/>
          <p:cNvSpPr/>
          <p:nvPr/>
        </p:nvSpPr>
        <p:spPr>
          <a:xfrm>
            <a:off x="502920" y="3200400"/>
            <a:ext cx="2103120" cy="438912"/>
          </a:xfrm>
          <a:prstGeom prst="rect">
            <a:avLst/>
          </a:prstGeom>
          <a:noFill/>
          <a:ln/>
        </p:spPr>
        <p:txBody>
          <a:bodyPr wrap="square" rtlCol="0" anchor="ctr"/>
          <a:lstStyle/>
          <a:p>
            <a:pPr indent="0" marL="0">
              <a:buNone/>
            </a:pPr>
            <a:r>
              <a:rPr lang="en-US" sz="1200" b="1" dirty="0">
                <a:solidFill>
                  <a:srgbClr val="00C4B4"/>
                </a:solidFill>
                <a:latin typeface="Calibri" pitchFamily="34" charset="0"/>
                <a:ea typeface="Calibri" pitchFamily="34" charset="-122"/>
                <a:cs typeface="Calibri" pitchFamily="34" charset="-120"/>
              </a:rPr>
              <a:t>Query syntax</a:t>
            </a:r>
            <a:endParaRPr lang="en-US" sz="1200" dirty="0"/>
          </a:p>
        </p:txBody>
      </p:sp>
      <p:sp>
        <p:nvSpPr>
          <p:cNvPr id="25" name="Text 22"/>
          <p:cNvSpPr/>
          <p:nvPr/>
        </p:nvSpPr>
        <p:spPr>
          <a:xfrm>
            <a:off x="2697480" y="3200400"/>
            <a:ext cx="2834640" cy="43891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REST API with filter objects</a:t>
            </a:r>
            <a:endParaRPr lang="en-US" sz="1150" dirty="0"/>
          </a:p>
        </p:txBody>
      </p:sp>
      <p:sp>
        <p:nvSpPr>
          <p:cNvPr id="26" name="Text 23"/>
          <p:cNvSpPr/>
          <p:nvPr/>
        </p:nvSpPr>
        <p:spPr>
          <a:xfrm>
            <a:off x="5623560" y="3200400"/>
            <a:ext cx="2926080" cy="43891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GraphQL nearText queries</a:t>
            </a:r>
            <a:endParaRPr lang="en-US" sz="1150" dirty="0"/>
          </a:p>
        </p:txBody>
      </p:sp>
      <p:sp>
        <p:nvSpPr>
          <p:cNvPr id="27" name="Shape 24"/>
          <p:cNvSpPr/>
          <p:nvPr/>
        </p:nvSpPr>
        <p:spPr>
          <a:xfrm>
            <a:off x="365760" y="3703320"/>
            <a:ext cx="8412480" cy="438912"/>
          </a:xfrm>
          <a:prstGeom prst="rect">
            <a:avLst/>
          </a:prstGeom>
          <a:solidFill>
            <a:srgbClr val="192C20"/>
          </a:solidFill>
          <a:ln/>
        </p:spPr>
      </p:sp>
      <p:sp>
        <p:nvSpPr>
          <p:cNvPr id="28" name="Text 25"/>
          <p:cNvSpPr/>
          <p:nvPr/>
        </p:nvSpPr>
        <p:spPr>
          <a:xfrm>
            <a:off x="502920" y="3703320"/>
            <a:ext cx="2103120" cy="438912"/>
          </a:xfrm>
          <a:prstGeom prst="rect">
            <a:avLst/>
          </a:prstGeom>
          <a:noFill/>
          <a:ln/>
        </p:spPr>
        <p:txBody>
          <a:bodyPr wrap="square" rtlCol="0" anchor="ctr"/>
          <a:lstStyle/>
          <a:p>
            <a:pPr indent="0" marL="0">
              <a:buNone/>
            </a:pPr>
            <a:r>
              <a:rPr lang="en-US" sz="1200" b="1" dirty="0">
                <a:solidFill>
                  <a:srgbClr val="00C4B4"/>
                </a:solidFill>
                <a:latin typeface="Calibri" pitchFamily="34" charset="0"/>
                <a:ea typeface="Calibri" pitchFamily="34" charset="-122"/>
                <a:cs typeface="Calibri" pitchFamily="34" charset="-120"/>
              </a:rPr>
              <a:t>Score type</a:t>
            </a:r>
            <a:endParaRPr lang="en-US" sz="1200" dirty="0"/>
          </a:p>
        </p:txBody>
      </p:sp>
      <p:sp>
        <p:nvSpPr>
          <p:cNvPr id="29" name="Text 26"/>
          <p:cNvSpPr/>
          <p:nvPr/>
        </p:nvSpPr>
        <p:spPr>
          <a:xfrm>
            <a:off x="2697480" y="3703320"/>
            <a:ext cx="2834640" cy="43891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Similarity (0-1, HIGHER = better)</a:t>
            </a:r>
            <a:endParaRPr lang="en-US" sz="1150" dirty="0"/>
          </a:p>
        </p:txBody>
      </p:sp>
      <p:sp>
        <p:nvSpPr>
          <p:cNvPr id="30" name="Text 27"/>
          <p:cNvSpPr/>
          <p:nvPr/>
        </p:nvSpPr>
        <p:spPr>
          <a:xfrm>
            <a:off x="5623560" y="3703320"/>
            <a:ext cx="2926080" cy="43891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Distance (0-2, LOWER = better)</a:t>
            </a:r>
            <a:endParaRPr lang="en-US" sz="1150" dirty="0"/>
          </a:p>
        </p:txBody>
      </p:sp>
      <p:sp>
        <p:nvSpPr>
          <p:cNvPr id="31" name="Shape 28"/>
          <p:cNvSpPr/>
          <p:nvPr/>
        </p:nvSpPr>
        <p:spPr>
          <a:xfrm>
            <a:off x="365760" y="4206240"/>
            <a:ext cx="8412480" cy="438912"/>
          </a:xfrm>
          <a:prstGeom prst="rect">
            <a:avLst/>
          </a:prstGeom>
          <a:solidFill>
            <a:srgbClr val="122410"/>
          </a:solidFill>
          <a:ln/>
        </p:spPr>
      </p:sp>
      <p:sp>
        <p:nvSpPr>
          <p:cNvPr id="32" name="Text 29"/>
          <p:cNvSpPr/>
          <p:nvPr/>
        </p:nvSpPr>
        <p:spPr>
          <a:xfrm>
            <a:off x="502920" y="4206240"/>
            <a:ext cx="2103120" cy="438912"/>
          </a:xfrm>
          <a:prstGeom prst="rect">
            <a:avLst/>
          </a:prstGeom>
          <a:noFill/>
          <a:ln/>
        </p:spPr>
        <p:txBody>
          <a:bodyPr wrap="square" rtlCol="0" anchor="ctr"/>
          <a:lstStyle/>
          <a:p>
            <a:pPr indent="0" marL="0">
              <a:buNone/>
            </a:pPr>
            <a:r>
              <a:rPr lang="en-US" sz="1200" b="1" dirty="0">
                <a:solidFill>
                  <a:srgbClr val="00C4B4"/>
                </a:solidFill>
                <a:latin typeface="Calibri" pitchFamily="34" charset="0"/>
                <a:ea typeface="Calibri" pitchFamily="34" charset="-122"/>
                <a:cs typeface="Calibri" pitchFamily="34" charset="-120"/>
              </a:rPr>
              <a:t>Verification</a:t>
            </a:r>
            <a:endParaRPr lang="en-US" sz="1200" dirty="0"/>
          </a:p>
        </p:txBody>
      </p:sp>
      <p:sp>
        <p:nvSpPr>
          <p:cNvPr id="33" name="Text 30"/>
          <p:cNvSpPr/>
          <p:nvPr/>
        </p:nvSpPr>
        <p:spPr>
          <a:xfrm>
            <a:off x="2697480" y="4206240"/>
            <a:ext cx="2834640" cy="43891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Dashboard at localhost:6333/dashboard</a:t>
            </a:r>
            <a:endParaRPr lang="en-US" sz="1150" dirty="0"/>
          </a:p>
        </p:txBody>
      </p:sp>
      <p:sp>
        <p:nvSpPr>
          <p:cNvPr id="34" name="Text 31"/>
          <p:cNvSpPr/>
          <p:nvPr/>
        </p:nvSpPr>
        <p:spPr>
          <a:xfrm>
            <a:off x="5623560" y="4206240"/>
            <a:ext cx="2926080" cy="43891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GraphQL query or REST /v1/objects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GitHub Repo Structure — Root Level</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Root level files and folders:</a:t>
            </a:r>
            <a:endParaRPr lang="en-US" sz="1400" dirty="0"/>
          </a:p>
        </p:txBody>
      </p:sp>
      <p:sp>
        <p:nvSpPr>
          <p:cNvPr id="7" name="Shape 4"/>
          <p:cNvSpPr/>
          <p:nvPr/>
        </p:nvSpPr>
        <p:spPr>
          <a:xfrm>
            <a:off x="320040" y="1234440"/>
            <a:ext cx="8503920" cy="512064"/>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8" name="Shape 5"/>
          <p:cNvSpPr/>
          <p:nvPr/>
        </p:nvSpPr>
        <p:spPr>
          <a:xfrm>
            <a:off x="320040" y="1234440"/>
            <a:ext cx="73152" cy="512064"/>
          </a:xfrm>
          <a:prstGeom prst="rect">
            <a:avLst/>
          </a:prstGeom>
          <a:solidFill>
            <a:srgbClr val="00C4B4"/>
          </a:solidFill>
          <a:ln/>
        </p:spPr>
      </p:sp>
      <p:sp>
        <p:nvSpPr>
          <p:cNvPr id="9" name="Text 6"/>
          <p:cNvSpPr/>
          <p:nvPr/>
        </p:nvSpPr>
        <p:spPr>
          <a:xfrm>
            <a:off x="475488" y="1271016"/>
            <a:ext cx="2103120" cy="237744"/>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docker-compose.yml</a:t>
            </a:r>
            <a:endParaRPr lang="en-US" sz="1300" dirty="0"/>
          </a:p>
        </p:txBody>
      </p:sp>
      <p:sp>
        <p:nvSpPr>
          <p:cNvPr id="10" name="Text 7"/>
          <p:cNvSpPr/>
          <p:nvPr/>
        </p:nvSpPr>
        <p:spPr>
          <a:xfrm>
            <a:off x="2651760" y="1289304"/>
            <a:ext cx="6035040" cy="38404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Defines all 6 services. Note: TRANSFORMERS_INFERENCE_API wires Weaviate to text2vec-transformers automatically.</a:t>
            </a:r>
            <a:endParaRPr lang="en-US" sz="1200" dirty="0"/>
          </a:p>
        </p:txBody>
      </p:sp>
      <p:sp>
        <p:nvSpPr>
          <p:cNvPr id="11" name="Shape 8"/>
          <p:cNvSpPr/>
          <p:nvPr/>
        </p:nvSpPr>
        <p:spPr>
          <a:xfrm>
            <a:off x="320040" y="1856232"/>
            <a:ext cx="8503920" cy="512064"/>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12" name="Shape 9"/>
          <p:cNvSpPr/>
          <p:nvPr/>
        </p:nvSpPr>
        <p:spPr>
          <a:xfrm>
            <a:off x="320040" y="1856232"/>
            <a:ext cx="73152" cy="512064"/>
          </a:xfrm>
          <a:prstGeom prst="rect">
            <a:avLst/>
          </a:prstGeom>
          <a:solidFill>
            <a:srgbClr val="F4A261"/>
          </a:solidFill>
          <a:ln/>
        </p:spPr>
      </p:sp>
      <p:sp>
        <p:nvSpPr>
          <p:cNvPr id="13" name="Text 10"/>
          <p:cNvSpPr/>
          <p:nvPr/>
        </p:nvSpPr>
        <p:spPr>
          <a:xfrm>
            <a:off x="475488" y="1892808"/>
            <a:ext cx="2103120" cy="237744"/>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.env.example</a:t>
            </a:r>
            <a:endParaRPr lang="en-US" sz="1300" dirty="0"/>
          </a:p>
        </p:txBody>
      </p:sp>
      <p:sp>
        <p:nvSpPr>
          <p:cNvPr id="14" name="Text 11"/>
          <p:cNvSpPr/>
          <p:nvPr/>
        </p:nvSpPr>
        <p:spPr>
          <a:xfrm>
            <a:off x="2651760" y="1911096"/>
            <a:ext cx="6035040" cy="38404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Template for your .env file. Set EDGE_API_KEY before starting. Never commit .env to GitHub.</a:t>
            </a:r>
            <a:endParaRPr lang="en-US" sz="1200" dirty="0"/>
          </a:p>
        </p:txBody>
      </p:sp>
      <p:sp>
        <p:nvSpPr>
          <p:cNvPr id="15" name="Shape 12"/>
          <p:cNvSpPr/>
          <p:nvPr/>
        </p:nvSpPr>
        <p:spPr>
          <a:xfrm>
            <a:off x="320040" y="2478024"/>
            <a:ext cx="8503920" cy="512064"/>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16" name="Shape 13"/>
          <p:cNvSpPr/>
          <p:nvPr/>
        </p:nvSpPr>
        <p:spPr>
          <a:xfrm>
            <a:off x="320040" y="2478024"/>
            <a:ext cx="73152" cy="512064"/>
          </a:xfrm>
          <a:prstGeom prst="rect">
            <a:avLst/>
          </a:prstGeom>
          <a:solidFill>
            <a:srgbClr val="008B80"/>
          </a:solidFill>
          <a:ln/>
        </p:spPr>
      </p:sp>
      <p:sp>
        <p:nvSpPr>
          <p:cNvPr id="17" name="Text 14"/>
          <p:cNvSpPr/>
          <p:nvPr/>
        </p:nvSpPr>
        <p:spPr>
          <a:xfrm>
            <a:off x="475488" y="2514600"/>
            <a:ext cx="2103120" cy="237744"/>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bin/</a:t>
            </a:r>
            <a:endParaRPr lang="en-US" sz="1300" dirty="0"/>
          </a:p>
        </p:txBody>
      </p:sp>
      <p:sp>
        <p:nvSpPr>
          <p:cNvPr id="18" name="Text 15"/>
          <p:cNvSpPr/>
          <p:nvPr/>
        </p:nvSpPr>
        <p:spPr>
          <a:xfrm>
            <a:off x="2651760" y="2532888"/>
            <a:ext cx="6035040" cy="38404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Helper scripts: status.sh, ingest_sample.sh, pull_model.sh, smoke_test.sh, reset_all.sh, logs.sh</a:t>
            </a:r>
            <a:endParaRPr lang="en-US" sz="1200" dirty="0"/>
          </a:p>
        </p:txBody>
      </p:sp>
      <p:sp>
        <p:nvSpPr>
          <p:cNvPr id="19" name="Shape 16"/>
          <p:cNvSpPr/>
          <p:nvPr/>
        </p:nvSpPr>
        <p:spPr>
          <a:xfrm>
            <a:off x="320040" y="3099816"/>
            <a:ext cx="8503920" cy="512064"/>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20" name="Shape 17"/>
          <p:cNvSpPr/>
          <p:nvPr/>
        </p:nvSpPr>
        <p:spPr>
          <a:xfrm>
            <a:off x="320040" y="3099816"/>
            <a:ext cx="73152" cy="512064"/>
          </a:xfrm>
          <a:prstGeom prst="rect">
            <a:avLst/>
          </a:prstGeom>
          <a:solidFill>
            <a:srgbClr val="008B80"/>
          </a:solidFill>
          <a:ln/>
        </p:spPr>
      </p:sp>
      <p:sp>
        <p:nvSpPr>
          <p:cNvPr id="21" name="Text 18"/>
          <p:cNvSpPr/>
          <p:nvPr/>
        </p:nvSpPr>
        <p:spPr>
          <a:xfrm>
            <a:off x="475488" y="3136392"/>
            <a:ext cx="2103120" cy="237744"/>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data/</a:t>
            </a:r>
            <a:endParaRPr lang="en-US" sz="1300" dirty="0"/>
          </a:p>
        </p:txBody>
      </p:sp>
      <p:sp>
        <p:nvSpPr>
          <p:cNvPr id="22" name="Text 19"/>
          <p:cNvSpPr/>
          <p:nvPr/>
        </p:nvSpPr>
        <p:spPr>
          <a:xfrm>
            <a:off x="2651760" y="3154680"/>
            <a:ext cx="6035040" cy="38404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The cybersecurity dataset (sample_articles.jsonl) for the main RAG chatbot.</a:t>
            </a:r>
            <a:endParaRPr lang="en-US" sz="1200" dirty="0"/>
          </a:p>
        </p:txBody>
      </p:sp>
      <p:sp>
        <p:nvSpPr>
          <p:cNvPr id="23" name="Shape 20"/>
          <p:cNvSpPr/>
          <p:nvPr/>
        </p:nvSpPr>
        <p:spPr>
          <a:xfrm>
            <a:off x="320040" y="3721608"/>
            <a:ext cx="8503920" cy="512064"/>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24" name="Shape 21"/>
          <p:cNvSpPr/>
          <p:nvPr/>
        </p:nvSpPr>
        <p:spPr>
          <a:xfrm>
            <a:off x="320040" y="3721608"/>
            <a:ext cx="73152" cy="512064"/>
          </a:xfrm>
          <a:prstGeom prst="rect">
            <a:avLst/>
          </a:prstGeom>
          <a:solidFill>
            <a:srgbClr val="00C4B4"/>
          </a:solidFill>
          <a:ln/>
        </p:spPr>
      </p:sp>
      <p:sp>
        <p:nvSpPr>
          <p:cNvPr id="25" name="Text 22"/>
          <p:cNvSpPr/>
          <p:nvPr/>
        </p:nvSpPr>
        <p:spPr>
          <a:xfrm>
            <a:off x="475488" y="3758184"/>
            <a:ext cx="2103120" cy="237744"/>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nginx/</a:t>
            </a:r>
            <a:endParaRPr lang="en-US" sz="1300" dirty="0"/>
          </a:p>
        </p:txBody>
      </p:sp>
      <p:sp>
        <p:nvSpPr>
          <p:cNvPr id="26" name="Text 23"/>
          <p:cNvSpPr/>
          <p:nvPr/>
        </p:nvSpPr>
        <p:spPr>
          <a:xfrm>
            <a:off x="2651760" y="3776472"/>
            <a:ext cx="6035040" cy="38404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NGINX configuration template. EDGE_API_KEY is injected from .env at startup.</a:t>
            </a:r>
            <a:endParaRPr lang="en-US" sz="1200" dirty="0"/>
          </a:p>
        </p:txBody>
      </p:sp>
      <p:sp>
        <p:nvSpPr>
          <p:cNvPr id="27" name="Shape 24"/>
          <p:cNvSpPr/>
          <p:nvPr/>
        </p:nvSpPr>
        <p:spPr>
          <a:xfrm>
            <a:off x="320040" y="4343400"/>
            <a:ext cx="8503920" cy="512064"/>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28" name="Shape 25"/>
          <p:cNvSpPr/>
          <p:nvPr/>
        </p:nvSpPr>
        <p:spPr>
          <a:xfrm>
            <a:off x="320040" y="4343400"/>
            <a:ext cx="73152" cy="512064"/>
          </a:xfrm>
          <a:prstGeom prst="rect">
            <a:avLst/>
          </a:prstGeom>
          <a:solidFill>
            <a:srgbClr val="7B2FBE"/>
          </a:solidFill>
          <a:ln/>
        </p:spPr>
      </p:sp>
      <p:sp>
        <p:nvSpPr>
          <p:cNvPr id="29" name="Text 26"/>
          <p:cNvSpPr/>
          <p:nvPr/>
        </p:nvSpPr>
        <p:spPr>
          <a:xfrm>
            <a:off x="475488" y="4379976"/>
            <a:ext cx="2103120" cy="237744"/>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patches/</a:t>
            </a:r>
            <a:endParaRPr lang="en-US" sz="1300" dirty="0"/>
          </a:p>
        </p:txBody>
      </p:sp>
      <p:sp>
        <p:nvSpPr>
          <p:cNvPr id="30" name="Text 27"/>
          <p:cNvSpPr/>
          <p:nvPr/>
        </p:nvSpPr>
        <p:spPr>
          <a:xfrm>
            <a:off x="2651760" y="4398264"/>
            <a:ext cx="6035040" cy="38404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 Weaviate-specific: security_memory module applied via docker cp. Copy to container after build.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GitHub Repo Structure — Service Folders &amp; Patches Workflow</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Shape 3"/>
          <p:cNvSpPr/>
          <p:nvPr/>
        </p:nvSpPr>
        <p:spPr>
          <a:xfrm>
            <a:off x="320040" y="868680"/>
            <a:ext cx="8503920" cy="73152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7" name="Shape 4"/>
          <p:cNvSpPr/>
          <p:nvPr/>
        </p:nvSpPr>
        <p:spPr>
          <a:xfrm>
            <a:off x="320040" y="868680"/>
            <a:ext cx="73152" cy="731520"/>
          </a:xfrm>
          <a:prstGeom prst="rect">
            <a:avLst/>
          </a:prstGeom>
          <a:solidFill>
            <a:srgbClr val="00C4B4"/>
          </a:solidFill>
          <a:ln/>
        </p:spPr>
      </p:sp>
      <p:sp>
        <p:nvSpPr>
          <p:cNvPr id="8" name="Text 5"/>
          <p:cNvSpPr/>
          <p:nvPr/>
        </p:nvSpPr>
        <p:spPr>
          <a:xfrm>
            <a:off x="475488" y="932688"/>
            <a:ext cx="3474720" cy="256032"/>
          </a:xfrm>
          <a:prstGeom prst="rect">
            <a:avLst/>
          </a:prstGeom>
          <a:noFill/>
          <a:ln/>
        </p:spPr>
        <p:txBody>
          <a:bodyPr wrap="square" rtlCol="0" anchor="ctr"/>
          <a:lstStyle/>
          <a:p>
            <a:pPr indent="0" marL="0">
              <a:buNone/>
            </a:pPr>
            <a:r>
              <a:rPr lang="en-US" sz="1250" b="1" dirty="0">
                <a:solidFill>
                  <a:srgbClr val="0D1B2A"/>
                </a:solidFill>
                <a:latin typeface="Consolas" pitchFamily="34" charset="0"/>
                <a:ea typeface="Consolas" pitchFamily="34" charset="-122"/>
                <a:cs typeface="Consolas" pitchFamily="34" charset="-120"/>
              </a:rPr>
              <a:t>ingestion-api/</a:t>
            </a:r>
            <a:endParaRPr lang="en-US" sz="1250" dirty="0"/>
          </a:p>
        </p:txBody>
      </p:sp>
      <p:sp>
        <p:nvSpPr>
          <p:cNvPr id="9" name="Text 6"/>
          <p:cNvSpPr/>
          <p:nvPr/>
        </p:nvSpPr>
        <p:spPr>
          <a:xfrm>
            <a:off x="475488" y="1216152"/>
            <a:ext cx="8229600" cy="329184"/>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FastAPI app. app/main.py is the entry point. app/weaviate_client.py handles Weaviate GraphQL. security_memory/ is NOT here by default — it comes from patches/.</a:t>
            </a:r>
            <a:endParaRPr lang="en-US" sz="1200" dirty="0"/>
          </a:p>
        </p:txBody>
      </p:sp>
      <p:sp>
        <p:nvSpPr>
          <p:cNvPr id="10" name="Shape 7"/>
          <p:cNvSpPr/>
          <p:nvPr/>
        </p:nvSpPr>
        <p:spPr>
          <a:xfrm>
            <a:off x="320040" y="1709928"/>
            <a:ext cx="8503920" cy="73152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11" name="Shape 8"/>
          <p:cNvSpPr/>
          <p:nvPr/>
        </p:nvSpPr>
        <p:spPr>
          <a:xfrm>
            <a:off x="320040" y="1709928"/>
            <a:ext cx="73152" cy="731520"/>
          </a:xfrm>
          <a:prstGeom prst="rect">
            <a:avLst/>
          </a:prstGeom>
          <a:solidFill>
            <a:srgbClr val="008B80"/>
          </a:solidFill>
          <a:ln/>
        </p:spPr>
      </p:sp>
      <p:sp>
        <p:nvSpPr>
          <p:cNvPr id="12" name="Text 9"/>
          <p:cNvSpPr/>
          <p:nvPr/>
        </p:nvSpPr>
        <p:spPr>
          <a:xfrm>
            <a:off x="475488" y="1773936"/>
            <a:ext cx="3474720" cy="256032"/>
          </a:xfrm>
          <a:prstGeom prst="rect">
            <a:avLst/>
          </a:prstGeom>
          <a:noFill/>
          <a:ln/>
        </p:spPr>
        <p:txBody>
          <a:bodyPr wrap="square" rtlCol="0" anchor="ctr"/>
          <a:lstStyle/>
          <a:p>
            <a:pPr indent="0" marL="0">
              <a:buNone/>
            </a:pPr>
            <a:r>
              <a:rPr lang="en-US" sz="1250" b="1" dirty="0">
                <a:solidFill>
                  <a:srgbClr val="0D1B2A"/>
                </a:solidFill>
                <a:latin typeface="Consolas" pitchFamily="34" charset="0"/>
                <a:ea typeface="Consolas" pitchFamily="34" charset="-122"/>
                <a:cs typeface="Consolas" pitchFamily="34" charset="-120"/>
              </a:rPr>
              <a:t>gradio-ui/</a:t>
            </a:r>
            <a:endParaRPr lang="en-US" sz="1250" dirty="0"/>
          </a:p>
        </p:txBody>
      </p:sp>
      <p:sp>
        <p:nvSpPr>
          <p:cNvPr id="13" name="Text 10"/>
          <p:cNvSpPr/>
          <p:nvPr/>
        </p:nvSpPr>
        <p:spPr>
          <a:xfrm>
            <a:off x="475488" y="2057400"/>
            <a:ext cx="8229600" cy="329184"/>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Browser UI. After extension lessons it has a Security Memory tab for direct /memory/query access and follow-up suggestion buttons.</a:t>
            </a:r>
            <a:endParaRPr lang="en-US" sz="1200" dirty="0"/>
          </a:p>
        </p:txBody>
      </p:sp>
      <p:sp>
        <p:nvSpPr>
          <p:cNvPr id="14" name="Shape 11"/>
          <p:cNvSpPr/>
          <p:nvPr/>
        </p:nvSpPr>
        <p:spPr>
          <a:xfrm>
            <a:off x="320040" y="2551176"/>
            <a:ext cx="8503920" cy="73152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15" name="Shape 12"/>
          <p:cNvSpPr/>
          <p:nvPr/>
        </p:nvSpPr>
        <p:spPr>
          <a:xfrm>
            <a:off x="320040" y="2551176"/>
            <a:ext cx="73152" cy="731520"/>
          </a:xfrm>
          <a:prstGeom prst="rect">
            <a:avLst/>
          </a:prstGeom>
          <a:solidFill>
            <a:srgbClr val="7B2FBE"/>
          </a:solidFill>
          <a:ln/>
        </p:spPr>
      </p:sp>
      <p:sp>
        <p:nvSpPr>
          <p:cNvPr id="16" name="Text 13"/>
          <p:cNvSpPr/>
          <p:nvPr/>
        </p:nvSpPr>
        <p:spPr>
          <a:xfrm>
            <a:off x="475488" y="2615184"/>
            <a:ext cx="3474720" cy="256032"/>
          </a:xfrm>
          <a:prstGeom prst="rect">
            <a:avLst/>
          </a:prstGeom>
          <a:noFill/>
          <a:ln/>
        </p:spPr>
        <p:txBody>
          <a:bodyPr wrap="square" rtlCol="0" anchor="ctr"/>
          <a:lstStyle/>
          <a:p>
            <a:pPr indent="0" marL="0">
              <a:buNone/>
            </a:pPr>
            <a:r>
              <a:rPr lang="en-US" sz="1250" b="1" dirty="0">
                <a:solidFill>
                  <a:srgbClr val="0D1B2A"/>
                </a:solidFill>
                <a:latin typeface="Consolas" pitchFamily="34" charset="0"/>
                <a:ea typeface="Consolas" pitchFamily="34" charset="-122"/>
                <a:cs typeface="Consolas" pitchFamily="34" charset="-120"/>
              </a:rPr>
              <a:t>patches/ingestion-api/app/security_memory/</a:t>
            </a:r>
            <a:endParaRPr lang="en-US" sz="1250" dirty="0"/>
          </a:p>
        </p:txBody>
      </p:sp>
      <p:sp>
        <p:nvSpPr>
          <p:cNvPr id="17" name="Text 14"/>
          <p:cNvSpPr/>
          <p:nvPr/>
        </p:nvSpPr>
        <p:spPr>
          <a:xfrm>
            <a:off x="475488" y="2898648"/>
            <a:ext cx="8229600" cy="329184"/>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 The security memory module: router.py, schemas.py, store.py, ingest.py. Applied with: docker cp patches/ingestion-api/app/security_memory ingestion-api:/app/app/security_memory</a:t>
            </a:r>
            <a:endParaRPr lang="en-US" sz="1200" dirty="0"/>
          </a:p>
        </p:txBody>
      </p:sp>
      <p:sp>
        <p:nvSpPr>
          <p:cNvPr id="18" name="Shape 15"/>
          <p:cNvSpPr/>
          <p:nvPr/>
        </p:nvSpPr>
        <p:spPr>
          <a:xfrm>
            <a:off x="320040" y="3392424"/>
            <a:ext cx="8503920" cy="73152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19" name="Shape 16"/>
          <p:cNvSpPr/>
          <p:nvPr/>
        </p:nvSpPr>
        <p:spPr>
          <a:xfrm>
            <a:off x="320040" y="3392424"/>
            <a:ext cx="73152" cy="731520"/>
          </a:xfrm>
          <a:prstGeom prst="rect">
            <a:avLst/>
          </a:prstGeom>
          <a:solidFill>
            <a:srgbClr val="F4A261"/>
          </a:solidFill>
          <a:ln/>
        </p:spPr>
      </p:sp>
      <p:sp>
        <p:nvSpPr>
          <p:cNvPr id="20" name="Text 17"/>
          <p:cNvSpPr/>
          <p:nvPr/>
        </p:nvSpPr>
        <p:spPr>
          <a:xfrm>
            <a:off x="475488" y="3456432"/>
            <a:ext cx="3474720" cy="256032"/>
          </a:xfrm>
          <a:prstGeom prst="rect">
            <a:avLst/>
          </a:prstGeom>
          <a:noFill/>
          <a:ln/>
        </p:spPr>
        <p:txBody>
          <a:bodyPr wrap="square" rtlCol="0" anchor="ctr"/>
          <a:lstStyle/>
          <a:p>
            <a:pPr indent="0" marL="0">
              <a:buNone/>
            </a:pPr>
            <a:r>
              <a:rPr lang="en-US" sz="1250" b="1" dirty="0">
                <a:solidFill>
                  <a:srgbClr val="0D1B2A"/>
                </a:solidFill>
                <a:latin typeface="Consolas" pitchFamily="34" charset="0"/>
                <a:ea typeface="Consolas" pitchFamily="34" charset="-122"/>
                <a:cs typeface="Consolas" pitchFamily="34" charset="-120"/>
              </a:rPr>
              <a:t>security-memory/</a:t>
            </a:r>
            <a:endParaRPr lang="en-US" sz="1250" dirty="0"/>
          </a:p>
        </p:txBody>
      </p:sp>
      <p:sp>
        <p:nvSpPr>
          <p:cNvPr id="21" name="Text 18"/>
          <p:cNvSpPr/>
          <p:nvPr/>
        </p:nvSpPr>
        <p:spPr>
          <a:xfrm>
            <a:off x="475488" y="3739896"/>
            <a:ext cx="8229600" cy="329184"/>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Everything for the extension: data/ (NIST/CIS/MITRE/OWASP), prompts/ (5 review templates), docs/, scripts/, mcp/</a:t>
            </a:r>
            <a:endParaRPr lang="en-US" sz="1200" dirty="0"/>
          </a:p>
        </p:txBody>
      </p:sp>
      <p:sp>
        <p:nvSpPr>
          <p:cNvPr id="22" name="Shape 19"/>
          <p:cNvSpPr/>
          <p:nvPr/>
        </p:nvSpPr>
        <p:spPr>
          <a:xfrm>
            <a:off x="320040" y="4233672"/>
            <a:ext cx="8503920" cy="73152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23" name="Shape 20"/>
          <p:cNvSpPr/>
          <p:nvPr/>
        </p:nvSpPr>
        <p:spPr>
          <a:xfrm>
            <a:off x="320040" y="4233672"/>
            <a:ext cx="73152" cy="731520"/>
          </a:xfrm>
          <a:prstGeom prst="rect">
            <a:avLst/>
          </a:prstGeom>
          <a:solidFill>
            <a:srgbClr val="00C4B4"/>
          </a:solidFill>
          <a:ln/>
        </p:spPr>
      </p:sp>
      <p:sp>
        <p:nvSpPr>
          <p:cNvPr id="24" name="Text 21"/>
          <p:cNvSpPr/>
          <p:nvPr/>
        </p:nvSpPr>
        <p:spPr>
          <a:xfrm>
            <a:off x="475488" y="4297680"/>
            <a:ext cx="3474720" cy="256032"/>
          </a:xfrm>
          <a:prstGeom prst="rect">
            <a:avLst/>
          </a:prstGeom>
          <a:noFill/>
          <a:ln/>
        </p:spPr>
        <p:txBody>
          <a:bodyPr wrap="square" rtlCol="0" anchor="ctr"/>
          <a:lstStyle/>
          <a:p>
            <a:pPr indent="0" marL="0">
              <a:buNone/>
            </a:pPr>
            <a:r>
              <a:rPr lang="en-US" sz="1250" b="1" dirty="0">
                <a:solidFill>
                  <a:srgbClr val="0D1B2A"/>
                </a:solidFill>
                <a:latin typeface="Consolas" pitchFamily="34" charset="0"/>
                <a:ea typeface="Consolas" pitchFamily="34" charset="-122"/>
                <a:cs typeface="Consolas" pitchFamily="34" charset="-120"/>
              </a:rPr>
              <a:t>lessons/</a:t>
            </a:r>
            <a:endParaRPr lang="en-US" sz="1250" dirty="0"/>
          </a:p>
        </p:txBody>
      </p:sp>
      <p:sp>
        <p:nvSpPr>
          <p:cNvPr id="25" name="Text 22"/>
          <p:cNvSpPr/>
          <p:nvPr/>
        </p:nvSpPr>
        <p:spPr>
          <a:xfrm>
            <a:off x="475488" y="4581144"/>
            <a:ext cx="8229600" cy="329184"/>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10 core lessons + 04-security-memory/ subfolder with 3 extension lessons. Work through in order.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1 — Lab Overview: What You Are Building</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Learning Objectives:</a:t>
            </a:r>
            <a:endParaRPr lang="en-US" sz="1400" dirty="0"/>
          </a:p>
        </p:txBody>
      </p:sp>
      <p:sp>
        <p:nvSpPr>
          <p:cNvPr id="7" name="Text 4"/>
          <p:cNvSpPr/>
          <p:nvPr/>
        </p:nvSpPr>
        <p:spPr>
          <a:xfrm>
            <a:off x="365760" y="1298448"/>
            <a:ext cx="8412480" cy="10515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Name each service and describe its job in one sentence</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Describe the RAG flow: ingest → auto-embed → store → nearText retrieve → generate → show citations</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Identify what is exposed vs internal — and understand why Weaviate is not exposed directly</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Explain why text2vec-transformers is a separate container and what happens if it goes down</a:t>
            </a:r>
            <a:endParaRPr lang="en-US" sz="1300" dirty="0"/>
          </a:p>
        </p:txBody>
      </p:sp>
      <p:sp>
        <p:nvSpPr>
          <p:cNvPr id="8" name="Text 5"/>
          <p:cNvSpPr/>
          <p:nvPr/>
        </p:nvSpPr>
        <p:spPr>
          <a:xfrm>
            <a:off x="365760" y="246888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Weaviate-specific concepts to understand from day one:</a:t>
            </a:r>
            <a:endParaRPr lang="en-US" sz="1400" dirty="0"/>
          </a:p>
        </p:txBody>
      </p:sp>
      <p:sp>
        <p:nvSpPr>
          <p:cNvPr id="9" name="Shape 6"/>
          <p:cNvSpPr/>
          <p:nvPr/>
        </p:nvSpPr>
        <p:spPr>
          <a:xfrm>
            <a:off x="365760" y="2834640"/>
            <a:ext cx="4114800" cy="621792"/>
          </a:xfrm>
          <a:prstGeom prst="rect">
            <a:avLst/>
          </a:prstGeom>
          <a:solidFill>
            <a:srgbClr val="192C20"/>
          </a:solidFill>
          <a:ln/>
        </p:spPr>
      </p:sp>
      <p:sp>
        <p:nvSpPr>
          <p:cNvPr id="10" name="Text 7"/>
          <p:cNvSpPr/>
          <p:nvPr/>
        </p:nvSpPr>
        <p:spPr>
          <a:xfrm>
            <a:off x="475488" y="2898648"/>
            <a:ext cx="3886200" cy="219456"/>
          </a:xfrm>
          <a:prstGeom prst="rect">
            <a:avLst/>
          </a:prstGeom>
          <a:noFill/>
          <a:ln/>
        </p:spPr>
        <p:txBody>
          <a:bodyPr wrap="square" rtlCol="0" anchor="ctr"/>
          <a:lstStyle/>
          <a:p>
            <a:pPr indent="0" marL="0">
              <a:buNone/>
            </a:pPr>
            <a:r>
              <a:rPr lang="en-US" sz="1250" b="1" dirty="0">
                <a:solidFill>
                  <a:srgbClr val="00C4B4"/>
                </a:solidFill>
                <a:latin typeface="Calibri" pitchFamily="34" charset="0"/>
                <a:ea typeface="Calibri" pitchFamily="34" charset="-122"/>
                <a:cs typeface="Calibri" pitchFamily="34" charset="-120"/>
              </a:rPr>
              <a:t>Class (LabDoc):</a:t>
            </a:r>
            <a:endParaRPr lang="en-US" sz="1250" dirty="0"/>
          </a:p>
        </p:txBody>
      </p:sp>
      <p:sp>
        <p:nvSpPr>
          <p:cNvPr id="11" name="Text 8"/>
          <p:cNvSpPr/>
          <p:nvPr/>
        </p:nvSpPr>
        <p:spPr>
          <a:xfrm>
            <a:off x="475488" y="3136392"/>
            <a:ext cx="3886200" cy="25603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Typed container for objects — like a table with defined property types</a:t>
            </a:r>
            <a:endParaRPr lang="en-US" sz="1150" dirty="0"/>
          </a:p>
        </p:txBody>
      </p:sp>
      <p:sp>
        <p:nvSpPr>
          <p:cNvPr id="12" name="Shape 9"/>
          <p:cNvSpPr/>
          <p:nvPr/>
        </p:nvSpPr>
        <p:spPr>
          <a:xfrm>
            <a:off x="4663440" y="2834640"/>
            <a:ext cx="4114800" cy="621792"/>
          </a:xfrm>
          <a:prstGeom prst="rect">
            <a:avLst/>
          </a:prstGeom>
          <a:solidFill>
            <a:srgbClr val="192C20"/>
          </a:solidFill>
          <a:ln/>
        </p:spPr>
      </p:sp>
      <p:sp>
        <p:nvSpPr>
          <p:cNvPr id="13" name="Text 10"/>
          <p:cNvSpPr/>
          <p:nvPr/>
        </p:nvSpPr>
        <p:spPr>
          <a:xfrm>
            <a:off x="4773168" y="2898648"/>
            <a:ext cx="3886200" cy="219456"/>
          </a:xfrm>
          <a:prstGeom prst="rect">
            <a:avLst/>
          </a:prstGeom>
          <a:noFill/>
          <a:ln/>
        </p:spPr>
        <p:txBody>
          <a:bodyPr wrap="square" rtlCol="0" anchor="ctr"/>
          <a:lstStyle/>
          <a:p>
            <a:pPr indent="0" marL="0">
              <a:buNone/>
            </a:pPr>
            <a:r>
              <a:rPr lang="en-US" sz="1250" b="1" dirty="0">
                <a:solidFill>
                  <a:srgbClr val="00C4B4"/>
                </a:solidFill>
                <a:latin typeface="Calibri" pitchFamily="34" charset="0"/>
                <a:ea typeface="Calibri" pitchFamily="34" charset="-122"/>
                <a:cs typeface="Calibri" pitchFamily="34" charset="-120"/>
              </a:rPr>
              <a:t>nearText query:</a:t>
            </a:r>
            <a:endParaRPr lang="en-US" sz="1250" dirty="0"/>
          </a:p>
        </p:txBody>
      </p:sp>
      <p:sp>
        <p:nvSpPr>
          <p:cNvPr id="14" name="Text 11"/>
          <p:cNvSpPr/>
          <p:nvPr/>
        </p:nvSpPr>
        <p:spPr>
          <a:xfrm>
            <a:off x="4773168" y="3136392"/>
            <a:ext cx="3886200" cy="25603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GraphQL semantic search — pass a string, Weaviate auto-embeds and finds matches</a:t>
            </a:r>
            <a:endParaRPr lang="en-US" sz="1150" dirty="0"/>
          </a:p>
        </p:txBody>
      </p:sp>
      <p:sp>
        <p:nvSpPr>
          <p:cNvPr id="15" name="Shape 12"/>
          <p:cNvSpPr/>
          <p:nvPr/>
        </p:nvSpPr>
        <p:spPr>
          <a:xfrm>
            <a:off x="365760" y="3584448"/>
            <a:ext cx="4114800" cy="621792"/>
          </a:xfrm>
          <a:prstGeom prst="rect">
            <a:avLst/>
          </a:prstGeom>
          <a:solidFill>
            <a:srgbClr val="192C20"/>
          </a:solidFill>
          <a:ln/>
        </p:spPr>
      </p:sp>
      <p:sp>
        <p:nvSpPr>
          <p:cNvPr id="16" name="Text 13"/>
          <p:cNvSpPr/>
          <p:nvPr/>
        </p:nvSpPr>
        <p:spPr>
          <a:xfrm>
            <a:off x="475488" y="3648456"/>
            <a:ext cx="3886200" cy="219456"/>
          </a:xfrm>
          <a:prstGeom prst="rect">
            <a:avLst/>
          </a:prstGeom>
          <a:noFill/>
          <a:ln/>
        </p:spPr>
        <p:txBody>
          <a:bodyPr wrap="square" rtlCol="0" anchor="ctr"/>
          <a:lstStyle/>
          <a:p>
            <a:pPr indent="0" marL="0">
              <a:buNone/>
            </a:pPr>
            <a:r>
              <a:rPr lang="en-US" sz="1250" b="1" dirty="0">
                <a:solidFill>
                  <a:srgbClr val="00C4B4"/>
                </a:solidFill>
                <a:latin typeface="Calibri" pitchFamily="34" charset="0"/>
                <a:ea typeface="Calibri" pitchFamily="34" charset="-122"/>
                <a:cs typeface="Calibri" pitchFamily="34" charset="-120"/>
              </a:rPr>
              <a:t>Distance score:</a:t>
            </a:r>
            <a:endParaRPr lang="en-US" sz="1250" dirty="0"/>
          </a:p>
        </p:txBody>
      </p:sp>
      <p:sp>
        <p:nvSpPr>
          <p:cNvPr id="17" name="Text 14"/>
          <p:cNvSpPr/>
          <p:nvPr/>
        </p:nvSpPr>
        <p:spPr>
          <a:xfrm>
            <a:off x="475488" y="3886200"/>
            <a:ext cx="3886200" cy="25603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How far apart two vectors are — lower = more similar. Opposite of Qdrant similarity score.</a:t>
            </a:r>
            <a:endParaRPr lang="en-US" sz="1150" dirty="0"/>
          </a:p>
        </p:txBody>
      </p:sp>
      <p:sp>
        <p:nvSpPr>
          <p:cNvPr id="18" name="Shape 15"/>
          <p:cNvSpPr/>
          <p:nvPr/>
        </p:nvSpPr>
        <p:spPr>
          <a:xfrm>
            <a:off x="4663440" y="3584448"/>
            <a:ext cx="4114800" cy="621792"/>
          </a:xfrm>
          <a:prstGeom prst="rect">
            <a:avLst/>
          </a:prstGeom>
          <a:solidFill>
            <a:srgbClr val="192C20"/>
          </a:solidFill>
          <a:ln/>
        </p:spPr>
      </p:sp>
      <p:sp>
        <p:nvSpPr>
          <p:cNvPr id="19" name="Text 16"/>
          <p:cNvSpPr/>
          <p:nvPr/>
        </p:nvSpPr>
        <p:spPr>
          <a:xfrm>
            <a:off x="4773168" y="3648456"/>
            <a:ext cx="3886200" cy="219456"/>
          </a:xfrm>
          <a:prstGeom prst="rect">
            <a:avLst/>
          </a:prstGeom>
          <a:noFill/>
          <a:ln/>
        </p:spPr>
        <p:txBody>
          <a:bodyPr wrap="square" rtlCol="0" anchor="ctr"/>
          <a:lstStyle/>
          <a:p>
            <a:pPr indent="0" marL="0">
              <a:buNone/>
            </a:pPr>
            <a:r>
              <a:rPr lang="en-US" sz="1250" b="1" dirty="0">
                <a:solidFill>
                  <a:srgbClr val="00C4B4"/>
                </a:solidFill>
                <a:latin typeface="Calibri" pitchFamily="34" charset="0"/>
                <a:ea typeface="Calibri" pitchFamily="34" charset="-122"/>
                <a:cs typeface="Calibri" pitchFamily="34" charset="-120"/>
              </a:rPr>
              <a:t>Auto-vectorization:</a:t>
            </a:r>
            <a:endParaRPr lang="en-US" sz="1250" dirty="0"/>
          </a:p>
        </p:txBody>
      </p:sp>
      <p:sp>
        <p:nvSpPr>
          <p:cNvPr id="20" name="Text 17"/>
          <p:cNvSpPr/>
          <p:nvPr/>
        </p:nvSpPr>
        <p:spPr>
          <a:xfrm>
            <a:off x="4773168" y="3886200"/>
            <a:ext cx="3886200" cy="256032"/>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text2vec-transformers is called by Weaviate on every insert and query — no manual embed call</a:t>
            </a:r>
            <a:endParaRPr lang="en-US" sz="1150" dirty="0"/>
          </a:p>
        </p:txBody>
      </p:sp>
      <p:sp>
        <p:nvSpPr>
          <p:cNvPr id="21" name="Text 18"/>
          <p:cNvSpPr/>
          <p:nvPr/>
        </p:nvSpPr>
        <p:spPr>
          <a:xfrm>
            <a:off x="365760" y="4416552"/>
            <a:ext cx="8412480" cy="274320"/>
          </a:xfrm>
          <a:prstGeom prst="rect">
            <a:avLst/>
          </a:prstGeom>
          <a:noFill/>
          <a:ln/>
        </p:spPr>
        <p:txBody>
          <a:bodyPr wrap="square" rtlCol="0" anchor="ctr"/>
          <a:lstStyle/>
          <a:p>
            <a:pPr indent="0" marL="0">
              <a:buNone/>
            </a:pPr>
            <a:r>
              <a:rPr lang="en-US" sz="1250" i="1" dirty="0">
                <a:solidFill>
                  <a:srgbClr val="2DC653"/>
                </a:solidFill>
                <a:latin typeface="Calibri" pitchFamily="34" charset="0"/>
                <a:ea typeface="Calibri" pitchFamily="34" charset="-122"/>
                <a:cs typeface="Calibri" pitchFamily="34" charset="-120"/>
              </a:rPr>
              <a:t>✓ Checkpoint: Can you explain why distance=0.12 is a better match than distance=0.89?</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2 — Setup &amp; First Boot</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411480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System Requirements:</a:t>
            </a:r>
            <a:endParaRPr lang="en-US" sz="1400" dirty="0"/>
          </a:p>
        </p:txBody>
      </p:sp>
      <p:sp>
        <p:nvSpPr>
          <p:cNvPr id="7" name="Text 4"/>
          <p:cNvSpPr/>
          <p:nvPr/>
        </p:nvSpPr>
        <p:spPr>
          <a:xfrm>
            <a:off x="320040" y="1234440"/>
            <a:ext cx="411480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Docker Desktop installed and running</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16 GB RAM recommended — Weaviate + text2vec both need memory</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10+ GB free disk (models are large)</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Internet for first pull of container images</a:t>
            </a:r>
            <a:endParaRPr lang="en-US" sz="1300" dirty="0"/>
          </a:p>
        </p:txBody>
      </p:sp>
      <p:sp>
        <p:nvSpPr>
          <p:cNvPr id="8" name="Text 5"/>
          <p:cNvSpPr/>
          <p:nvPr/>
        </p:nvSpPr>
        <p:spPr>
          <a:xfrm>
            <a:off x="4663440" y="868680"/>
            <a:ext cx="411480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Setup Steps:</a:t>
            </a:r>
            <a:endParaRPr lang="en-US" sz="1400" dirty="0"/>
          </a:p>
        </p:txBody>
      </p:sp>
      <p:sp>
        <p:nvSpPr>
          <p:cNvPr id="9" name="Text 6"/>
          <p:cNvSpPr/>
          <p:nvPr/>
        </p:nvSpPr>
        <p:spPr>
          <a:xfrm>
            <a:off x="4663440" y="1234440"/>
            <a:ext cx="4114800" cy="192024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D1B2A"/>
                </a:solidFill>
                <a:latin typeface="Calibri" pitchFamily="34" charset="0"/>
                <a:ea typeface="Calibri" pitchFamily="34" charset="-122"/>
                <a:cs typeface="Calibri" pitchFamily="34" charset="-120"/>
              </a:rPr>
              <a:t>cp .env.example .env</a:t>
            </a:r>
            <a:endParaRPr lang="en-US" sz="1250" dirty="0"/>
          </a:p>
          <a:p>
            <a:pPr marL="342900" indent="-342900">
              <a:spcAft>
                <a:spcPts val="300"/>
              </a:spcAft>
              <a:buSzPct val="100000"/>
              <a:buChar char="•"/>
            </a:pPr>
            <a:r>
              <a:rPr lang="en-US" sz="1250" dirty="0">
                <a:solidFill>
                  <a:srgbClr val="0D1B2A"/>
                </a:solidFill>
                <a:latin typeface="Calibri" pitchFamily="34" charset="0"/>
                <a:ea typeface="Calibri" pitchFamily="34" charset="-122"/>
                <a:cs typeface="Calibri" pitchFamily="34" charset="-120"/>
              </a:rPr>
              <a:t>Set EDGE_API_KEY= to a strong random value</a:t>
            </a:r>
            <a:endParaRPr lang="en-US" sz="1250" dirty="0"/>
          </a:p>
          <a:p>
            <a:pPr marL="342900" indent="-342900">
              <a:spcAft>
                <a:spcPts val="300"/>
              </a:spcAft>
              <a:buSzPct val="100000"/>
              <a:buChar char="•"/>
            </a:pPr>
            <a:r>
              <a:rPr lang="en-US" sz="1250" dirty="0">
                <a:solidFill>
                  <a:srgbClr val="0D1B2A"/>
                </a:solidFill>
                <a:latin typeface="Calibri" pitchFamily="34" charset="0"/>
                <a:ea typeface="Calibri" pitchFamily="34" charset="-122"/>
                <a:cs typeface="Calibri" pitchFamily="34" charset="-120"/>
              </a:rPr>
              <a:t>docker compose up -d --build</a:t>
            </a:r>
            <a:endParaRPr lang="en-US" sz="1250" dirty="0"/>
          </a:p>
          <a:p>
            <a:pPr marL="342900" indent="-342900">
              <a:spcAft>
                <a:spcPts val="300"/>
              </a:spcAft>
              <a:buSzPct val="100000"/>
              <a:buChar char="•"/>
            </a:pPr>
            <a:r>
              <a:rPr lang="en-US" sz="1250" dirty="0">
                <a:solidFill>
                  <a:srgbClr val="0D1B2A"/>
                </a:solidFill>
                <a:latin typeface="Calibri" pitchFamily="34" charset="0"/>
                <a:ea typeface="Calibri" pitchFamily="34" charset="-122"/>
                <a:cs typeface="Calibri" pitchFamily="34" charset="-120"/>
              </a:rPr>
              <a:t>Wait 90-120 seconds — text2vec loads its model on startup</a:t>
            </a:r>
            <a:endParaRPr lang="en-US" sz="1250" dirty="0"/>
          </a:p>
          <a:p>
            <a:pPr marL="342900" indent="-342900">
              <a:spcAft>
                <a:spcPts val="300"/>
              </a:spcAft>
              <a:buSzPct val="100000"/>
              <a:buChar char="•"/>
            </a:pPr>
            <a:r>
              <a:rPr lang="en-US" sz="1250" dirty="0">
                <a:solidFill>
                  <a:srgbClr val="0D1B2A"/>
                </a:solidFill>
                <a:latin typeface="Calibri" pitchFamily="34" charset="0"/>
                <a:ea typeface="Calibri" pitchFamily="34" charset="-122"/>
                <a:cs typeface="Calibri" pitchFamily="34" charset="-120"/>
              </a:rPr>
              <a:t>chmod +x bin/*.sh &amp;&amp; ./bin/status.sh</a:t>
            </a:r>
            <a:endParaRPr lang="en-US" sz="1250" dirty="0"/>
          </a:p>
          <a:p>
            <a:pPr marL="342900" indent="-342900">
              <a:spcAft>
                <a:spcPts val="300"/>
              </a:spcAft>
              <a:buSzPct val="100000"/>
              <a:buChar char="•"/>
            </a:pPr>
            <a:r>
              <a:rPr lang="en-US" sz="1250" dirty="0">
                <a:solidFill>
                  <a:srgbClr val="0D1B2A"/>
                </a:solidFill>
                <a:latin typeface="Calibri" pitchFamily="34" charset="0"/>
                <a:ea typeface="Calibri" pitchFamily="34" charset="-122"/>
                <a:cs typeface="Calibri" pitchFamily="34" charset="-120"/>
              </a:rPr>
              <a:t>Open http://localhost:7860</a:t>
            </a:r>
            <a:endParaRPr lang="en-US" sz="1250" dirty="0"/>
          </a:p>
        </p:txBody>
      </p:sp>
      <p:sp>
        <p:nvSpPr>
          <p:cNvPr id="10" name="Text 7"/>
          <p:cNvSpPr/>
          <p:nvPr/>
        </p:nvSpPr>
        <p:spPr>
          <a:xfrm>
            <a:off x="320040" y="2487168"/>
            <a:ext cx="411480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Common Weaviate-specific issues:</a:t>
            </a:r>
            <a:endParaRPr lang="en-US" sz="1400" dirty="0"/>
          </a:p>
        </p:txBody>
      </p:sp>
      <p:sp>
        <p:nvSpPr>
          <p:cNvPr id="11" name="Text 8"/>
          <p:cNvSpPr/>
          <p:nvPr/>
        </p:nvSpPr>
        <p:spPr>
          <a:xfrm>
            <a:off x="320040" y="2852928"/>
            <a:ext cx="4114800"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text2vec-transformers slow to start — it downloads the sentence-transformer model on first run</a:t>
            </a:r>
            <a:endParaRPr lang="en-US" sz="1200" dirty="0"/>
          </a:p>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Weaviate health check fails — usually means text2vec hasn't finished loading yet, just wait</a:t>
            </a:r>
            <a:endParaRPr lang="en-US" sz="1200" dirty="0"/>
          </a:p>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Container name conflict with Lab 1 — run docker compose down in the Lab 1 folder first</a:t>
            </a:r>
            <a:endParaRPr lang="en-US" sz="1200" dirty="0"/>
          </a:p>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UI loads but ingest fails — check docker logs weaviate and text2vec-transformers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3 — Compose Architecture &amp; Resource Limits</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What to look for in docker-compose.yml:</a:t>
            </a:r>
            <a:endParaRPr lang="en-US" sz="1400" dirty="0"/>
          </a:p>
        </p:txBody>
      </p:sp>
      <p:sp>
        <p:nvSpPr>
          <p:cNvPr id="7" name="Text 4"/>
          <p:cNvSpPr/>
          <p:nvPr/>
        </p:nvSpPr>
        <p:spPr>
          <a:xfrm>
            <a:off x="365760" y="1298448"/>
            <a:ext cx="84124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services: — 6 containers: weaviate, text2vec-transformers, ollama, ingestion-api, nginx, gradio-ui</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TRANSFORMERS_INFERENCE_API=http://text2vec-transformers:8080 — wires Weaviate to auto-embed</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networks: — internal network keeps all services isolated from your laptop except NGINX and Gradio</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volumes: — weaviate_data (schema + objects + vectors), ollama_data (models)</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mem_limit: 8g — on Weaviate and Ollama to prevent resource starvation</a:t>
            </a:r>
            <a:endParaRPr lang="en-US" sz="1300" dirty="0"/>
          </a:p>
        </p:txBody>
      </p:sp>
      <p:sp>
        <p:nvSpPr>
          <p:cNvPr id="8" name="Text 5"/>
          <p:cNvSpPr/>
          <p:nvPr/>
        </p:nvSpPr>
        <p:spPr>
          <a:xfrm>
            <a:off x="365760" y="2788920"/>
            <a:ext cx="841248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Startup dependency chain (important for troubleshooting):</a:t>
            </a:r>
            <a:endParaRPr lang="en-US" sz="1400" dirty="0"/>
          </a:p>
        </p:txBody>
      </p:sp>
      <p:sp>
        <p:nvSpPr>
          <p:cNvPr id="9" name="Text 6"/>
          <p:cNvSpPr/>
          <p:nvPr/>
        </p:nvSpPr>
        <p:spPr>
          <a:xfrm>
            <a:off x="365760" y="3154680"/>
            <a:ext cx="8412480" cy="13258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text2vec-transformers must be healthy before Weaviate can vectorize</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Weaviate must be ready before ingestion-api can create the schema or ingest documents</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If ingestion fails on first run, check text2vec-transformers health first</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Use docker compose logs text2vec-transformers --tail=50 to see if the model loaded successfully</a:t>
            </a:r>
            <a:endParaRPr lang="en-US" sz="1300" dirty="0"/>
          </a:p>
        </p:txBody>
      </p:sp>
      <p:sp>
        <p:nvSpPr>
          <p:cNvPr id="10" name="Text 7"/>
          <p:cNvSpPr/>
          <p:nvPr/>
        </p:nvSpPr>
        <p:spPr>
          <a:xfrm>
            <a:off x="365760" y="4572000"/>
            <a:ext cx="8412480" cy="274320"/>
          </a:xfrm>
          <a:prstGeom prst="rect">
            <a:avLst/>
          </a:prstGeom>
          <a:noFill/>
          <a:ln/>
        </p:spPr>
        <p:txBody>
          <a:bodyPr wrap="square" rtlCol="0" anchor="ctr"/>
          <a:lstStyle/>
          <a:p>
            <a:pPr indent="0" marL="0">
              <a:buNone/>
            </a:pPr>
            <a:r>
              <a:rPr lang="en-US" sz="1200" i="1" dirty="0">
                <a:solidFill>
                  <a:srgbClr val="2DC653"/>
                </a:solidFill>
                <a:latin typeface="Calibri" pitchFamily="34" charset="0"/>
                <a:ea typeface="Calibri" pitchFamily="34" charset="-122"/>
                <a:cs typeface="Calibri" pitchFamily="34" charset="-120"/>
              </a:rPr>
              <a:t>✓ Run docker stats to see resource usage and confirm mem_limits are applied.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4 — Edge Authentication with NGINX</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Authentication behavior is identical to Lab 1:</a:t>
            </a:r>
            <a:endParaRPr lang="en-US" sz="1400" dirty="0"/>
          </a:p>
        </p:txBody>
      </p:sp>
      <p:sp>
        <p:nvSpPr>
          <p:cNvPr id="7" name="Shape 4"/>
          <p:cNvSpPr/>
          <p:nvPr/>
        </p:nvSpPr>
        <p:spPr>
          <a:xfrm>
            <a:off x="320040" y="1261872"/>
            <a:ext cx="8503920" cy="640080"/>
          </a:xfrm>
          <a:prstGeom prst="rect">
            <a:avLst/>
          </a:prstGeom>
          <a:solidFill>
            <a:srgbClr val="0D1B2A"/>
          </a:solidFill>
          <a:ln/>
          <a:effectLst>
            <a:outerShdw sx="100000" sy="100000" kx="0" ky="0" algn="bl" rotWithShape="0" blurRad="38100" dist="12700" dir="16200000">
              <a:srgbClr val="000000">
                <a:alpha val="7000"/>
              </a:srgbClr>
            </a:outerShdw>
          </a:effectLst>
        </p:spPr>
      </p:sp>
      <p:sp>
        <p:nvSpPr>
          <p:cNvPr id="8" name="Text 5"/>
          <p:cNvSpPr/>
          <p:nvPr/>
        </p:nvSpPr>
        <p:spPr>
          <a:xfrm>
            <a:off x="457200" y="1307592"/>
            <a:ext cx="813816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curl -i http://localhost:8088/proxy-health</a:t>
            </a:r>
            <a:endParaRPr lang="en-US" sz="1150" dirty="0"/>
          </a:p>
        </p:txBody>
      </p:sp>
      <p:sp>
        <p:nvSpPr>
          <p:cNvPr id="9" name="Text 6"/>
          <p:cNvSpPr/>
          <p:nvPr/>
        </p:nvSpPr>
        <p:spPr>
          <a:xfrm>
            <a:off x="457200" y="1591056"/>
            <a:ext cx="8138160" cy="219456"/>
          </a:xfrm>
          <a:prstGeom prst="rect">
            <a:avLst/>
          </a:prstGeom>
          <a:noFill/>
          <a:ln/>
        </p:spPr>
        <p:txBody>
          <a:bodyPr wrap="square" rtlCol="0" anchor="ctr"/>
          <a:lstStyle/>
          <a:p>
            <a:pPr indent="0" marL="0">
              <a:buNone/>
            </a:pPr>
            <a:r>
              <a:rPr lang="en-US" sz="1200" dirty="0">
                <a:solidFill>
                  <a:srgbClr val="2DC653"/>
                </a:solidFill>
                <a:latin typeface="Calibri" pitchFamily="34" charset="0"/>
                <a:ea typeface="Calibri" pitchFamily="34" charset="-122"/>
                <a:cs typeface="Calibri" pitchFamily="34" charset="-120"/>
              </a:rPr>
              <a:t>→ 200 OK — proxy is running (no key needed)</a:t>
            </a:r>
            <a:endParaRPr lang="en-US" sz="1200" dirty="0"/>
          </a:p>
        </p:txBody>
      </p:sp>
      <p:sp>
        <p:nvSpPr>
          <p:cNvPr id="10" name="Shape 7"/>
          <p:cNvSpPr/>
          <p:nvPr/>
        </p:nvSpPr>
        <p:spPr>
          <a:xfrm>
            <a:off x="320040" y="2011680"/>
            <a:ext cx="8503920" cy="640080"/>
          </a:xfrm>
          <a:prstGeom prst="rect">
            <a:avLst/>
          </a:prstGeom>
          <a:solidFill>
            <a:srgbClr val="0D1B2A"/>
          </a:solidFill>
          <a:ln/>
          <a:effectLst>
            <a:outerShdw sx="100000" sy="100000" kx="0" ky="0" algn="bl" rotWithShape="0" blurRad="38100" dist="12700" dir="16200000">
              <a:srgbClr val="000000">
                <a:alpha val="7000"/>
              </a:srgbClr>
            </a:outerShdw>
          </a:effectLst>
        </p:spPr>
      </p:sp>
      <p:sp>
        <p:nvSpPr>
          <p:cNvPr id="11" name="Text 8"/>
          <p:cNvSpPr/>
          <p:nvPr/>
        </p:nvSpPr>
        <p:spPr>
          <a:xfrm>
            <a:off x="457200" y="2057400"/>
            <a:ext cx="813816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curl -i http://localhost:8088/health</a:t>
            </a:r>
            <a:endParaRPr lang="en-US" sz="1150" dirty="0"/>
          </a:p>
        </p:txBody>
      </p:sp>
      <p:sp>
        <p:nvSpPr>
          <p:cNvPr id="12" name="Text 9"/>
          <p:cNvSpPr/>
          <p:nvPr/>
        </p:nvSpPr>
        <p:spPr>
          <a:xfrm>
            <a:off x="457200" y="2340864"/>
            <a:ext cx="8138160" cy="219456"/>
          </a:xfrm>
          <a:prstGeom prst="rect">
            <a:avLst/>
          </a:prstGeom>
          <a:noFill/>
          <a:ln/>
        </p:spPr>
        <p:txBody>
          <a:bodyPr wrap="square" rtlCol="0" anchor="ctr"/>
          <a:lstStyle/>
          <a:p>
            <a:pPr indent="0" marL="0">
              <a:buNone/>
            </a:pPr>
            <a:r>
              <a:rPr lang="en-US" sz="1200" dirty="0">
                <a:solidFill>
                  <a:srgbClr val="F4A261"/>
                </a:solidFill>
                <a:latin typeface="Calibri" pitchFamily="34" charset="0"/>
                <a:ea typeface="Calibri" pitchFamily="34" charset="-122"/>
                <a:cs typeface="Calibri" pitchFamily="34" charset="-120"/>
              </a:rPr>
              <a:t>→ 401 Unauthorized — key is MISSING</a:t>
            </a:r>
            <a:endParaRPr lang="en-US" sz="1200" dirty="0"/>
          </a:p>
        </p:txBody>
      </p:sp>
      <p:sp>
        <p:nvSpPr>
          <p:cNvPr id="13" name="Shape 10"/>
          <p:cNvSpPr/>
          <p:nvPr/>
        </p:nvSpPr>
        <p:spPr>
          <a:xfrm>
            <a:off x="320040" y="2761488"/>
            <a:ext cx="8503920" cy="640080"/>
          </a:xfrm>
          <a:prstGeom prst="rect">
            <a:avLst/>
          </a:prstGeom>
          <a:solidFill>
            <a:srgbClr val="0D1B2A"/>
          </a:solidFill>
          <a:ln/>
          <a:effectLst>
            <a:outerShdw sx="100000" sy="100000" kx="0" ky="0" algn="bl" rotWithShape="0" blurRad="38100" dist="12700" dir="16200000">
              <a:srgbClr val="000000">
                <a:alpha val="7000"/>
              </a:srgbClr>
            </a:outerShdw>
          </a:effectLst>
        </p:spPr>
      </p:sp>
      <p:sp>
        <p:nvSpPr>
          <p:cNvPr id="14" name="Text 11"/>
          <p:cNvSpPr/>
          <p:nvPr/>
        </p:nvSpPr>
        <p:spPr>
          <a:xfrm>
            <a:off x="457200" y="2807208"/>
            <a:ext cx="813816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curl -i -H "X-API-Key: wrong" http://localhost:8088/health</a:t>
            </a:r>
            <a:endParaRPr lang="en-US" sz="1150" dirty="0"/>
          </a:p>
        </p:txBody>
      </p:sp>
      <p:sp>
        <p:nvSpPr>
          <p:cNvPr id="15" name="Text 12"/>
          <p:cNvSpPr/>
          <p:nvPr/>
        </p:nvSpPr>
        <p:spPr>
          <a:xfrm>
            <a:off x="457200" y="3090672"/>
            <a:ext cx="8138160" cy="219456"/>
          </a:xfrm>
          <a:prstGeom prst="rect">
            <a:avLst/>
          </a:prstGeom>
          <a:noFill/>
          <a:ln/>
        </p:spPr>
        <p:txBody>
          <a:bodyPr wrap="square" rtlCol="0" anchor="ctr"/>
          <a:lstStyle/>
          <a:p>
            <a:pPr indent="0" marL="0">
              <a:buNone/>
            </a:pPr>
            <a:r>
              <a:rPr lang="en-US" sz="1200" dirty="0">
                <a:solidFill>
                  <a:srgbClr val="E63946"/>
                </a:solidFill>
                <a:latin typeface="Calibri" pitchFamily="34" charset="0"/>
                <a:ea typeface="Calibri" pitchFamily="34" charset="-122"/>
                <a:cs typeface="Calibri" pitchFamily="34" charset="-120"/>
              </a:rPr>
              <a:t>→ 403 Forbidden — key is WRONG</a:t>
            </a:r>
            <a:endParaRPr lang="en-US" sz="1200" dirty="0"/>
          </a:p>
        </p:txBody>
      </p:sp>
      <p:sp>
        <p:nvSpPr>
          <p:cNvPr id="16" name="Shape 13"/>
          <p:cNvSpPr/>
          <p:nvPr/>
        </p:nvSpPr>
        <p:spPr>
          <a:xfrm>
            <a:off x="320040" y="3511296"/>
            <a:ext cx="8503920" cy="640080"/>
          </a:xfrm>
          <a:prstGeom prst="rect">
            <a:avLst/>
          </a:prstGeom>
          <a:solidFill>
            <a:srgbClr val="0D1B2A"/>
          </a:solidFill>
          <a:ln/>
          <a:effectLst>
            <a:outerShdw sx="100000" sy="100000" kx="0" ky="0" algn="bl" rotWithShape="0" blurRad="38100" dist="12700" dir="16200000">
              <a:srgbClr val="000000">
                <a:alpha val="7000"/>
              </a:srgbClr>
            </a:outerShdw>
          </a:effectLst>
        </p:spPr>
      </p:sp>
      <p:sp>
        <p:nvSpPr>
          <p:cNvPr id="17" name="Text 14"/>
          <p:cNvSpPr/>
          <p:nvPr/>
        </p:nvSpPr>
        <p:spPr>
          <a:xfrm>
            <a:off x="457200" y="3557016"/>
            <a:ext cx="813816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curl -i -H "X-API-Key: $EDGE_API_KEY" http://localhost:8088/health</a:t>
            </a:r>
            <a:endParaRPr lang="en-US" sz="1150" dirty="0"/>
          </a:p>
        </p:txBody>
      </p:sp>
      <p:sp>
        <p:nvSpPr>
          <p:cNvPr id="18" name="Text 15"/>
          <p:cNvSpPr/>
          <p:nvPr/>
        </p:nvSpPr>
        <p:spPr>
          <a:xfrm>
            <a:off x="457200" y="3840480"/>
            <a:ext cx="8138160" cy="219456"/>
          </a:xfrm>
          <a:prstGeom prst="rect">
            <a:avLst/>
          </a:prstGeom>
          <a:noFill/>
          <a:ln/>
        </p:spPr>
        <p:txBody>
          <a:bodyPr wrap="square" rtlCol="0" anchor="ctr"/>
          <a:lstStyle/>
          <a:p>
            <a:pPr indent="0" marL="0">
              <a:buNone/>
            </a:pPr>
            <a:r>
              <a:rPr lang="en-US" sz="1200" dirty="0">
                <a:solidFill>
                  <a:srgbClr val="2DC653"/>
                </a:solidFill>
                <a:latin typeface="Calibri" pitchFamily="34" charset="0"/>
                <a:ea typeface="Calibri" pitchFamily="34" charset="-122"/>
                <a:cs typeface="Calibri" pitchFamily="34" charset="-120"/>
              </a:rPr>
              <a:t>→ 200 OK — {"ok": true, "weaviate": true, ...}</a:t>
            </a:r>
            <a:endParaRPr lang="en-US" sz="1200" dirty="0"/>
          </a:p>
        </p:txBody>
      </p:sp>
      <p:sp>
        <p:nvSpPr>
          <p:cNvPr id="19" name="Text 16"/>
          <p:cNvSpPr/>
          <p:nvPr/>
        </p:nvSpPr>
        <p:spPr>
          <a:xfrm>
            <a:off x="320040" y="4279392"/>
            <a:ext cx="8503920" cy="411480"/>
          </a:xfrm>
          <a:prstGeom prst="rect">
            <a:avLst/>
          </a:prstGeom>
          <a:noFill/>
          <a:ln/>
        </p:spPr>
        <p:txBody>
          <a:bodyPr wrap="square" rtlCol="0" anchor="ctr"/>
          <a:lstStyle/>
          <a:p>
            <a:pPr indent="0" marL="0">
              <a:buNone/>
            </a:pPr>
            <a:r>
              <a:rPr lang="en-US" sz="1200" i="1" dirty="0">
                <a:solidFill>
                  <a:srgbClr val="008B80"/>
                </a:solidFill>
                <a:latin typeface="Calibri" pitchFamily="34" charset="0"/>
                <a:ea typeface="Calibri" pitchFamily="34" charset="-122"/>
                <a:cs typeface="Calibri" pitchFamily="34" charset="-120"/>
              </a:rPr>
              <a:t>Note: the /health response includes 'weaviate: true/false' instead of 'ok: true/false with uptime' — this reflects the Weaviate health check format.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5 — Weaviate Schema &amp; Vectorization</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Weaviate class schema — defined upfront, immutable after creation:</a:t>
            </a:r>
            <a:endParaRPr lang="en-US" sz="1400" dirty="0"/>
          </a:p>
        </p:txBody>
      </p:sp>
      <p:sp>
        <p:nvSpPr>
          <p:cNvPr id="7" name="Text 4"/>
          <p:cNvSpPr/>
          <p:nvPr/>
        </p:nvSpPr>
        <p:spPr>
          <a:xfrm>
            <a:off x="365760" y="1298448"/>
            <a:ext cx="841248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The LabDoc class is created by ensure_schema() in weaviate_client.py when the first document is ingested</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Properties: title (text), url (text), source (text), tags (text[]), text (text), published_date (text)</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Unlike Qdrant: you CANNOT add new properties to an existing class without recreating it</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Schema is stored in weaviate_data volume — persists across restarts</a:t>
            </a:r>
            <a:endParaRPr lang="en-US" sz="1300" dirty="0"/>
          </a:p>
        </p:txBody>
      </p:sp>
      <p:sp>
        <p:nvSpPr>
          <p:cNvPr id="8" name="Text 5"/>
          <p:cNvSpPr/>
          <p:nvPr/>
        </p:nvSpPr>
        <p:spPr>
          <a:xfrm>
            <a:off x="365760" y="2697480"/>
            <a:ext cx="841248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Schema Extension Exercise (Lesson 5 hands-on):</a:t>
            </a:r>
            <a:endParaRPr lang="en-US" sz="1400" dirty="0"/>
          </a:p>
        </p:txBody>
      </p:sp>
      <p:sp>
        <p:nvSpPr>
          <p:cNvPr id="9" name="Text 6"/>
          <p:cNvSpPr/>
          <p:nvPr/>
        </p:nvSpPr>
        <p:spPr>
          <a:xfrm>
            <a:off x="365760" y="3063240"/>
            <a:ext cx="841248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Add tags: list[str] = [] to ArticleIn Pydantic model in schemas.py</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Add 'tags' property to LabDoc class definition in weaviate_client.py under properties[]</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If class already exists without tags: must wipe weaviate_data volume and recreate the schema</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Rebuild: docker compose up -d --build ingestion-api</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Re-ingest with tags and verify retrieval still works — schema changes must not break existing queries</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Lesson: Weaviate schema changes are MORE disruptive than Qdrant because they require class recreation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6 — Ingestion API (Part 1): Validation &amp; Ingest</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The ingestion pipeline in this lab:</a:t>
            </a:r>
            <a:endParaRPr lang="en-US" sz="1400" dirty="0"/>
          </a:p>
        </p:txBody>
      </p:sp>
      <p:sp>
        <p:nvSpPr>
          <p:cNvPr id="7" name="Shape 4"/>
          <p:cNvSpPr/>
          <p:nvPr/>
        </p:nvSpPr>
        <p:spPr>
          <a:xfrm>
            <a:off x="320040" y="1261872"/>
            <a:ext cx="8503920" cy="384048"/>
          </a:xfrm>
          <a:prstGeom prst="rect">
            <a:avLst/>
          </a:prstGeom>
          <a:solidFill>
            <a:srgbClr val="008B80"/>
          </a:solidFill>
          <a:ln/>
          <a:effectLst>
            <a:outerShdw sx="100000" sy="100000" kx="0" ky="0" algn="bl" rotWithShape="0" blurRad="25400" dist="12700" dir="16200000">
              <a:srgbClr val="000000">
                <a:alpha val="8000"/>
              </a:srgbClr>
            </a:outerShdw>
          </a:effectLst>
        </p:spPr>
      </p:sp>
      <p:sp>
        <p:nvSpPr>
          <p:cNvPr id="8" name="Text 5"/>
          <p:cNvSpPr/>
          <p:nvPr/>
        </p:nvSpPr>
        <p:spPr>
          <a:xfrm>
            <a:off x="457200" y="1261872"/>
            <a:ext cx="832104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POST /ingest with document JSON</a:t>
            </a:r>
            <a:endParaRPr lang="en-US" sz="1300" dirty="0"/>
          </a:p>
        </p:txBody>
      </p:sp>
      <p:sp>
        <p:nvSpPr>
          <p:cNvPr id="9" name="Shape 6"/>
          <p:cNvSpPr/>
          <p:nvPr/>
        </p:nvSpPr>
        <p:spPr>
          <a:xfrm>
            <a:off x="320040" y="1737360"/>
            <a:ext cx="8503920" cy="384048"/>
          </a:xfrm>
          <a:prstGeom prst="rect">
            <a:avLst/>
          </a:prstGeom>
          <a:solidFill>
            <a:srgbClr val="F4A261"/>
          </a:solidFill>
          <a:ln/>
          <a:effectLst>
            <a:outerShdw sx="100000" sy="100000" kx="0" ky="0" algn="bl" rotWithShape="0" blurRad="25400" dist="12700" dir="16200000">
              <a:srgbClr val="000000">
                <a:alpha val="8000"/>
              </a:srgbClr>
            </a:outerShdw>
          </a:effectLst>
        </p:spPr>
      </p:sp>
      <p:sp>
        <p:nvSpPr>
          <p:cNvPr id="10" name="Text 7"/>
          <p:cNvSpPr/>
          <p:nvPr/>
        </p:nvSpPr>
        <p:spPr>
          <a:xfrm>
            <a:off x="457200" y="1737360"/>
            <a:ext cx="832104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NGINX validates X-API-Key</a:t>
            </a:r>
            <a:endParaRPr lang="en-US" sz="1300" dirty="0"/>
          </a:p>
        </p:txBody>
      </p:sp>
      <p:sp>
        <p:nvSpPr>
          <p:cNvPr id="11" name="Shape 8"/>
          <p:cNvSpPr/>
          <p:nvPr/>
        </p:nvSpPr>
        <p:spPr>
          <a:xfrm>
            <a:off x="320040" y="2212848"/>
            <a:ext cx="8503920" cy="384048"/>
          </a:xfrm>
          <a:prstGeom prst="rect">
            <a:avLst/>
          </a:prstGeom>
          <a:solidFill>
            <a:srgbClr val="00C4B4"/>
          </a:solidFill>
          <a:ln/>
          <a:effectLst>
            <a:outerShdw sx="100000" sy="100000" kx="0" ky="0" algn="bl" rotWithShape="0" blurRad="25400" dist="12700" dir="16200000">
              <a:srgbClr val="000000">
                <a:alpha val="8000"/>
              </a:srgbClr>
            </a:outerShdw>
          </a:effectLst>
        </p:spPr>
      </p:sp>
      <p:sp>
        <p:nvSpPr>
          <p:cNvPr id="12" name="Text 9"/>
          <p:cNvSpPr/>
          <p:nvPr/>
        </p:nvSpPr>
        <p:spPr>
          <a:xfrm>
            <a:off x="457200" y="2212848"/>
            <a:ext cx="832104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FastAPI validates ArticleIn schema (Pydantic)</a:t>
            </a:r>
            <a:endParaRPr lang="en-US" sz="1300" dirty="0"/>
          </a:p>
        </p:txBody>
      </p:sp>
      <p:sp>
        <p:nvSpPr>
          <p:cNvPr id="13" name="Shape 10"/>
          <p:cNvSpPr/>
          <p:nvPr/>
        </p:nvSpPr>
        <p:spPr>
          <a:xfrm>
            <a:off x="320040" y="2688336"/>
            <a:ext cx="8503920" cy="384048"/>
          </a:xfrm>
          <a:prstGeom prst="rect">
            <a:avLst/>
          </a:prstGeom>
          <a:solidFill>
            <a:srgbClr val="00C4B4"/>
          </a:solidFill>
          <a:ln/>
          <a:effectLst>
            <a:outerShdw sx="100000" sy="100000" kx="0" ky="0" algn="bl" rotWithShape="0" blurRad="25400" dist="12700" dir="16200000">
              <a:srgbClr val="000000">
                <a:alpha val="8000"/>
              </a:srgbClr>
            </a:outerShdw>
          </a:effectLst>
        </p:spPr>
      </p:sp>
      <p:sp>
        <p:nvSpPr>
          <p:cNvPr id="14" name="Text 11"/>
          <p:cNvSpPr/>
          <p:nvPr/>
        </p:nvSpPr>
        <p:spPr>
          <a:xfrm>
            <a:off x="457200" y="2688336"/>
            <a:ext cx="832104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ensure_schema() creates LabDoc class if not exists</a:t>
            </a:r>
            <a:endParaRPr lang="en-US" sz="1300" dirty="0"/>
          </a:p>
        </p:txBody>
      </p:sp>
      <p:sp>
        <p:nvSpPr>
          <p:cNvPr id="15" name="Shape 12"/>
          <p:cNvSpPr/>
          <p:nvPr/>
        </p:nvSpPr>
        <p:spPr>
          <a:xfrm>
            <a:off x="320040" y="3163824"/>
            <a:ext cx="8503920" cy="384048"/>
          </a:xfrm>
          <a:prstGeom prst="rect">
            <a:avLst/>
          </a:prstGeom>
          <a:solidFill>
            <a:srgbClr val="008B80"/>
          </a:solidFill>
          <a:ln/>
          <a:effectLst>
            <a:outerShdw sx="100000" sy="100000" kx="0" ky="0" algn="bl" rotWithShape="0" blurRad="25400" dist="12700" dir="16200000">
              <a:srgbClr val="000000">
                <a:alpha val="8000"/>
              </a:srgbClr>
            </a:outerShdw>
          </a:effectLst>
        </p:spPr>
      </p:sp>
      <p:sp>
        <p:nvSpPr>
          <p:cNvPr id="16" name="Text 13"/>
          <p:cNvSpPr/>
          <p:nvPr/>
        </p:nvSpPr>
        <p:spPr>
          <a:xfrm>
            <a:off x="457200" y="3163824"/>
            <a:ext cx="832104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insert_doc() sends JSON to Weaviate</a:t>
            </a:r>
            <a:endParaRPr lang="en-US" sz="1300" dirty="0"/>
          </a:p>
        </p:txBody>
      </p:sp>
      <p:sp>
        <p:nvSpPr>
          <p:cNvPr id="17" name="Shape 14"/>
          <p:cNvSpPr/>
          <p:nvPr/>
        </p:nvSpPr>
        <p:spPr>
          <a:xfrm>
            <a:off x="320040" y="3639312"/>
            <a:ext cx="8503920" cy="384048"/>
          </a:xfrm>
          <a:prstGeom prst="rect">
            <a:avLst/>
          </a:prstGeom>
          <a:solidFill>
            <a:srgbClr val="00C4B4"/>
          </a:solidFill>
          <a:ln/>
          <a:effectLst>
            <a:outerShdw sx="100000" sy="100000" kx="0" ky="0" algn="bl" rotWithShape="0" blurRad="25400" dist="12700" dir="16200000">
              <a:srgbClr val="000000">
                <a:alpha val="8000"/>
              </a:srgbClr>
            </a:outerShdw>
          </a:effectLst>
        </p:spPr>
      </p:sp>
      <p:sp>
        <p:nvSpPr>
          <p:cNvPr id="18" name="Text 15"/>
          <p:cNvSpPr/>
          <p:nvPr/>
        </p:nvSpPr>
        <p:spPr>
          <a:xfrm>
            <a:off x="457200" y="3639312"/>
            <a:ext cx="8321040" cy="38404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Weaviate calls text2vec-transformers → auto-embeds → stores object + vector</a:t>
            </a:r>
            <a:endParaRPr lang="en-US" sz="1300" dirty="0"/>
          </a:p>
        </p:txBody>
      </p:sp>
      <p:sp>
        <p:nvSpPr>
          <p:cNvPr id="19" name="Text 16"/>
          <p:cNvSpPr/>
          <p:nvPr/>
        </p:nvSpPr>
        <p:spPr>
          <a:xfrm>
            <a:off x="320040" y="4187952"/>
            <a:ext cx="8503920" cy="292608"/>
          </a:xfrm>
          <a:prstGeom prst="rect">
            <a:avLst/>
          </a:prstGeom>
          <a:noFill/>
          <a:ln/>
        </p:spPr>
        <p:txBody>
          <a:bodyPr wrap="square" rtlCol="0" anchor="ctr"/>
          <a:lstStyle/>
          <a:p>
            <a:pPr indent="0" marL="0">
              <a:buNone/>
            </a:pPr>
            <a:r>
              <a:rPr lang="en-US" sz="1300" dirty="0">
                <a:solidFill>
                  <a:srgbClr val="00C4B4"/>
                </a:solidFill>
                <a:latin typeface="Consolas" pitchFamily="34" charset="0"/>
                <a:ea typeface="Consolas" pitchFamily="34" charset="-122"/>
                <a:cs typeface="Consolas" pitchFamily="34" charset="-120"/>
              </a:rPr>
              <a:t>Ingest the sample dataset: ./bin/ingest_sample.sh</a:t>
            </a:r>
            <a:endParaRPr lang="en-US" sz="1300" dirty="0"/>
          </a:p>
        </p:txBody>
      </p:sp>
      <p:sp>
        <p:nvSpPr>
          <p:cNvPr id="20" name="Text 17"/>
          <p:cNvSpPr/>
          <p:nvPr/>
        </p:nvSpPr>
        <p:spPr>
          <a:xfrm>
            <a:off x="320040" y="4498848"/>
            <a:ext cx="8503920" cy="274320"/>
          </a:xfrm>
          <a:prstGeom prst="rect">
            <a:avLst/>
          </a:prstGeom>
          <a:noFill/>
          <a:ln/>
        </p:spPr>
        <p:txBody>
          <a:bodyPr wrap="square" rtlCol="0" anchor="ctr"/>
          <a:lstStyle/>
          <a:p>
            <a:pPr indent="0" marL="0">
              <a:buNone/>
            </a:pPr>
            <a:r>
              <a:rPr lang="en-US" sz="1250" i="1" dirty="0">
                <a:solidFill>
                  <a:srgbClr val="008B80"/>
                </a:solidFill>
                <a:latin typeface="Calibri" pitchFamily="34" charset="0"/>
                <a:ea typeface="Calibri" pitchFamily="34" charset="-122"/>
                <a:cs typeface="Calibri" pitchFamily="34" charset="-120"/>
              </a:rPr>
              <a:t>Exercise: trigger a 422 deliberately by sending an invalid URL — see Pydantic validation protect Weaviate.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6 — Ingestion API (Part 2): Debug Endpoints</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dirty="0">
                <a:solidFill>
                  <a:srgbClr val="D8ECEC"/>
                </a:solidFill>
                <a:latin typeface="Calibri" pitchFamily="34" charset="0"/>
                <a:ea typeface="Calibri" pitchFamily="34" charset="-122"/>
                <a:cs typeface="Calibri" pitchFamily="34" charset="-120"/>
              </a:rPr>
              <a:t>Debug endpoints — same as Lab 1, same debugging discipline:</a:t>
            </a:r>
            <a:endParaRPr lang="en-US" sz="1400" dirty="0"/>
          </a:p>
        </p:txBody>
      </p:sp>
      <p:sp>
        <p:nvSpPr>
          <p:cNvPr id="7" name="Shape 4"/>
          <p:cNvSpPr/>
          <p:nvPr/>
        </p:nvSpPr>
        <p:spPr>
          <a:xfrm>
            <a:off x="365760" y="1298448"/>
            <a:ext cx="8412480" cy="713232"/>
          </a:xfrm>
          <a:prstGeom prst="rect">
            <a:avLst/>
          </a:prstGeom>
          <a:solidFill>
            <a:srgbClr val="192C20"/>
          </a:solidFill>
          <a:ln/>
          <a:effectLst>
            <a:outerShdw sx="100000" sy="100000" kx="0" ky="0" algn="bl" rotWithShape="0" blurRad="38100" dist="12700" dir="16200000">
              <a:srgbClr val="000000">
                <a:alpha val="15000"/>
              </a:srgbClr>
            </a:outerShdw>
          </a:effectLst>
        </p:spPr>
      </p:sp>
      <p:sp>
        <p:nvSpPr>
          <p:cNvPr id="8" name="Shape 5"/>
          <p:cNvSpPr/>
          <p:nvPr/>
        </p:nvSpPr>
        <p:spPr>
          <a:xfrm>
            <a:off x="365760" y="1298448"/>
            <a:ext cx="73152" cy="713232"/>
          </a:xfrm>
          <a:prstGeom prst="rect">
            <a:avLst/>
          </a:prstGeom>
          <a:solidFill>
            <a:srgbClr val="00C4B4"/>
          </a:solidFill>
          <a:ln/>
        </p:spPr>
      </p:sp>
      <p:sp>
        <p:nvSpPr>
          <p:cNvPr id="9" name="Text 6"/>
          <p:cNvSpPr/>
          <p:nvPr/>
        </p:nvSpPr>
        <p:spPr>
          <a:xfrm>
            <a:off x="530352" y="1344168"/>
            <a:ext cx="8229600" cy="256032"/>
          </a:xfrm>
          <a:prstGeom prst="rect">
            <a:avLst/>
          </a:prstGeom>
          <a:noFill/>
          <a:ln/>
        </p:spPr>
        <p:txBody>
          <a:bodyPr wrap="square" rtlCol="0" anchor="ctr"/>
          <a:lstStyle/>
          <a:p>
            <a:pPr indent="0" marL="0">
              <a:buNone/>
            </a:pPr>
            <a:r>
              <a:rPr lang="en-US" sz="1300" b="1" dirty="0">
                <a:solidFill>
                  <a:srgbClr val="00C4B4"/>
                </a:solidFill>
                <a:latin typeface="Consolas" pitchFamily="34" charset="0"/>
                <a:ea typeface="Consolas" pitchFamily="34" charset="-122"/>
                <a:cs typeface="Consolas" pitchFamily="34" charset="-120"/>
              </a:rPr>
              <a:t>/debug/retrieve?q=</a:t>
            </a:r>
            <a:endParaRPr lang="en-US" sz="1300" dirty="0"/>
          </a:p>
        </p:txBody>
      </p:sp>
      <p:sp>
        <p:nvSpPr>
          <p:cNvPr id="10" name="Text 7"/>
          <p:cNvSpPr/>
          <p:nvPr/>
        </p:nvSpPr>
        <p:spPr>
          <a:xfrm>
            <a:off x="530352" y="1645920"/>
            <a:ext cx="8229600" cy="274320"/>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Test Weaviate nearText retrieval only — no LLM. If empty, fix Weaviate/text2vec first.</a:t>
            </a:r>
            <a:endParaRPr lang="en-US" sz="1200" dirty="0"/>
          </a:p>
        </p:txBody>
      </p:sp>
      <p:sp>
        <p:nvSpPr>
          <p:cNvPr id="11" name="Shape 8"/>
          <p:cNvSpPr/>
          <p:nvPr/>
        </p:nvSpPr>
        <p:spPr>
          <a:xfrm>
            <a:off x="365760" y="2139696"/>
            <a:ext cx="8412480" cy="713232"/>
          </a:xfrm>
          <a:prstGeom prst="rect">
            <a:avLst/>
          </a:prstGeom>
          <a:solidFill>
            <a:srgbClr val="192C20"/>
          </a:solidFill>
          <a:ln/>
          <a:effectLst>
            <a:outerShdw sx="100000" sy="100000" kx="0" ky="0" algn="bl" rotWithShape="0" blurRad="38100" dist="12700" dir="16200000">
              <a:srgbClr val="000000">
                <a:alpha val="15000"/>
              </a:srgbClr>
            </a:outerShdw>
          </a:effectLst>
        </p:spPr>
      </p:sp>
      <p:sp>
        <p:nvSpPr>
          <p:cNvPr id="12" name="Shape 9"/>
          <p:cNvSpPr/>
          <p:nvPr/>
        </p:nvSpPr>
        <p:spPr>
          <a:xfrm>
            <a:off x="365760" y="2139696"/>
            <a:ext cx="73152" cy="713232"/>
          </a:xfrm>
          <a:prstGeom prst="rect">
            <a:avLst/>
          </a:prstGeom>
          <a:solidFill>
            <a:srgbClr val="00C4B4"/>
          </a:solidFill>
          <a:ln/>
        </p:spPr>
      </p:sp>
      <p:sp>
        <p:nvSpPr>
          <p:cNvPr id="13" name="Text 10"/>
          <p:cNvSpPr/>
          <p:nvPr/>
        </p:nvSpPr>
        <p:spPr>
          <a:xfrm>
            <a:off x="530352" y="2185416"/>
            <a:ext cx="8229600" cy="256032"/>
          </a:xfrm>
          <a:prstGeom prst="rect">
            <a:avLst/>
          </a:prstGeom>
          <a:noFill/>
          <a:ln/>
        </p:spPr>
        <p:txBody>
          <a:bodyPr wrap="square" rtlCol="0" anchor="ctr"/>
          <a:lstStyle/>
          <a:p>
            <a:pPr indent="0" marL="0">
              <a:buNone/>
            </a:pPr>
            <a:r>
              <a:rPr lang="en-US" sz="1300" b="1" dirty="0">
                <a:solidFill>
                  <a:srgbClr val="00C4B4"/>
                </a:solidFill>
                <a:latin typeface="Consolas" pitchFamily="34" charset="0"/>
                <a:ea typeface="Consolas" pitchFamily="34" charset="-122"/>
                <a:cs typeface="Consolas" pitchFamily="34" charset="-120"/>
              </a:rPr>
              <a:t>/debug/prompt</a:t>
            </a:r>
            <a:endParaRPr lang="en-US" sz="1300" dirty="0"/>
          </a:p>
        </p:txBody>
      </p:sp>
      <p:sp>
        <p:nvSpPr>
          <p:cNvPr id="14" name="Text 11"/>
          <p:cNvSpPr/>
          <p:nvPr/>
        </p:nvSpPr>
        <p:spPr>
          <a:xfrm>
            <a:off x="530352" y="2487168"/>
            <a:ext cx="8229600" cy="274320"/>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Inspect the exact prompt. Confirms Weaviate objects are included as sources with distance scores.</a:t>
            </a:r>
            <a:endParaRPr lang="en-US" sz="1200" dirty="0"/>
          </a:p>
        </p:txBody>
      </p:sp>
      <p:sp>
        <p:nvSpPr>
          <p:cNvPr id="15" name="Shape 12"/>
          <p:cNvSpPr/>
          <p:nvPr/>
        </p:nvSpPr>
        <p:spPr>
          <a:xfrm>
            <a:off x="365760" y="2980944"/>
            <a:ext cx="8412480" cy="713232"/>
          </a:xfrm>
          <a:prstGeom prst="rect">
            <a:avLst/>
          </a:prstGeom>
          <a:solidFill>
            <a:srgbClr val="192C20"/>
          </a:solidFill>
          <a:ln/>
          <a:effectLst>
            <a:outerShdw sx="100000" sy="100000" kx="0" ky="0" algn="bl" rotWithShape="0" blurRad="38100" dist="12700" dir="16200000">
              <a:srgbClr val="000000">
                <a:alpha val="15000"/>
              </a:srgbClr>
            </a:outerShdw>
          </a:effectLst>
        </p:spPr>
      </p:sp>
      <p:sp>
        <p:nvSpPr>
          <p:cNvPr id="16" name="Shape 13"/>
          <p:cNvSpPr/>
          <p:nvPr/>
        </p:nvSpPr>
        <p:spPr>
          <a:xfrm>
            <a:off x="365760" y="2980944"/>
            <a:ext cx="73152" cy="713232"/>
          </a:xfrm>
          <a:prstGeom prst="rect">
            <a:avLst/>
          </a:prstGeom>
          <a:solidFill>
            <a:srgbClr val="008B80"/>
          </a:solidFill>
          <a:ln/>
        </p:spPr>
      </p:sp>
      <p:sp>
        <p:nvSpPr>
          <p:cNvPr id="17" name="Text 14"/>
          <p:cNvSpPr/>
          <p:nvPr/>
        </p:nvSpPr>
        <p:spPr>
          <a:xfrm>
            <a:off x="530352" y="3026664"/>
            <a:ext cx="8229600" cy="256032"/>
          </a:xfrm>
          <a:prstGeom prst="rect">
            <a:avLst/>
          </a:prstGeom>
          <a:noFill/>
          <a:ln/>
        </p:spPr>
        <p:txBody>
          <a:bodyPr wrap="square" rtlCol="0" anchor="ctr"/>
          <a:lstStyle/>
          <a:p>
            <a:pPr indent="0" marL="0">
              <a:buNone/>
            </a:pPr>
            <a:r>
              <a:rPr lang="en-US" sz="1300" b="1" dirty="0">
                <a:solidFill>
                  <a:srgbClr val="008B80"/>
                </a:solidFill>
                <a:latin typeface="Consolas" pitchFamily="34" charset="0"/>
                <a:ea typeface="Consolas" pitchFamily="34" charset="-122"/>
                <a:cs typeface="Consolas" pitchFamily="34" charset="-120"/>
              </a:rPr>
              <a:t>/debug/ollama</a:t>
            </a:r>
            <a:endParaRPr lang="en-US" sz="1300" dirty="0"/>
          </a:p>
        </p:txBody>
      </p:sp>
      <p:sp>
        <p:nvSpPr>
          <p:cNvPr id="18" name="Text 15"/>
          <p:cNvSpPr/>
          <p:nvPr/>
        </p:nvSpPr>
        <p:spPr>
          <a:xfrm>
            <a:off x="530352" y="3328416"/>
            <a:ext cx="8229600" cy="274320"/>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Test Ollama generation in isolation. If slow, problem is model size or memory — not Weaviate.</a:t>
            </a:r>
            <a:endParaRPr lang="en-US" sz="1200" dirty="0"/>
          </a:p>
        </p:txBody>
      </p:sp>
      <p:sp>
        <p:nvSpPr>
          <p:cNvPr id="19" name="Shape 16"/>
          <p:cNvSpPr/>
          <p:nvPr/>
        </p:nvSpPr>
        <p:spPr>
          <a:xfrm>
            <a:off x="365760" y="3822192"/>
            <a:ext cx="8412480" cy="713232"/>
          </a:xfrm>
          <a:prstGeom prst="rect">
            <a:avLst/>
          </a:prstGeom>
          <a:solidFill>
            <a:srgbClr val="192C20"/>
          </a:solidFill>
          <a:ln/>
          <a:effectLst>
            <a:outerShdw sx="100000" sy="100000" kx="0" ky="0" algn="bl" rotWithShape="0" blurRad="38100" dist="12700" dir="16200000">
              <a:srgbClr val="000000">
                <a:alpha val="15000"/>
              </a:srgbClr>
            </a:outerShdw>
          </a:effectLst>
        </p:spPr>
      </p:sp>
      <p:sp>
        <p:nvSpPr>
          <p:cNvPr id="20" name="Shape 17"/>
          <p:cNvSpPr/>
          <p:nvPr/>
        </p:nvSpPr>
        <p:spPr>
          <a:xfrm>
            <a:off x="365760" y="3822192"/>
            <a:ext cx="73152" cy="713232"/>
          </a:xfrm>
          <a:prstGeom prst="rect">
            <a:avLst/>
          </a:prstGeom>
          <a:solidFill>
            <a:srgbClr val="008B80"/>
          </a:solidFill>
          <a:ln/>
        </p:spPr>
      </p:sp>
      <p:sp>
        <p:nvSpPr>
          <p:cNvPr id="21" name="Text 18"/>
          <p:cNvSpPr/>
          <p:nvPr/>
        </p:nvSpPr>
        <p:spPr>
          <a:xfrm>
            <a:off x="530352" y="3867912"/>
            <a:ext cx="8229600" cy="256032"/>
          </a:xfrm>
          <a:prstGeom prst="rect">
            <a:avLst/>
          </a:prstGeom>
          <a:noFill/>
          <a:ln/>
        </p:spPr>
        <p:txBody>
          <a:bodyPr wrap="square" rtlCol="0" anchor="ctr"/>
          <a:lstStyle/>
          <a:p>
            <a:pPr indent="0" marL="0">
              <a:buNone/>
            </a:pPr>
            <a:r>
              <a:rPr lang="en-US" sz="1300" b="1" dirty="0">
                <a:solidFill>
                  <a:srgbClr val="008B80"/>
                </a:solidFill>
                <a:latin typeface="Consolas" pitchFamily="34" charset="0"/>
                <a:ea typeface="Consolas" pitchFamily="34" charset="-122"/>
                <a:cs typeface="Consolas" pitchFamily="34" charset="-120"/>
              </a:rPr>
              <a:t>/debug/chat</a:t>
            </a:r>
            <a:endParaRPr lang="en-US" sz="1300" dirty="0"/>
          </a:p>
        </p:txBody>
      </p:sp>
      <p:sp>
        <p:nvSpPr>
          <p:cNvPr id="22" name="Text 19"/>
          <p:cNvSpPr/>
          <p:nvPr/>
        </p:nvSpPr>
        <p:spPr>
          <a:xfrm>
            <a:off x="530352" y="4169664"/>
            <a:ext cx="8229600" cy="274320"/>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Full pipeline with timing. Shows retrieve ms + prompt ms + generate ms breakdown.</a:t>
            </a:r>
            <a:endParaRPr lang="en-US" sz="1200" dirty="0"/>
          </a:p>
        </p:txBody>
      </p:sp>
      <p:sp>
        <p:nvSpPr>
          <p:cNvPr id="23" name="Text 20"/>
          <p:cNvSpPr/>
          <p:nvPr/>
        </p:nvSpPr>
        <p:spPr>
          <a:xfrm>
            <a:off x="365760" y="4663440"/>
            <a:ext cx="8412480" cy="274320"/>
          </a:xfrm>
          <a:prstGeom prst="rect">
            <a:avLst/>
          </a:prstGeom>
          <a:noFill/>
          <a:ln/>
        </p:spPr>
        <p:txBody>
          <a:bodyPr wrap="square" rtlCol="0" anchor="ctr"/>
          <a:lstStyle/>
          <a:p>
            <a:pPr indent="0" marL="0">
              <a:buNone/>
            </a:pPr>
            <a:r>
              <a:rPr lang="en-US" sz="1200" i="1" dirty="0">
                <a:solidFill>
                  <a:srgbClr val="FFD166"/>
                </a:solidFill>
                <a:latin typeface="Calibri" pitchFamily="34" charset="0"/>
                <a:ea typeface="Calibri" pitchFamily="34" charset="-122"/>
                <a:cs typeface="Calibri" pitchFamily="34" charset="-120"/>
              </a:rPr>
              <a:t>If Weaviate retrieval returns empty: check docker logs weaviate and docker logs text2vec-transformers. Both must be healthy.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7 — RAG Chat (Part 1): The 6-Step Pipeline</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What happens inside /chat — Weaviate version:</a:t>
            </a:r>
            <a:endParaRPr lang="en-US" sz="1400" dirty="0"/>
          </a:p>
        </p:txBody>
      </p:sp>
      <p:sp>
        <p:nvSpPr>
          <p:cNvPr id="7" name="Shape 4"/>
          <p:cNvSpPr/>
          <p:nvPr/>
        </p:nvSpPr>
        <p:spPr>
          <a:xfrm>
            <a:off x="274320" y="1261872"/>
            <a:ext cx="2788920" cy="1417320"/>
          </a:xfrm>
          <a:prstGeom prst="rect">
            <a:avLst/>
          </a:prstGeom>
          <a:solidFill>
            <a:srgbClr val="008B80"/>
          </a:solidFill>
          <a:ln/>
          <a:effectLst>
            <a:outerShdw sx="100000" sy="100000" kx="0" ky="0" algn="bl" rotWithShape="0" blurRad="63500" dist="25400" dir="16200000">
              <a:srgbClr val="000000">
                <a:alpha val="12000"/>
              </a:srgbClr>
            </a:outerShdw>
          </a:effectLst>
        </p:spPr>
      </p:sp>
      <p:sp>
        <p:nvSpPr>
          <p:cNvPr id="8" name="Text 5"/>
          <p:cNvSpPr/>
          <p:nvPr/>
        </p:nvSpPr>
        <p:spPr>
          <a:xfrm>
            <a:off x="274320" y="1335024"/>
            <a:ext cx="278892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6"/>
          <p:cNvSpPr/>
          <p:nvPr/>
        </p:nvSpPr>
        <p:spPr>
          <a:xfrm>
            <a:off x="384048" y="1700784"/>
            <a:ext cx="2578608"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NGINX (Edge)</a:t>
            </a:r>
            <a:endParaRPr lang="en-US" sz="1300" dirty="0"/>
          </a:p>
        </p:txBody>
      </p:sp>
      <p:sp>
        <p:nvSpPr>
          <p:cNvPr id="10" name="Text 7"/>
          <p:cNvSpPr/>
          <p:nvPr/>
        </p:nvSpPr>
        <p:spPr>
          <a:xfrm>
            <a:off x="365760" y="2039112"/>
            <a:ext cx="2606040" cy="548640"/>
          </a:xfrm>
          <a:prstGeom prst="rect">
            <a:avLst/>
          </a:prstGeom>
          <a:noFill/>
          <a:ln/>
        </p:spPr>
        <p:txBody>
          <a:bodyPr wrap="square" rtlCol="0" anchor="ctr"/>
          <a:lstStyle/>
          <a:p>
            <a:pPr algn="ctr" indent="0" marL="0">
              <a:buNone/>
            </a:pPr>
            <a:r>
              <a:rPr lang="en-US" sz="1100" dirty="0">
                <a:solidFill>
                  <a:srgbClr val="D8ECEC"/>
                </a:solidFill>
                <a:latin typeface="Calibri" pitchFamily="34" charset="0"/>
                <a:ea typeface="Calibri" pitchFamily="34" charset="-122"/>
                <a:cs typeface="Calibri" pitchFamily="34" charset="-120"/>
              </a:rPr>
              <a:t>Checks X-API-Key. Rejects 401/403 before FastAPI is touched.</a:t>
            </a:r>
            <a:endParaRPr lang="en-US" sz="1100" dirty="0"/>
          </a:p>
        </p:txBody>
      </p:sp>
      <p:sp>
        <p:nvSpPr>
          <p:cNvPr id="11" name="Shape 8"/>
          <p:cNvSpPr/>
          <p:nvPr/>
        </p:nvSpPr>
        <p:spPr>
          <a:xfrm>
            <a:off x="3182112" y="1261872"/>
            <a:ext cx="2788920" cy="1417320"/>
          </a:xfrm>
          <a:prstGeom prst="rect">
            <a:avLst/>
          </a:prstGeom>
          <a:solidFill>
            <a:srgbClr val="00C4B4"/>
          </a:solidFill>
          <a:ln/>
          <a:effectLst>
            <a:outerShdw sx="100000" sy="100000" kx="0" ky="0" algn="bl" rotWithShape="0" blurRad="63500" dist="25400" dir="16200000">
              <a:srgbClr val="000000">
                <a:alpha val="12000"/>
              </a:srgbClr>
            </a:outerShdw>
          </a:effectLst>
        </p:spPr>
      </p:sp>
      <p:sp>
        <p:nvSpPr>
          <p:cNvPr id="12" name="Text 9"/>
          <p:cNvSpPr/>
          <p:nvPr/>
        </p:nvSpPr>
        <p:spPr>
          <a:xfrm>
            <a:off x="3182112" y="1335024"/>
            <a:ext cx="278892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0"/>
          <p:cNvSpPr/>
          <p:nvPr/>
        </p:nvSpPr>
        <p:spPr>
          <a:xfrm>
            <a:off x="3291840" y="1700784"/>
            <a:ext cx="2578608"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FastAPI (App)</a:t>
            </a:r>
            <a:endParaRPr lang="en-US" sz="1300" dirty="0"/>
          </a:p>
        </p:txBody>
      </p:sp>
      <p:sp>
        <p:nvSpPr>
          <p:cNvPr id="14" name="Text 11"/>
          <p:cNvSpPr/>
          <p:nvPr/>
        </p:nvSpPr>
        <p:spPr>
          <a:xfrm>
            <a:off x="3273552" y="2039112"/>
            <a:ext cx="2606040" cy="548640"/>
          </a:xfrm>
          <a:prstGeom prst="rect">
            <a:avLst/>
          </a:prstGeom>
          <a:noFill/>
          <a:ln/>
        </p:spPr>
        <p:txBody>
          <a:bodyPr wrap="square" rtlCol="0" anchor="ctr"/>
          <a:lstStyle/>
          <a:p>
            <a:pPr algn="ctr" indent="0" marL="0">
              <a:buNone/>
            </a:pPr>
            <a:r>
              <a:rPr lang="en-US" sz="1100" dirty="0">
                <a:solidFill>
                  <a:srgbClr val="D8ECEC"/>
                </a:solidFill>
                <a:latin typeface="Calibri" pitchFamily="34" charset="0"/>
                <a:ea typeface="Calibri" pitchFamily="34" charset="-122"/>
                <a:cs typeface="Calibri" pitchFamily="34" charset="-120"/>
              </a:rPr>
              <a:t>Validates ChatIn. Begins RAG pipeline orchestration.</a:t>
            </a:r>
            <a:endParaRPr lang="en-US" sz="1100" dirty="0"/>
          </a:p>
        </p:txBody>
      </p:sp>
      <p:sp>
        <p:nvSpPr>
          <p:cNvPr id="15" name="Shape 12"/>
          <p:cNvSpPr/>
          <p:nvPr/>
        </p:nvSpPr>
        <p:spPr>
          <a:xfrm>
            <a:off x="6089904" y="1261872"/>
            <a:ext cx="2788920" cy="1417320"/>
          </a:xfrm>
          <a:prstGeom prst="rect">
            <a:avLst/>
          </a:prstGeom>
          <a:solidFill>
            <a:srgbClr val="0D1B2A"/>
          </a:solidFill>
          <a:ln/>
          <a:effectLst>
            <a:outerShdw sx="100000" sy="100000" kx="0" ky="0" algn="bl" rotWithShape="0" blurRad="63500" dist="25400" dir="16200000">
              <a:srgbClr val="000000">
                <a:alpha val="12000"/>
              </a:srgbClr>
            </a:outerShdw>
          </a:effectLst>
        </p:spPr>
      </p:sp>
      <p:sp>
        <p:nvSpPr>
          <p:cNvPr id="16" name="Text 13"/>
          <p:cNvSpPr/>
          <p:nvPr/>
        </p:nvSpPr>
        <p:spPr>
          <a:xfrm>
            <a:off x="6089904" y="1335024"/>
            <a:ext cx="278892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4"/>
          <p:cNvSpPr/>
          <p:nvPr/>
        </p:nvSpPr>
        <p:spPr>
          <a:xfrm>
            <a:off x="6199632" y="1700784"/>
            <a:ext cx="2578608"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Weaviate GraphQL</a:t>
            </a:r>
            <a:endParaRPr lang="en-US" sz="1300" dirty="0"/>
          </a:p>
        </p:txBody>
      </p:sp>
      <p:sp>
        <p:nvSpPr>
          <p:cNvPr id="18" name="Text 15"/>
          <p:cNvSpPr/>
          <p:nvPr/>
        </p:nvSpPr>
        <p:spPr>
          <a:xfrm>
            <a:off x="6181344" y="2039112"/>
            <a:ext cx="2606040" cy="548640"/>
          </a:xfrm>
          <a:prstGeom prst="rect">
            <a:avLst/>
          </a:prstGeom>
          <a:noFill/>
          <a:ln/>
        </p:spPr>
        <p:txBody>
          <a:bodyPr wrap="square" rtlCol="0" anchor="ctr"/>
          <a:lstStyle/>
          <a:p>
            <a:pPr algn="ctr" indent="0" marL="0">
              <a:buNone/>
            </a:pPr>
            <a:r>
              <a:rPr lang="en-US" sz="1100" dirty="0">
                <a:solidFill>
                  <a:srgbClr val="D8ECEC"/>
                </a:solidFill>
                <a:latin typeface="Calibri" pitchFamily="34" charset="0"/>
                <a:ea typeface="Calibri" pitchFamily="34" charset="-122"/>
                <a:cs typeface="Calibri" pitchFamily="34" charset="-120"/>
              </a:rPr>
              <a:t>nearText query → text2vec auto-embeds → returns objects with distance scores</a:t>
            </a:r>
            <a:endParaRPr lang="en-US" sz="1100" dirty="0"/>
          </a:p>
        </p:txBody>
      </p:sp>
      <p:sp>
        <p:nvSpPr>
          <p:cNvPr id="19" name="Shape 16"/>
          <p:cNvSpPr/>
          <p:nvPr/>
        </p:nvSpPr>
        <p:spPr>
          <a:xfrm>
            <a:off x="274320" y="2862072"/>
            <a:ext cx="2788920" cy="1417320"/>
          </a:xfrm>
          <a:prstGeom prst="rect">
            <a:avLst/>
          </a:prstGeom>
          <a:solidFill>
            <a:srgbClr val="008B80"/>
          </a:solidFill>
          <a:ln/>
          <a:effectLst>
            <a:outerShdw sx="100000" sy="100000" kx="0" ky="0" algn="bl" rotWithShape="0" blurRad="63500" dist="25400" dir="16200000">
              <a:srgbClr val="000000">
                <a:alpha val="12000"/>
              </a:srgbClr>
            </a:outerShdw>
          </a:effectLst>
        </p:spPr>
      </p:sp>
      <p:sp>
        <p:nvSpPr>
          <p:cNvPr id="20" name="Text 17"/>
          <p:cNvSpPr/>
          <p:nvPr/>
        </p:nvSpPr>
        <p:spPr>
          <a:xfrm>
            <a:off x="274320" y="2935224"/>
            <a:ext cx="278892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1" name="Text 18"/>
          <p:cNvSpPr/>
          <p:nvPr/>
        </p:nvSpPr>
        <p:spPr>
          <a:xfrm>
            <a:off x="384048" y="3300984"/>
            <a:ext cx="2578608"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Prompt Builder</a:t>
            </a:r>
            <a:endParaRPr lang="en-US" sz="1300" dirty="0"/>
          </a:p>
        </p:txBody>
      </p:sp>
      <p:sp>
        <p:nvSpPr>
          <p:cNvPr id="22" name="Text 19"/>
          <p:cNvSpPr/>
          <p:nvPr/>
        </p:nvSpPr>
        <p:spPr>
          <a:xfrm>
            <a:off x="365760" y="3639312"/>
            <a:ext cx="2606040" cy="548640"/>
          </a:xfrm>
          <a:prstGeom prst="rect">
            <a:avLst/>
          </a:prstGeom>
          <a:noFill/>
          <a:ln/>
        </p:spPr>
        <p:txBody>
          <a:bodyPr wrap="square" rtlCol="0" anchor="ctr"/>
          <a:lstStyle/>
          <a:p>
            <a:pPr algn="ctr" indent="0" marL="0">
              <a:buNone/>
            </a:pPr>
            <a:r>
              <a:rPr lang="en-US" sz="1100" dirty="0">
                <a:solidFill>
                  <a:srgbClr val="D8ECEC"/>
                </a:solidFill>
                <a:latin typeface="Calibri" pitchFamily="34" charset="0"/>
                <a:ea typeface="Calibri" pitchFamily="34" charset="-122"/>
                <a:cs typeface="Calibri" pitchFamily="34" charset="-120"/>
              </a:rPr>
              <a:t>Assembles: instruction + question + Weaviate object excerpts.</a:t>
            </a:r>
            <a:endParaRPr lang="en-US" sz="1100" dirty="0"/>
          </a:p>
        </p:txBody>
      </p:sp>
      <p:sp>
        <p:nvSpPr>
          <p:cNvPr id="23" name="Shape 20"/>
          <p:cNvSpPr/>
          <p:nvPr/>
        </p:nvSpPr>
        <p:spPr>
          <a:xfrm>
            <a:off x="3182112" y="2862072"/>
            <a:ext cx="2788920" cy="1417320"/>
          </a:xfrm>
          <a:prstGeom prst="rect">
            <a:avLst/>
          </a:prstGeom>
          <a:solidFill>
            <a:srgbClr val="00C4B4"/>
          </a:solidFill>
          <a:ln/>
          <a:effectLst>
            <a:outerShdw sx="100000" sy="100000" kx="0" ky="0" algn="bl" rotWithShape="0" blurRad="63500" dist="25400" dir="16200000">
              <a:srgbClr val="000000">
                <a:alpha val="12000"/>
              </a:srgbClr>
            </a:outerShdw>
          </a:effectLst>
        </p:spPr>
      </p:sp>
      <p:sp>
        <p:nvSpPr>
          <p:cNvPr id="24" name="Text 21"/>
          <p:cNvSpPr/>
          <p:nvPr/>
        </p:nvSpPr>
        <p:spPr>
          <a:xfrm>
            <a:off x="3182112" y="2935224"/>
            <a:ext cx="278892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5" name="Text 22"/>
          <p:cNvSpPr/>
          <p:nvPr/>
        </p:nvSpPr>
        <p:spPr>
          <a:xfrm>
            <a:off x="3291840" y="3300984"/>
            <a:ext cx="2578608"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Ollama (Generate)</a:t>
            </a:r>
            <a:endParaRPr lang="en-US" sz="1300" dirty="0"/>
          </a:p>
        </p:txBody>
      </p:sp>
      <p:sp>
        <p:nvSpPr>
          <p:cNvPr id="26" name="Text 23"/>
          <p:cNvSpPr/>
          <p:nvPr/>
        </p:nvSpPr>
        <p:spPr>
          <a:xfrm>
            <a:off x="3273552" y="3639312"/>
            <a:ext cx="2606040" cy="548640"/>
          </a:xfrm>
          <a:prstGeom prst="rect">
            <a:avLst/>
          </a:prstGeom>
          <a:noFill/>
          <a:ln/>
        </p:spPr>
        <p:txBody>
          <a:bodyPr wrap="square" rtlCol="0" anchor="ctr"/>
          <a:lstStyle/>
          <a:p>
            <a:pPr algn="ctr" indent="0" marL="0">
              <a:buNone/>
            </a:pPr>
            <a:r>
              <a:rPr lang="en-US" sz="1100" dirty="0">
                <a:solidFill>
                  <a:srgbClr val="D8ECEC"/>
                </a:solidFill>
                <a:latin typeface="Calibri" pitchFamily="34" charset="0"/>
                <a:ea typeface="Calibri" pitchFamily="34" charset="-122"/>
                <a:cs typeface="Calibri" pitchFamily="34" charset="-120"/>
              </a:rPr>
              <a:t>Receives full prompt string. Runs local LLM. No DB access.</a:t>
            </a:r>
            <a:endParaRPr lang="en-US" sz="1100" dirty="0"/>
          </a:p>
        </p:txBody>
      </p:sp>
      <p:sp>
        <p:nvSpPr>
          <p:cNvPr id="27" name="Shape 24"/>
          <p:cNvSpPr/>
          <p:nvPr/>
        </p:nvSpPr>
        <p:spPr>
          <a:xfrm>
            <a:off x="6089904" y="2862072"/>
            <a:ext cx="2788920" cy="1417320"/>
          </a:xfrm>
          <a:prstGeom prst="rect">
            <a:avLst/>
          </a:prstGeom>
          <a:solidFill>
            <a:srgbClr val="0D1B2A"/>
          </a:solidFill>
          <a:ln/>
          <a:effectLst>
            <a:outerShdw sx="100000" sy="100000" kx="0" ky="0" algn="bl" rotWithShape="0" blurRad="63500" dist="25400" dir="16200000">
              <a:srgbClr val="000000">
                <a:alpha val="12000"/>
              </a:srgbClr>
            </a:outerShdw>
          </a:effectLst>
        </p:spPr>
      </p:sp>
      <p:sp>
        <p:nvSpPr>
          <p:cNvPr id="28" name="Text 25"/>
          <p:cNvSpPr/>
          <p:nvPr/>
        </p:nvSpPr>
        <p:spPr>
          <a:xfrm>
            <a:off x="6089904" y="2935224"/>
            <a:ext cx="278892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29" name="Text 26"/>
          <p:cNvSpPr/>
          <p:nvPr/>
        </p:nvSpPr>
        <p:spPr>
          <a:xfrm>
            <a:off x="6199632" y="3300984"/>
            <a:ext cx="2578608"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Response</a:t>
            </a:r>
            <a:endParaRPr lang="en-US" sz="1300" dirty="0"/>
          </a:p>
        </p:txBody>
      </p:sp>
      <p:sp>
        <p:nvSpPr>
          <p:cNvPr id="30" name="Text 27"/>
          <p:cNvSpPr/>
          <p:nvPr/>
        </p:nvSpPr>
        <p:spPr>
          <a:xfrm>
            <a:off x="6181344" y="3639312"/>
            <a:ext cx="2606040" cy="548640"/>
          </a:xfrm>
          <a:prstGeom prst="rect">
            <a:avLst/>
          </a:prstGeom>
          <a:noFill/>
          <a:ln/>
        </p:spPr>
        <p:txBody>
          <a:bodyPr wrap="square" rtlCol="0" anchor="ctr"/>
          <a:lstStyle/>
          <a:p>
            <a:pPr algn="ctr" indent="0" marL="0">
              <a:buNone/>
            </a:pPr>
            <a:r>
              <a:rPr lang="en-US" sz="1100" dirty="0">
                <a:solidFill>
                  <a:srgbClr val="D8ECEC"/>
                </a:solidFill>
                <a:latin typeface="Calibri" pitchFamily="34" charset="0"/>
                <a:ea typeface="Calibri" pitchFamily="34" charset="-122"/>
                <a:cs typeface="Calibri" pitchFamily="34" charset="-120"/>
              </a:rPr>
              <a:t>answer + sources (with distance scores) as JSON → Gradio or curl.</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7 — RAG Chat (Part 2): Pull Ollama + Debug Retrieval</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Pull the Ollama model (same as Lab 1):</a:t>
            </a:r>
            <a:endParaRPr lang="en-US" sz="1400" dirty="0"/>
          </a:p>
        </p:txBody>
      </p:sp>
      <p:sp>
        <p:nvSpPr>
          <p:cNvPr id="7" name="Shape 4"/>
          <p:cNvSpPr/>
          <p:nvPr/>
        </p:nvSpPr>
        <p:spPr>
          <a:xfrm>
            <a:off x="365760" y="1280160"/>
            <a:ext cx="8412480" cy="457200"/>
          </a:xfrm>
          <a:prstGeom prst="rect">
            <a:avLst/>
          </a:prstGeom>
          <a:solidFill>
            <a:srgbClr val="192C20"/>
          </a:solidFill>
          <a:ln/>
        </p:spPr>
      </p:sp>
      <p:sp>
        <p:nvSpPr>
          <p:cNvPr id="8" name="Text 5"/>
          <p:cNvSpPr/>
          <p:nvPr/>
        </p:nvSpPr>
        <p:spPr>
          <a:xfrm>
            <a:off x="502920" y="1298448"/>
            <a:ext cx="8229600" cy="420624"/>
          </a:xfrm>
          <a:prstGeom prst="rect">
            <a:avLst/>
          </a:prstGeom>
          <a:noFill/>
          <a:ln/>
        </p:spPr>
        <p:txBody>
          <a:bodyPr wrap="square" rtlCol="0" anchor="ctr"/>
          <a:lstStyle/>
          <a:p>
            <a:pPr indent="0" marL="0">
              <a:buNone/>
            </a:pPr>
            <a:r>
              <a:rPr lang="en-US" sz="1200" dirty="0">
                <a:solidFill>
                  <a:srgbClr val="00C4B4"/>
                </a:solidFill>
                <a:latin typeface="Consolas" pitchFamily="34" charset="0"/>
                <a:ea typeface="Consolas" pitchFamily="34" charset="-122"/>
                <a:cs typeface="Consolas" pitchFamily="34" charset="-120"/>
              </a:rPr>
              <a:t>OLLAMA_MODEL=llama3.2:1b  (set in .env)</a:t>
            </a:r>
            <a:endParaRPr lang="en-US" sz="1200" dirty="0"/>
          </a:p>
          <a:p>
            <a:pPr indent="0" marL="0">
              <a:buNone/>
            </a:pPr>
            <a:r>
              <a:rPr lang="en-US" sz="1200" dirty="0">
                <a:solidFill>
                  <a:srgbClr val="00C4B4"/>
                </a:solidFill>
                <a:latin typeface="Consolas" pitchFamily="34" charset="0"/>
                <a:ea typeface="Consolas" pitchFamily="34" charset="-122"/>
                <a:cs typeface="Consolas" pitchFamily="34" charset="-120"/>
              </a:rPr>
              <a:t>./bin/pull_model.sh</a:t>
            </a:r>
            <a:endParaRPr lang="en-US" sz="1200" dirty="0"/>
          </a:p>
        </p:txBody>
      </p:sp>
      <p:sp>
        <p:nvSpPr>
          <p:cNvPr id="9" name="Text 6"/>
          <p:cNvSpPr/>
          <p:nvPr/>
        </p:nvSpPr>
        <p:spPr>
          <a:xfrm>
            <a:off x="365760" y="1874520"/>
            <a:ext cx="841248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Debug Weaviate retrieval first:</a:t>
            </a:r>
            <a:endParaRPr lang="en-US" sz="1400" dirty="0"/>
          </a:p>
        </p:txBody>
      </p:sp>
      <p:sp>
        <p:nvSpPr>
          <p:cNvPr id="10" name="Shape 7"/>
          <p:cNvSpPr/>
          <p:nvPr/>
        </p:nvSpPr>
        <p:spPr>
          <a:xfrm>
            <a:off x="365760" y="2240280"/>
            <a:ext cx="8412480" cy="438912"/>
          </a:xfrm>
          <a:prstGeom prst="rect">
            <a:avLst/>
          </a:prstGeom>
          <a:solidFill>
            <a:srgbClr val="192C20"/>
          </a:solidFill>
          <a:ln/>
        </p:spPr>
      </p:sp>
      <p:sp>
        <p:nvSpPr>
          <p:cNvPr id="11" name="Text 8"/>
          <p:cNvSpPr/>
          <p:nvPr/>
        </p:nvSpPr>
        <p:spPr>
          <a:xfrm>
            <a:off x="502920" y="2258568"/>
            <a:ext cx="8229600" cy="402336"/>
          </a:xfrm>
          <a:prstGeom prst="rect">
            <a:avLst/>
          </a:prstGeom>
          <a:noFill/>
          <a:ln/>
        </p:spPr>
        <p:txBody>
          <a:bodyPr wrap="square" rtlCol="0" anchor="ctr"/>
          <a:lstStyle/>
          <a:p>
            <a:pPr indent="0" marL="0">
              <a:buNone/>
            </a:pPr>
            <a:r>
              <a:rPr lang="en-US" sz="1100" dirty="0">
                <a:solidFill>
                  <a:srgbClr val="00C4B4"/>
                </a:solidFill>
                <a:latin typeface="Consolas" pitchFamily="34" charset="0"/>
                <a:ea typeface="Consolas" pitchFamily="34" charset="-122"/>
                <a:cs typeface="Consolas" pitchFamily="34" charset="-120"/>
              </a:rPr>
              <a:t>curl -sS -G http://localhost:8088/debug/retrieve -H "X-API-Key: $EDGE_API_KEY" --data-urlencode "q=CIA triad" | python -m json.tool</a:t>
            </a:r>
            <a:endParaRPr lang="en-US" sz="1100" dirty="0"/>
          </a:p>
        </p:txBody>
      </p:sp>
      <p:sp>
        <p:nvSpPr>
          <p:cNvPr id="12" name="Text 9"/>
          <p:cNvSpPr/>
          <p:nvPr/>
        </p:nvSpPr>
        <p:spPr>
          <a:xfrm>
            <a:off x="365760" y="283464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How to interpret Weaviate distance scores:</a:t>
            </a:r>
            <a:endParaRPr lang="en-US" sz="1400" dirty="0"/>
          </a:p>
        </p:txBody>
      </p:sp>
      <p:sp>
        <p:nvSpPr>
          <p:cNvPr id="13" name="Shape 10"/>
          <p:cNvSpPr/>
          <p:nvPr/>
        </p:nvSpPr>
        <p:spPr>
          <a:xfrm>
            <a:off x="365760" y="3246120"/>
            <a:ext cx="8412480" cy="320040"/>
          </a:xfrm>
          <a:prstGeom prst="rect">
            <a:avLst/>
          </a:prstGeom>
          <a:solidFill>
            <a:srgbClr val="192C20"/>
          </a:solidFill>
          <a:ln/>
        </p:spPr>
      </p:sp>
      <p:sp>
        <p:nvSpPr>
          <p:cNvPr id="14" name="Text 11"/>
          <p:cNvSpPr/>
          <p:nvPr/>
        </p:nvSpPr>
        <p:spPr>
          <a:xfrm>
            <a:off x="502920" y="3246120"/>
            <a:ext cx="2011680" cy="320040"/>
          </a:xfrm>
          <a:prstGeom prst="rect">
            <a:avLst/>
          </a:prstGeom>
          <a:noFill/>
          <a:ln/>
        </p:spPr>
        <p:txBody>
          <a:bodyPr wrap="square" rtlCol="0" anchor="ctr"/>
          <a:lstStyle/>
          <a:p>
            <a:pPr indent="0" marL="0">
              <a:buNone/>
            </a:pPr>
            <a:r>
              <a:rPr lang="en-US" sz="1200" b="1" dirty="0">
                <a:solidFill>
                  <a:srgbClr val="2DC653"/>
                </a:solidFill>
                <a:latin typeface="Consolas" pitchFamily="34" charset="0"/>
                <a:ea typeface="Consolas" pitchFamily="34" charset="-122"/>
                <a:cs typeface="Consolas" pitchFamily="34" charset="-120"/>
              </a:rPr>
              <a:t>distance &lt; 0.2</a:t>
            </a:r>
            <a:endParaRPr lang="en-US" sz="1200" dirty="0"/>
          </a:p>
        </p:txBody>
      </p:sp>
      <p:sp>
        <p:nvSpPr>
          <p:cNvPr id="15" name="Text 12"/>
          <p:cNvSpPr/>
          <p:nvPr/>
        </p:nvSpPr>
        <p:spPr>
          <a:xfrm>
            <a:off x="2606040" y="3246120"/>
            <a:ext cx="6035040" cy="320040"/>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Excellent match — very semantically similar</a:t>
            </a:r>
            <a:endParaRPr lang="en-US" sz="1200" dirty="0"/>
          </a:p>
        </p:txBody>
      </p:sp>
      <p:sp>
        <p:nvSpPr>
          <p:cNvPr id="16" name="Shape 13"/>
          <p:cNvSpPr/>
          <p:nvPr/>
        </p:nvSpPr>
        <p:spPr>
          <a:xfrm>
            <a:off x="365760" y="3630168"/>
            <a:ext cx="8412480" cy="320040"/>
          </a:xfrm>
          <a:prstGeom prst="rect">
            <a:avLst/>
          </a:prstGeom>
          <a:solidFill>
            <a:srgbClr val="192C20"/>
          </a:solidFill>
          <a:ln/>
        </p:spPr>
      </p:sp>
      <p:sp>
        <p:nvSpPr>
          <p:cNvPr id="17" name="Text 14"/>
          <p:cNvSpPr/>
          <p:nvPr/>
        </p:nvSpPr>
        <p:spPr>
          <a:xfrm>
            <a:off x="502920" y="3630168"/>
            <a:ext cx="2011680" cy="320040"/>
          </a:xfrm>
          <a:prstGeom prst="rect">
            <a:avLst/>
          </a:prstGeom>
          <a:noFill/>
          <a:ln/>
        </p:spPr>
        <p:txBody>
          <a:bodyPr wrap="square" rtlCol="0" anchor="ctr"/>
          <a:lstStyle/>
          <a:p>
            <a:pPr indent="0" marL="0">
              <a:buNone/>
            </a:pPr>
            <a:r>
              <a:rPr lang="en-US" sz="1200" b="1" dirty="0">
                <a:solidFill>
                  <a:srgbClr val="00C4B4"/>
                </a:solidFill>
                <a:latin typeface="Consolas" pitchFamily="34" charset="0"/>
                <a:ea typeface="Consolas" pitchFamily="34" charset="-122"/>
                <a:cs typeface="Consolas" pitchFamily="34" charset="-120"/>
              </a:rPr>
              <a:t>0.2 – 0.5</a:t>
            </a:r>
            <a:endParaRPr lang="en-US" sz="1200" dirty="0"/>
          </a:p>
        </p:txBody>
      </p:sp>
      <p:sp>
        <p:nvSpPr>
          <p:cNvPr id="18" name="Text 15"/>
          <p:cNvSpPr/>
          <p:nvPr/>
        </p:nvSpPr>
        <p:spPr>
          <a:xfrm>
            <a:off x="2606040" y="3630168"/>
            <a:ext cx="6035040" cy="320040"/>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Good match — relevant content</a:t>
            </a:r>
            <a:endParaRPr lang="en-US" sz="1200" dirty="0"/>
          </a:p>
        </p:txBody>
      </p:sp>
      <p:sp>
        <p:nvSpPr>
          <p:cNvPr id="19" name="Shape 16"/>
          <p:cNvSpPr/>
          <p:nvPr/>
        </p:nvSpPr>
        <p:spPr>
          <a:xfrm>
            <a:off x="365760" y="4014216"/>
            <a:ext cx="8412480" cy="320040"/>
          </a:xfrm>
          <a:prstGeom prst="rect">
            <a:avLst/>
          </a:prstGeom>
          <a:solidFill>
            <a:srgbClr val="192C20"/>
          </a:solidFill>
          <a:ln/>
        </p:spPr>
      </p:sp>
      <p:sp>
        <p:nvSpPr>
          <p:cNvPr id="20" name="Text 17"/>
          <p:cNvSpPr/>
          <p:nvPr/>
        </p:nvSpPr>
        <p:spPr>
          <a:xfrm>
            <a:off x="502920" y="4014216"/>
            <a:ext cx="2011680" cy="320040"/>
          </a:xfrm>
          <a:prstGeom prst="rect">
            <a:avLst/>
          </a:prstGeom>
          <a:noFill/>
          <a:ln/>
        </p:spPr>
        <p:txBody>
          <a:bodyPr wrap="square" rtlCol="0" anchor="ctr"/>
          <a:lstStyle/>
          <a:p>
            <a:pPr indent="0" marL="0">
              <a:buNone/>
            </a:pPr>
            <a:r>
              <a:rPr lang="en-US" sz="1200" b="1" dirty="0">
                <a:solidFill>
                  <a:srgbClr val="FFD166"/>
                </a:solidFill>
                <a:latin typeface="Consolas" pitchFamily="34" charset="0"/>
                <a:ea typeface="Consolas" pitchFamily="34" charset="-122"/>
                <a:cs typeface="Consolas" pitchFamily="34" charset="-120"/>
              </a:rPr>
              <a:t>0.5 – 1.0</a:t>
            </a:r>
            <a:endParaRPr lang="en-US" sz="1200" dirty="0"/>
          </a:p>
        </p:txBody>
      </p:sp>
      <p:sp>
        <p:nvSpPr>
          <p:cNvPr id="21" name="Text 18"/>
          <p:cNvSpPr/>
          <p:nvPr/>
        </p:nvSpPr>
        <p:spPr>
          <a:xfrm>
            <a:off x="2606040" y="4014216"/>
            <a:ext cx="6035040" cy="320040"/>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Acceptable — some relevance</a:t>
            </a:r>
            <a:endParaRPr lang="en-US" sz="1200" dirty="0"/>
          </a:p>
        </p:txBody>
      </p:sp>
      <p:sp>
        <p:nvSpPr>
          <p:cNvPr id="22" name="Shape 19"/>
          <p:cNvSpPr/>
          <p:nvPr/>
        </p:nvSpPr>
        <p:spPr>
          <a:xfrm>
            <a:off x="365760" y="4398264"/>
            <a:ext cx="8412480" cy="320040"/>
          </a:xfrm>
          <a:prstGeom prst="rect">
            <a:avLst/>
          </a:prstGeom>
          <a:solidFill>
            <a:srgbClr val="192C20"/>
          </a:solidFill>
          <a:ln/>
        </p:spPr>
      </p:sp>
      <p:sp>
        <p:nvSpPr>
          <p:cNvPr id="23" name="Text 20"/>
          <p:cNvSpPr/>
          <p:nvPr/>
        </p:nvSpPr>
        <p:spPr>
          <a:xfrm>
            <a:off x="502920" y="4398264"/>
            <a:ext cx="2011680" cy="320040"/>
          </a:xfrm>
          <a:prstGeom prst="rect">
            <a:avLst/>
          </a:prstGeom>
          <a:noFill/>
          <a:ln/>
        </p:spPr>
        <p:txBody>
          <a:bodyPr wrap="square" rtlCol="0" anchor="ctr"/>
          <a:lstStyle/>
          <a:p>
            <a:pPr indent="0" marL="0">
              <a:buNone/>
            </a:pPr>
            <a:r>
              <a:rPr lang="en-US" sz="1200" b="1" dirty="0">
                <a:solidFill>
                  <a:srgbClr val="E63946"/>
                </a:solidFill>
                <a:latin typeface="Consolas" pitchFamily="34" charset="0"/>
                <a:ea typeface="Consolas" pitchFamily="34" charset="-122"/>
                <a:cs typeface="Consolas" pitchFamily="34" charset="-120"/>
              </a:rPr>
              <a:t>distance &gt; 1.0</a:t>
            </a:r>
            <a:endParaRPr lang="en-US" sz="1200" dirty="0"/>
          </a:p>
        </p:txBody>
      </p:sp>
      <p:sp>
        <p:nvSpPr>
          <p:cNvPr id="24" name="Text 21"/>
          <p:cNvSpPr/>
          <p:nvPr/>
        </p:nvSpPr>
        <p:spPr>
          <a:xfrm>
            <a:off x="2606040" y="4398264"/>
            <a:ext cx="6035040" cy="320040"/>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Poor match — likely irrelevant</a:t>
            </a:r>
            <a:endParaRPr lang="en-US" sz="1200" dirty="0"/>
          </a:p>
        </p:txBody>
      </p:sp>
      <p:sp>
        <p:nvSpPr>
          <p:cNvPr id="25" name="Text 22"/>
          <p:cNvSpPr/>
          <p:nvPr/>
        </p:nvSpPr>
        <p:spPr>
          <a:xfrm>
            <a:off x="365760" y="4818888"/>
            <a:ext cx="8412480" cy="256032"/>
          </a:xfrm>
          <a:prstGeom prst="rect">
            <a:avLst/>
          </a:prstGeom>
          <a:noFill/>
          <a:ln/>
        </p:spPr>
        <p:txBody>
          <a:bodyPr wrap="square" rtlCol="0" anchor="ctr"/>
          <a:lstStyle/>
          <a:p>
            <a:pPr indent="0" marL="0">
              <a:buNone/>
            </a:pPr>
            <a:r>
              <a:rPr lang="en-US" sz="1150" i="1" dirty="0">
                <a:solidFill>
                  <a:srgbClr val="F4A261"/>
                </a:solidFill>
                <a:latin typeface="Calibri" pitchFamily="34" charset="0"/>
                <a:ea typeface="Calibri" pitchFamily="34" charset="-122"/>
                <a:cs typeface="Calibri" pitchFamily="34" charset="-120"/>
              </a:rPr>
              <a:t>⚠ Remember: Weaviate distance and Qdrant similarity are OPPOSITE scales. Lower distance ≠ lower quality.</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7 — RAG Chat (Part 3): Grounding + RAG_TOP_K Tuning</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Grounding in the Weaviate version:</a:t>
            </a:r>
            <a:endParaRPr lang="en-US" sz="1400" dirty="0"/>
          </a:p>
        </p:txBody>
      </p:sp>
      <p:sp>
        <p:nvSpPr>
          <p:cNvPr id="7" name="Text 4"/>
          <p:cNvSpPr/>
          <p:nvPr/>
        </p:nvSpPr>
        <p:spPr>
          <a:xfrm>
            <a:off x="320040" y="1234440"/>
            <a:ext cx="850392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The prompt includes Weaviate object excerpts + instruction: 'answer using ONLY the provided sources'</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Sources returned in response include: title, url, source, distance score</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Distance score helps you audit: did the system retrieve relevant content, or did it pull weak matches?</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Sources with distance &gt; 0.8 may indicate the query didn't match well — consider rephrasing</a:t>
            </a:r>
            <a:endParaRPr lang="en-US" sz="1300" dirty="0"/>
          </a:p>
        </p:txBody>
      </p:sp>
      <p:sp>
        <p:nvSpPr>
          <p:cNvPr id="8" name="Text 5"/>
          <p:cNvSpPr/>
          <p:nvPr/>
        </p:nvSpPr>
        <p:spPr>
          <a:xfrm>
            <a:off x="320040" y="2487168"/>
            <a:ext cx="850392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RAG_TOP_K tradeoffs (same as Lab 1):</a:t>
            </a:r>
            <a:endParaRPr lang="en-US" sz="1400" dirty="0"/>
          </a:p>
        </p:txBody>
      </p:sp>
      <p:sp>
        <p:nvSpPr>
          <p:cNvPr id="9" name="Shape 6"/>
          <p:cNvSpPr/>
          <p:nvPr/>
        </p:nvSpPr>
        <p:spPr>
          <a:xfrm>
            <a:off x="320040" y="2880360"/>
            <a:ext cx="2788920" cy="1737360"/>
          </a:xfrm>
          <a:prstGeom prst="rect">
            <a:avLst/>
          </a:prstGeom>
          <a:solidFill>
            <a:srgbClr val="008B80"/>
          </a:solidFill>
          <a:ln/>
          <a:effectLst>
            <a:outerShdw sx="100000" sy="100000" kx="0" ky="0" algn="bl" rotWithShape="0" blurRad="50800" dist="25400" dir="16200000">
              <a:srgbClr val="000000">
                <a:alpha val="12000"/>
              </a:srgbClr>
            </a:outerShdw>
          </a:effectLst>
        </p:spPr>
      </p:sp>
      <p:sp>
        <p:nvSpPr>
          <p:cNvPr id="10" name="Text 7"/>
          <p:cNvSpPr/>
          <p:nvPr/>
        </p:nvSpPr>
        <p:spPr>
          <a:xfrm>
            <a:off x="411480" y="2944368"/>
            <a:ext cx="2606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RAG_TOP_K = 2</a:t>
            </a:r>
            <a:endParaRPr lang="en-US" sz="1300" dirty="0"/>
          </a:p>
        </p:txBody>
      </p:sp>
      <p:sp>
        <p:nvSpPr>
          <p:cNvPr id="11" name="Text 8"/>
          <p:cNvSpPr/>
          <p:nvPr/>
        </p:nvSpPr>
        <p:spPr>
          <a:xfrm>
            <a:off x="411480" y="3310128"/>
            <a:ext cx="2606040" cy="41148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 Fast, focused, less noise</a:t>
            </a:r>
            <a:endParaRPr lang="en-US" sz="1150" dirty="0"/>
          </a:p>
        </p:txBody>
      </p:sp>
      <p:sp>
        <p:nvSpPr>
          <p:cNvPr id="12" name="Text 9"/>
          <p:cNvSpPr/>
          <p:nvPr/>
        </p:nvSpPr>
        <p:spPr>
          <a:xfrm>
            <a:off x="411480" y="3767328"/>
            <a:ext cx="2606040" cy="41148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 May miss key context</a:t>
            </a:r>
            <a:endParaRPr lang="en-US" sz="1150" dirty="0"/>
          </a:p>
        </p:txBody>
      </p:sp>
      <p:sp>
        <p:nvSpPr>
          <p:cNvPr id="13" name="Shape 10"/>
          <p:cNvSpPr/>
          <p:nvPr/>
        </p:nvSpPr>
        <p:spPr>
          <a:xfrm>
            <a:off x="3227832" y="2880360"/>
            <a:ext cx="2788920" cy="1737360"/>
          </a:xfrm>
          <a:prstGeom prst="rect">
            <a:avLst/>
          </a:prstGeom>
          <a:solidFill>
            <a:srgbClr val="00C4B4"/>
          </a:solidFill>
          <a:ln/>
          <a:effectLst>
            <a:outerShdw sx="100000" sy="100000" kx="0" ky="0" algn="bl" rotWithShape="0" blurRad="50800" dist="25400" dir="16200000">
              <a:srgbClr val="000000">
                <a:alpha val="12000"/>
              </a:srgbClr>
            </a:outerShdw>
          </a:effectLst>
        </p:spPr>
      </p:sp>
      <p:sp>
        <p:nvSpPr>
          <p:cNvPr id="14" name="Text 11"/>
          <p:cNvSpPr/>
          <p:nvPr/>
        </p:nvSpPr>
        <p:spPr>
          <a:xfrm>
            <a:off x="3319272" y="2944368"/>
            <a:ext cx="2606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RAG_TOP_K = 6 (default)</a:t>
            </a:r>
            <a:endParaRPr lang="en-US" sz="1300" dirty="0"/>
          </a:p>
        </p:txBody>
      </p:sp>
      <p:sp>
        <p:nvSpPr>
          <p:cNvPr id="15" name="Text 12"/>
          <p:cNvSpPr/>
          <p:nvPr/>
        </p:nvSpPr>
        <p:spPr>
          <a:xfrm>
            <a:off x="3319272" y="3310128"/>
            <a:ext cx="2606040" cy="41148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 Balanced coverage and quality</a:t>
            </a:r>
            <a:endParaRPr lang="en-US" sz="1150" dirty="0"/>
          </a:p>
        </p:txBody>
      </p:sp>
      <p:sp>
        <p:nvSpPr>
          <p:cNvPr id="16" name="Text 13"/>
          <p:cNvSpPr/>
          <p:nvPr/>
        </p:nvSpPr>
        <p:spPr>
          <a:xfrm>
            <a:off x="3319272" y="3767328"/>
            <a:ext cx="2606040" cy="41148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 Moderate prompt size</a:t>
            </a:r>
            <a:endParaRPr lang="en-US" sz="1150" dirty="0"/>
          </a:p>
        </p:txBody>
      </p:sp>
      <p:sp>
        <p:nvSpPr>
          <p:cNvPr id="17" name="Shape 14"/>
          <p:cNvSpPr/>
          <p:nvPr/>
        </p:nvSpPr>
        <p:spPr>
          <a:xfrm>
            <a:off x="6135624" y="2880360"/>
            <a:ext cx="2788920" cy="1737360"/>
          </a:xfrm>
          <a:prstGeom prst="rect">
            <a:avLst/>
          </a:prstGeom>
          <a:solidFill>
            <a:srgbClr val="F4A261"/>
          </a:solidFill>
          <a:ln/>
          <a:effectLst>
            <a:outerShdw sx="100000" sy="100000" kx="0" ky="0" algn="bl" rotWithShape="0" blurRad="50800" dist="25400" dir="16200000">
              <a:srgbClr val="000000">
                <a:alpha val="12000"/>
              </a:srgbClr>
            </a:outerShdw>
          </a:effectLst>
        </p:spPr>
      </p:sp>
      <p:sp>
        <p:nvSpPr>
          <p:cNvPr id="18" name="Text 15"/>
          <p:cNvSpPr/>
          <p:nvPr/>
        </p:nvSpPr>
        <p:spPr>
          <a:xfrm>
            <a:off x="6227064" y="2944368"/>
            <a:ext cx="2606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RAG_TOP_K = 10+</a:t>
            </a:r>
            <a:endParaRPr lang="en-US" sz="1300" dirty="0"/>
          </a:p>
        </p:txBody>
      </p:sp>
      <p:sp>
        <p:nvSpPr>
          <p:cNvPr id="19" name="Text 16"/>
          <p:cNvSpPr/>
          <p:nvPr/>
        </p:nvSpPr>
        <p:spPr>
          <a:xfrm>
            <a:off x="6227064" y="3310128"/>
            <a:ext cx="2606040" cy="41148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 Maximum context coverage</a:t>
            </a:r>
            <a:endParaRPr lang="en-US" sz="1150" dirty="0"/>
          </a:p>
        </p:txBody>
      </p:sp>
      <p:sp>
        <p:nvSpPr>
          <p:cNvPr id="20" name="Text 17"/>
          <p:cNvSpPr/>
          <p:nvPr/>
        </p:nvSpPr>
        <p:spPr>
          <a:xfrm>
            <a:off x="6227064" y="3767328"/>
            <a:ext cx="2606040" cy="41148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 Larger prompts, more noise, slower</a:t>
            </a:r>
            <a:endParaRPr lang="en-US" sz="1150" dirty="0"/>
          </a:p>
        </p:txBody>
      </p:sp>
      <p:sp>
        <p:nvSpPr>
          <p:cNvPr id="21" name="Text 18"/>
          <p:cNvSpPr/>
          <p:nvPr/>
        </p:nvSpPr>
        <p:spPr>
          <a:xfrm>
            <a:off x="320040" y="4663440"/>
            <a:ext cx="8503920" cy="228600"/>
          </a:xfrm>
          <a:prstGeom prst="rect">
            <a:avLst/>
          </a:prstGeom>
          <a:noFill/>
          <a:ln/>
        </p:spPr>
        <p:txBody>
          <a:bodyPr wrap="square" rtlCol="0" anchor="ctr"/>
          <a:lstStyle/>
          <a:p>
            <a:pPr indent="0" marL="0">
              <a:buNone/>
            </a:pPr>
            <a:r>
              <a:rPr lang="en-US" sz="1150" i="1" dirty="0">
                <a:solidFill>
                  <a:srgbClr val="7A9BAA"/>
                </a:solidFill>
                <a:latin typeface="Calibri" pitchFamily="34" charset="0"/>
                <a:ea typeface="Calibri" pitchFamily="34" charset="-122"/>
                <a:cs typeface="Calibri" pitchFamily="34" charset="-120"/>
              </a:rPr>
              <a:t>To experiment: change RAG_TOP_K in .env, docker compose restart ingestion-api, compare /debug/retrieve output.</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8 — Gradio Chat UI</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60120"/>
            <a:ext cx="8412480" cy="16916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D8ECEC"/>
                </a:solidFill>
                <a:latin typeface="Calibri" pitchFamily="34" charset="0"/>
                <a:ea typeface="Calibri" pitchFamily="34" charset="-122"/>
                <a:cs typeface="Calibri" pitchFamily="34" charset="-120"/>
              </a:rPr>
              <a:t>Open http://localhost:7860 — Chat tab shows the RAG chatbot, Security Memory tab added in later lessons</a:t>
            </a:r>
            <a:endParaRPr lang="en-US" sz="1350" dirty="0"/>
          </a:p>
          <a:p>
            <a:pPr marL="342900" indent="-342900">
              <a:spcAft>
                <a:spcPts val="400"/>
              </a:spcAft>
              <a:buSzPct val="100000"/>
              <a:buChar char="•"/>
            </a:pPr>
            <a:r>
              <a:rPr lang="en-US" sz="1350" dirty="0">
                <a:solidFill>
                  <a:srgbClr val="D8ECEC"/>
                </a:solidFill>
                <a:latin typeface="Calibri" pitchFamily="34" charset="0"/>
                <a:ea typeface="Calibri" pitchFamily="34" charset="-122"/>
                <a:cs typeface="Calibri" pitchFamily="34" charset="-120"/>
              </a:rPr>
              <a:t>Run ./bin/ingest_sample.sh first if you haven't ingested the cybersecurity dataset</a:t>
            </a:r>
            <a:endParaRPr lang="en-US" sz="1350" dirty="0"/>
          </a:p>
          <a:p>
            <a:pPr marL="342900" indent="-342900">
              <a:spcAft>
                <a:spcPts val="400"/>
              </a:spcAft>
              <a:buSzPct val="100000"/>
              <a:buChar char="•"/>
            </a:pPr>
            <a:r>
              <a:rPr lang="en-US" sz="1350" dirty="0">
                <a:solidFill>
                  <a:srgbClr val="D8ECEC"/>
                </a:solidFill>
                <a:latin typeface="Calibri" pitchFamily="34" charset="0"/>
                <a:ea typeface="Calibri" pitchFamily="34" charset="-122"/>
                <a:cs typeface="Calibri" pitchFamily="34" charset="-120"/>
              </a:rPr>
              <a:t>Try questions from the dataset: 'What is the CIA triad?' / 'Why is exposing databases risky?' / 'What is supply chain risk?'</a:t>
            </a:r>
            <a:endParaRPr lang="en-US" sz="1350" dirty="0"/>
          </a:p>
          <a:p>
            <a:pPr marL="342900" indent="-342900">
              <a:spcAft>
                <a:spcPts val="400"/>
              </a:spcAft>
              <a:buSzPct val="100000"/>
              <a:buChar char="•"/>
            </a:pPr>
            <a:r>
              <a:rPr lang="en-US" sz="1350" dirty="0">
                <a:solidFill>
                  <a:srgbClr val="D8ECEC"/>
                </a:solidFill>
                <a:latin typeface="Calibri" pitchFamily="34" charset="0"/>
                <a:ea typeface="Calibri" pitchFamily="34" charset="-122"/>
                <a:cs typeface="Calibri" pitchFamily="34" charset="-120"/>
              </a:rPr>
              <a:t>Sources section shows: title, URL, and distance score for each Weaviate object used</a:t>
            </a:r>
            <a:endParaRPr lang="en-US" sz="1350" dirty="0"/>
          </a:p>
          <a:p>
            <a:pPr marL="342900" indent="-342900">
              <a:spcAft>
                <a:spcPts val="400"/>
              </a:spcAft>
              <a:buSzPct val="100000"/>
              <a:buChar char="•"/>
            </a:pPr>
            <a:r>
              <a:rPr lang="en-US" sz="1350" dirty="0">
                <a:solidFill>
                  <a:srgbClr val="D8ECEC"/>
                </a:solidFill>
                <a:latin typeface="Calibri" pitchFamily="34" charset="0"/>
                <a:ea typeface="Calibri" pitchFamily="34" charset="-122"/>
                <a:cs typeface="Calibri" pitchFamily="34" charset="-120"/>
              </a:rPr>
              <a:t>Distance closer to 0 = stronger match. Remind students this is the OPPOSITE of Qdrant's similarity score.</a:t>
            </a:r>
            <a:endParaRPr lang="en-US" sz="1350" dirty="0"/>
          </a:p>
        </p:txBody>
      </p:sp>
      <p:sp>
        <p:nvSpPr>
          <p:cNvPr id="7" name="Text 4"/>
          <p:cNvSpPr/>
          <p:nvPr/>
        </p:nvSpPr>
        <p:spPr>
          <a:xfrm>
            <a:off x="365760" y="2788920"/>
            <a:ext cx="841248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Debugging when something fails in the UI:</a:t>
            </a:r>
            <a:endParaRPr lang="en-US" sz="1400" dirty="0"/>
          </a:p>
        </p:txBody>
      </p:sp>
      <p:sp>
        <p:nvSpPr>
          <p:cNvPr id="8" name="Shape 5"/>
          <p:cNvSpPr/>
          <p:nvPr/>
        </p:nvSpPr>
        <p:spPr>
          <a:xfrm>
            <a:off x="365760" y="3182112"/>
            <a:ext cx="8412480" cy="347472"/>
          </a:xfrm>
          <a:prstGeom prst="rect">
            <a:avLst/>
          </a:prstGeom>
          <a:solidFill>
            <a:srgbClr val="192C20"/>
          </a:solidFill>
          <a:ln/>
        </p:spPr>
      </p:sp>
      <p:sp>
        <p:nvSpPr>
          <p:cNvPr id="9" name="Text 6"/>
          <p:cNvSpPr/>
          <p:nvPr/>
        </p:nvSpPr>
        <p:spPr>
          <a:xfrm>
            <a:off x="502920" y="3182112"/>
            <a:ext cx="2011680" cy="347472"/>
          </a:xfrm>
          <a:prstGeom prst="rect">
            <a:avLst/>
          </a:prstGeom>
          <a:noFill/>
          <a:ln/>
        </p:spPr>
        <p:txBody>
          <a:bodyPr wrap="square" rtlCol="0" anchor="ctr"/>
          <a:lstStyle/>
          <a:p>
            <a:pPr indent="0" marL="0">
              <a:buNone/>
            </a:pPr>
            <a:r>
              <a:rPr lang="en-US" sz="1200" dirty="0">
                <a:solidFill>
                  <a:srgbClr val="00C4B4"/>
                </a:solidFill>
                <a:latin typeface="Calibri" pitchFamily="34" charset="0"/>
                <a:ea typeface="Calibri" pitchFamily="34" charset="-122"/>
                <a:cs typeface="Calibri" pitchFamily="34" charset="-120"/>
              </a:rPr>
              <a:t>1. Proxy up?</a:t>
            </a:r>
            <a:endParaRPr lang="en-US" sz="1200" dirty="0"/>
          </a:p>
        </p:txBody>
      </p:sp>
      <p:sp>
        <p:nvSpPr>
          <p:cNvPr id="10" name="Text 7"/>
          <p:cNvSpPr/>
          <p:nvPr/>
        </p:nvSpPr>
        <p:spPr>
          <a:xfrm>
            <a:off x="2606040" y="3182112"/>
            <a:ext cx="6035040" cy="347472"/>
          </a:xfrm>
          <a:prstGeom prst="rect">
            <a:avLst/>
          </a:prstGeom>
          <a:noFill/>
          <a:ln/>
        </p:spPr>
        <p:txBody>
          <a:bodyPr wrap="square" rtlCol="0" anchor="ctr"/>
          <a:lstStyle/>
          <a:p>
            <a:pPr indent="0" marL="0">
              <a:buNone/>
            </a:pPr>
            <a:r>
              <a:rPr lang="en-US" sz="1100" dirty="0">
                <a:solidFill>
                  <a:srgbClr val="D8ECEC"/>
                </a:solidFill>
                <a:latin typeface="Consolas" pitchFamily="34" charset="0"/>
                <a:ea typeface="Consolas" pitchFamily="34" charset="-122"/>
                <a:cs typeface="Consolas" pitchFamily="34" charset="-120"/>
              </a:rPr>
              <a:t>curl -i http://localhost:8088/proxy-health</a:t>
            </a:r>
            <a:endParaRPr lang="en-US" sz="1100" dirty="0"/>
          </a:p>
        </p:txBody>
      </p:sp>
      <p:sp>
        <p:nvSpPr>
          <p:cNvPr id="11" name="Shape 8"/>
          <p:cNvSpPr/>
          <p:nvPr/>
        </p:nvSpPr>
        <p:spPr>
          <a:xfrm>
            <a:off x="365760" y="3621024"/>
            <a:ext cx="8412480" cy="347472"/>
          </a:xfrm>
          <a:prstGeom prst="rect">
            <a:avLst/>
          </a:prstGeom>
          <a:solidFill>
            <a:srgbClr val="192C20"/>
          </a:solidFill>
          <a:ln/>
        </p:spPr>
      </p:sp>
      <p:sp>
        <p:nvSpPr>
          <p:cNvPr id="12" name="Text 9"/>
          <p:cNvSpPr/>
          <p:nvPr/>
        </p:nvSpPr>
        <p:spPr>
          <a:xfrm>
            <a:off x="502920" y="3621024"/>
            <a:ext cx="2011680" cy="347472"/>
          </a:xfrm>
          <a:prstGeom prst="rect">
            <a:avLst/>
          </a:prstGeom>
          <a:noFill/>
          <a:ln/>
        </p:spPr>
        <p:txBody>
          <a:bodyPr wrap="square" rtlCol="0" anchor="ctr"/>
          <a:lstStyle/>
          <a:p>
            <a:pPr indent="0" marL="0">
              <a:buNone/>
            </a:pPr>
            <a:r>
              <a:rPr lang="en-US" sz="1200" dirty="0">
                <a:solidFill>
                  <a:srgbClr val="00C4B4"/>
                </a:solidFill>
                <a:latin typeface="Calibri" pitchFamily="34" charset="0"/>
                <a:ea typeface="Calibri" pitchFamily="34" charset="-122"/>
                <a:cs typeface="Calibri" pitchFamily="34" charset="-120"/>
              </a:rPr>
              <a:t>2. API + auth?</a:t>
            </a:r>
            <a:endParaRPr lang="en-US" sz="1200" dirty="0"/>
          </a:p>
        </p:txBody>
      </p:sp>
      <p:sp>
        <p:nvSpPr>
          <p:cNvPr id="13" name="Text 10"/>
          <p:cNvSpPr/>
          <p:nvPr/>
        </p:nvSpPr>
        <p:spPr>
          <a:xfrm>
            <a:off x="2606040" y="3621024"/>
            <a:ext cx="6035040" cy="347472"/>
          </a:xfrm>
          <a:prstGeom prst="rect">
            <a:avLst/>
          </a:prstGeom>
          <a:noFill/>
          <a:ln/>
        </p:spPr>
        <p:txBody>
          <a:bodyPr wrap="square" rtlCol="0" anchor="ctr"/>
          <a:lstStyle/>
          <a:p>
            <a:pPr indent="0" marL="0">
              <a:buNone/>
            </a:pPr>
            <a:r>
              <a:rPr lang="en-US" sz="1100" dirty="0">
                <a:solidFill>
                  <a:srgbClr val="D8ECEC"/>
                </a:solidFill>
                <a:latin typeface="Consolas" pitchFamily="34" charset="0"/>
                <a:ea typeface="Consolas" pitchFamily="34" charset="-122"/>
                <a:cs typeface="Consolas" pitchFamily="34" charset="-120"/>
              </a:rPr>
              <a:t>curl -i -H "X-API-Key: $EDGE_API_KEY" http://localhost:8088/health</a:t>
            </a:r>
            <a:endParaRPr lang="en-US" sz="1100" dirty="0"/>
          </a:p>
        </p:txBody>
      </p:sp>
      <p:sp>
        <p:nvSpPr>
          <p:cNvPr id="14" name="Shape 11"/>
          <p:cNvSpPr/>
          <p:nvPr/>
        </p:nvSpPr>
        <p:spPr>
          <a:xfrm>
            <a:off x="365760" y="4059936"/>
            <a:ext cx="8412480" cy="347472"/>
          </a:xfrm>
          <a:prstGeom prst="rect">
            <a:avLst/>
          </a:prstGeom>
          <a:solidFill>
            <a:srgbClr val="192C20"/>
          </a:solidFill>
          <a:ln/>
        </p:spPr>
      </p:sp>
      <p:sp>
        <p:nvSpPr>
          <p:cNvPr id="15" name="Text 12"/>
          <p:cNvSpPr/>
          <p:nvPr/>
        </p:nvSpPr>
        <p:spPr>
          <a:xfrm>
            <a:off x="502920" y="4059936"/>
            <a:ext cx="2011680" cy="347472"/>
          </a:xfrm>
          <a:prstGeom prst="rect">
            <a:avLst/>
          </a:prstGeom>
          <a:noFill/>
          <a:ln/>
        </p:spPr>
        <p:txBody>
          <a:bodyPr wrap="square" rtlCol="0" anchor="ctr"/>
          <a:lstStyle/>
          <a:p>
            <a:pPr indent="0" marL="0">
              <a:buNone/>
            </a:pPr>
            <a:r>
              <a:rPr lang="en-US" sz="1200" dirty="0">
                <a:solidFill>
                  <a:srgbClr val="00C4B4"/>
                </a:solidFill>
                <a:latin typeface="Calibri" pitchFamily="34" charset="0"/>
                <a:ea typeface="Calibri" pitchFamily="34" charset="-122"/>
                <a:cs typeface="Calibri" pitchFamily="34" charset="-120"/>
              </a:rPr>
              <a:t>3. Weaviate + text2vec?</a:t>
            </a:r>
            <a:endParaRPr lang="en-US" sz="1200" dirty="0"/>
          </a:p>
        </p:txBody>
      </p:sp>
      <p:sp>
        <p:nvSpPr>
          <p:cNvPr id="16" name="Text 13"/>
          <p:cNvSpPr/>
          <p:nvPr/>
        </p:nvSpPr>
        <p:spPr>
          <a:xfrm>
            <a:off x="2606040" y="4059936"/>
            <a:ext cx="6035040" cy="347472"/>
          </a:xfrm>
          <a:prstGeom prst="rect">
            <a:avLst/>
          </a:prstGeom>
          <a:noFill/>
          <a:ln/>
        </p:spPr>
        <p:txBody>
          <a:bodyPr wrap="square" rtlCol="0" anchor="ctr"/>
          <a:lstStyle/>
          <a:p>
            <a:pPr indent="0" marL="0">
              <a:buNone/>
            </a:pPr>
            <a:r>
              <a:rPr lang="en-US" sz="1100" dirty="0">
                <a:solidFill>
                  <a:srgbClr val="D8ECEC"/>
                </a:solidFill>
                <a:latin typeface="Consolas" pitchFamily="34" charset="0"/>
                <a:ea typeface="Consolas" pitchFamily="34" charset="-122"/>
                <a:cs typeface="Consolas" pitchFamily="34" charset="-120"/>
              </a:rPr>
              <a:t>docker compose ps weaviate text2vec-transformers</a:t>
            </a:r>
            <a:endParaRPr lang="en-US" sz="1100" dirty="0"/>
          </a:p>
        </p:txBody>
      </p:sp>
      <p:sp>
        <p:nvSpPr>
          <p:cNvPr id="17" name="Shape 14"/>
          <p:cNvSpPr/>
          <p:nvPr/>
        </p:nvSpPr>
        <p:spPr>
          <a:xfrm>
            <a:off x="365760" y="4498848"/>
            <a:ext cx="8412480" cy="347472"/>
          </a:xfrm>
          <a:prstGeom prst="rect">
            <a:avLst/>
          </a:prstGeom>
          <a:solidFill>
            <a:srgbClr val="192C20"/>
          </a:solidFill>
          <a:ln/>
        </p:spPr>
      </p:sp>
      <p:sp>
        <p:nvSpPr>
          <p:cNvPr id="18" name="Text 15"/>
          <p:cNvSpPr/>
          <p:nvPr/>
        </p:nvSpPr>
        <p:spPr>
          <a:xfrm>
            <a:off x="502920" y="4498848"/>
            <a:ext cx="2011680" cy="347472"/>
          </a:xfrm>
          <a:prstGeom prst="rect">
            <a:avLst/>
          </a:prstGeom>
          <a:noFill/>
          <a:ln/>
        </p:spPr>
        <p:txBody>
          <a:bodyPr wrap="square" rtlCol="0" anchor="ctr"/>
          <a:lstStyle/>
          <a:p>
            <a:pPr indent="0" marL="0">
              <a:buNone/>
            </a:pPr>
            <a:r>
              <a:rPr lang="en-US" sz="1200" dirty="0">
                <a:solidFill>
                  <a:srgbClr val="00C4B4"/>
                </a:solidFill>
                <a:latin typeface="Calibri" pitchFamily="34" charset="0"/>
                <a:ea typeface="Calibri" pitchFamily="34" charset="-122"/>
                <a:cs typeface="Calibri" pitchFamily="34" charset="-120"/>
              </a:rPr>
              <a:t>4. Logs?</a:t>
            </a:r>
            <a:endParaRPr lang="en-US" sz="1200" dirty="0"/>
          </a:p>
        </p:txBody>
      </p:sp>
      <p:sp>
        <p:nvSpPr>
          <p:cNvPr id="19" name="Text 16"/>
          <p:cNvSpPr/>
          <p:nvPr/>
        </p:nvSpPr>
        <p:spPr>
          <a:xfrm>
            <a:off x="2606040" y="4498848"/>
            <a:ext cx="6035040" cy="347472"/>
          </a:xfrm>
          <a:prstGeom prst="rect">
            <a:avLst/>
          </a:prstGeom>
          <a:noFill/>
          <a:ln/>
        </p:spPr>
        <p:txBody>
          <a:bodyPr wrap="square" rtlCol="0" anchor="ctr"/>
          <a:lstStyle/>
          <a:p>
            <a:pPr indent="0" marL="0">
              <a:buNone/>
            </a:pPr>
            <a:r>
              <a:rPr lang="en-US" sz="1100" dirty="0">
                <a:solidFill>
                  <a:srgbClr val="D8ECEC"/>
                </a:solidFill>
                <a:latin typeface="Consolas" pitchFamily="34" charset="0"/>
                <a:ea typeface="Consolas" pitchFamily="34" charset="-122"/>
                <a:cs typeface="Consolas" pitchFamily="34" charset="-120"/>
              </a:rPr>
              <a:t>docker compose logs weaviate --tail=50 &amp;&amp; docker compose logs text2vec-transformers --tail=50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9 — Operations &amp; Troubleshooting (Part 1): Health + Logs</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500" b="1" dirty="0">
                <a:solidFill>
                  <a:srgbClr val="E63946"/>
                </a:solidFill>
                <a:latin typeface="Calibri" pitchFamily="34" charset="0"/>
                <a:ea typeface="Calibri" pitchFamily="34" charset="-122"/>
                <a:cs typeface="Calibri" pitchFamily="34" charset="-120"/>
              </a:rPr>
              <a:t>The #1 rule: don't guess. Check logs.</a:t>
            </a:r>
            <a:endParaRPr lang="en-US" sz="1500" dirty="0"/>
          </a:p>
        </p:txBody>
      </p:sp>
      <p:sp>
        <p:nvSpPr>
          <p:cNvPr id="7" name="Text 4"/>
          <p:cNvSpPr/>
          <p:nvPr/>
        </p:nvSpPr>
        <p:spPr>
          <a:xfrm>
            <a:off x="320040" y="1280160"/>
            <a:ext cx="850392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Health Check Hierarchy:</a:t>
            </a:r>
            <a:endParaRPr lang="en-US" sz="1400" dirty="0"/>
          </a:p>
        </p:txBody>
      </p:sp>
      <p:sp>
        <p:nvSpPr>
          <p:cNvPr id="8" name="Text 5"/>
          <p:cNvSpPr/>
          <p:nvPr/>
        </p:nvSpPr>
        <p:spPr>
          <a:xfrm>
            <a:off x="320040" y="1645920"/>
            <a:ext cx="850392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curl -i http://localhost:8088/proxy-health → 200 means NGINX is up</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curl -i -H "X-API-Key: $EDGE_API_KEY" http://localhost:8088/health → 200 with weaviate:true means system healthy</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./bin/smoke_test.sh → tests proxy, auth, ingest, retrieval, prompt, and chat in sequence</a:t>
            </a:r>
            <a:endParaRPr lang="en-US" sz="1300" dirty="0"/>
          </a:p>
        </p:txBody>
      </p:sp>
      <p:sp>
        <p:nvSpPr>
          <p:cNvPr id="9" name="Text 6"/>
          <p:cNvSpPr/>
          <p:nvPr/>
        </p:nvSpPr>
        <p:spPr>
          <a:xfrm>
            <a:off x="320040" y="2670048"/>
            <a:ext cx="850392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Weaviate-specific log commands:</a:t>
            </a:r>
            <a:endParaRPr lang="en-US" sz="1400" dirty="0"/>
          </a:p>
        </p:txBody>
      </p:sp>
      <p:sp>
        <p:nvSpPr>
          <p:cNvPr id="10" name="Shape 7"/>
          <p:cNvSpPr/>
          <p:nvPr/>
        </p:nvSpPr>
        <p:spPr>
          <a:xfrm>
            <a:off x="320040" y="3035808"/>
            <a:ext cx="8503920" cy="256032"/>
          </a:xfrm>
          <a:prstGeom prst="rect">
            <a:avLst/>
          </a:prstGeom>
          <a:solidFill>
            <a:srgbClr val="0D1B2A"/>
          </a:solidFill>
          <a:ln/>
        </p:spPr>
      </p:sp>
      <p:sp>
        <p:nvSpPr>
          <p:cNvPr id="11" name="Text 8"/>
          <p:cNvSpPr/>
          <p:nvPr/>
        </p:nvSpPr>
        <p:spPr>
          <a:xfrm>
            <a:off x="457200" y="3035808"/>
            <a:ext cx="832104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docker compose logs weaviate --tail=200</a:t>
            </a:r>
            <a:endParaRPr lang="en-US" sz="1150" dirty="0"/>
          </a:p>
        </p:txBody>
      </p:sp>
      <p:sp>
        <p:nvSpPr>
          <p:cNvPr id="12" name="Shape 9"/>
          <p:cNvSpPr/>
          <p:nvPr/>
        </p:nvSpPr>
        <p:spPr>
          <a:xfrm>
            <a:off x="320040" y="3337560"/>
            <a:ext cx="8503920" cy="256032"/>
          </a:xfrm>
          <a:prstGeom prst="rect">
            <a:avLst/>
          </a:prstGeom>
          <a:solidFill>
            <a:srgbClr val="0D1B2A"/>
          </a:solidFill>
          <a:ln/>
        </p:spPr>
      </p:sp>
      <p:sp>
        <p:nvSpPr>
          <p:cNvPr id="13" name="Text 10"/>
          <p:cNvSpPr/>
          <p:nvPr/>
        </p:nvSpPr>
        <p:spPr>
          <a:xfrm>
            <a:off x="457200" y="3337560"/>
            <a:ext cx="832104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docker compose logs text2vec-transformers --tail=200  ← check this if embeddings fail</a:t>
            </a:r>
            <a:endParaRPr lang="en-US" sz="1150" dirty="0"/>
          </a:p>
        </p:txBody>
      </p:sp>
      <p:sp>
        <p:nvSpPr>
          <p:cNvPr id="14" name="Shape 11"/>
          <p:cNvSpPr/>
          <p:nvPr/>
        </p:nvSpPr>
        <p:spPr>
          <a:xfrm>
            <a:off x="320040" y="3639312"/>
            <a:ext cx="8503920" cy="256032"/>
          </a:xfrm>
          <a:prstGeom prst="rect">
            <a:avLst/>
          </a:prstGeom>
          <a:solidFill>
            <a:srgbClr val="0D1B2A"/>
          </a:solidFill>
          <a:ln/>
        </p:spPr>
      </p:sp>
      <p:sp>
        <p:nvSpPr>
          <p:cNvPr id="15" name="Text 12"/>
          <p:cNvSpPr/>
          <p:nvPr/>
        </p:nvSpPr>
        <p:spPr>
          <a:xfrm>
            <a:off x="457200" y="3639312"/>
            <a:ext cx="832104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docker compose logs ingestion-api --tail=200</a:t>
            </a:r>
            <a:endParaRPr lang="en-US" sz="1150" dirty="0"/>
          </a:p>
        </p:txBody>
      </p:sp>
      <p:sp>
        <p:nvSpPr>
          <p:cNvPr id="16" name="Shape 13"/>
          <p:cNvSpPr/>
          <p:nvPr/>
        </p:nvSpPr>
        <p:spPr>
          <a:xfrm>
            <a:off x="320040" y="3941064"/>
            <a:ext cx="8503920" cy="256032"/>
          </a:xfrm>
          <a:prstGeom prst="rect">
            <a:avLst/>
          </a:prstGeom>
          <a:solidFill>
            <a:srgbClr val="0D1B2A"/>
          </a:solidFill>
          <a:ln/>
        </p:spPr>
      </p:sp>
      <p:sp>
        <p:nvSpPr>
          <p:cNvPr id="17" name="Text 14"/>
          <p:cNvSpPr/>
          <p:nvPr/>
        </p:nvSpPr>
        <p:spPr>
          <a:xfrm>
            <a:off x="457200" y="3941064"/>
            <a:ext cx="832104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docker compose logs ollama --tail=200</a:t>
            </a:r>
            <a:endParaRPr lang="en-US" sz="1150" dirty="0"/>
          </a:p>
        </p:txBody>
      </p:sp>
      <p:sp>
        <p:nvSpPr>
          <p:cNvPr id="18" name="Shape 15"/>
          <p:cNvSpPr/>
          <p:nvPr/>
        </p:nvSpPr>
        <p:spPr>
          <a:xfrm>
            <a:off x="320040" y="4242816"/>
            <a:ext cx="8503920" cy="256032"/>
          </a:xfrm>
          <a:prstGeom prst="rect">
            <a:avLst/>
          </a:prstGeom>
          <a:solidFill>
            <a:srgbClr val="0D1B2A"/>
          </a:solidFill>
          <a:ln/>
        </p:spPr>
      </p:sp>
      <p:sp>
        <p:nvSpPr>
          <p:cNvPr id="19" name="Text 16"/>
          <p:cNvSpPr/>
          <p:nvPr/>
        </p:nvSpPr>
        <p:spPr>
          <a:xfrm>
            <a:off x="457200" y="4242816"/>
            <a:ext cx="832104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./bin/logs.sh  (follows all services)</a:t>
            </a:r>
            <a:endParaRPr lang="en-US" sz="1150" dirty="0"/>
          </a:p>
        </p:txBody>
      </p:sp>
      <p:sp>
        <p:nvSpPr>
          <p:cNvPr id="20" name="Shape 17"/>
          <p:cNvSpPr/>
          <p:nvPr/>
        </p:nvSpPr>
        <p:spPr>
          <a:xfrm>
            <a:off x="320040" y="4544568"/>
            <a:ext cx="8503920" cy="256032"/>
          </a:xfrm>
          <a:prstGeom prst="rect">
            <a:avLst/>
          </a:prstGeom>
          <a:solidFill>
            <a:srgbClr val="0D1B2A"/>
          </a:solidFill>
          <a:ln/>
        </p:spPr>
      </p:sp>
      <p:sp>
        <p:nvSpPr>
          <p:cNvPr id="21" name="Text 18"/>
          <p:cNvSpPr/>
          <p:nvPr/>
        </p:nvSpPr>
        <p:spPr>
          <a:xfrm>
            <a:off x="457200" y="4544568"/>
            <a:ext cx="8321040" cy="256032"/>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docker stats  (real-time CPU and memory — watch text2vec and weaviate)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9 — Operations &amp; Troubleshooting (Part 2): Failure Drills</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250" i="1" dirty="0">
                <a:solidFill>
                  <a:srgbClr val="FFD166"/>
                </a:solidFill>
                <a:latin typeface="Calibri" pitchFamily="34" charset="0"/>
                <a:ea typeface="Calibri" pitchFamily="34" charset="-122"/>
                <a:cs typeface="Calibri" pitchFamily="34" charset="-120"/>
              </a:rPr>
              <a:t>Each drill: baseline → break → observe → logs → fix → smoke_test again</a:t>
            </a:r>
            <a:endParaRPr lang="en-US" sz="1250" dirty="0"/>
          </a:p>
        </p:txBody>
      </p:sp>
      <p:sp>
        <p:nvSpPr>
          <p:cNvPr id="7" name="Shape 4"/>
          <p:cNvSpPr/>
          <p:nvPr/>
        </p:nvSpPr>
        <p:spPr>
          <a:xfrm>
            <a:off x="365760" y="1325880"/>
            <a:ext cx="8412480" cy="868680"/>
          </a:xfrm>
          <a:prstGeom prst="rect">
            <a:avLst/>
          </a:prstGeom>
          <a:solidFill>
            <a:srgbClr val="192C20"/>
          </a:solidFill>
          <a:ln/>
          <a:effectLst>
            <a:outerShdw sx="100000" sy="100000" kx="0" ky="0" algn="bl" rotWithShape="0" blurRad="38100" dist="12700" dir="16200000">
              <a:srgbClr val="000000">
                <a:alpha val="20000"/>
              </a:srgbClr>
            </a:outerShdw>
          </a:effectLst>
        </p:spPr>
      </p:sp>
      <p:sp>
        <p:nvSpPr>
          <p:cNvPr id="8" name="Text 5"/>
          <p:cNvSpPr/>
          <p:nvPr/>
        </p:nvSpPr>
        <p:spPr>
          <a:xfrm>
            <a:off x="502920" y="1380744"/>
            <a:ext cx="8229600" cy="256032"/>
          </a:xfrm>
          <a:prstGeom prst="rect">
            <a:avLst/>
          </a:prstGeom>
          <a:noFill/>
          <a:ln/>
        </p:spPr>
        <p:txBody>
          <a:bodyPr wrap="square"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Drill A: Stop Ollama</a:t>
            </a:r>
            <a:endParaRPr lang="en-US" sz="1300" dirty="0"/>
          </a:p>
        </p:txBody>
      </p:sp>
      <p:sp>
        <p:nvSpPr>
          <p:cNvPr id="9" name="Text 6"/>
          <p:cNvSpPr/>
          <p:nvPr/>
        </p:nvSpPr>
        <p:spPr>
          <a:xfrm>
            <a:off x="502920" y="1655064"/>
            <a:ext cx="8229600" cy="201168"/>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Break: docker stop ollama  |  Fix: docker start ollama</a:t>
            </a:r>
            <a:endParaRPr lang="en-US" sz="1150" dirty="0"/>
          </a:p>
        </p:txBody>
      </p:sp>
      <p:sp>
        <p:nvSpPr>
          <p:cNvPr id="10" name="Text 7"/>
          <p:cNvSpPr/>
          <p:nvPr/>
        </p:nvSpPr>
        <p:spPr>
          <a:xfrm>
            <a:off x="502920" y="1892808"/>
            <a:ext cx="8229600" cy="237744"/>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/debug/retrieve still works — /chat fails at generation. Retrieval and Weaviate unaffected.</a:t>
            </a:r>
            <a:endParaRPr lang="en-US" sz="1100" dirty="0"/>
          </a:p>
        </p:txBody>
      </p:sp>
      <p:sp>
        <p:nvSpPr>
          <p:cNvPr id="11" name="Shape 8"/>
          <p:cNvSpPr/>
          <p:nvPr/>
        </p:nvSpPr>
        <p:spPr>
          <a:xfrm>
            <a:off x="365760" y="2350008"/>
            <a:ext cx="8412480" cy="868680"/>
          </a:xfrm>
          <a:prstGeom prst="rect">
            <a:avLst/>
          </a:prstGeom>
          <a:solidFill>
            <a:srgbClr val="192C20"/>
          </a:solidFill>
          <a:ln/>
          <a:effectLst>
            <a:outerShdw sx="100000" sy="100000" kx="0" ky="0" algn="bl" rotWithShape="0" blurRad="38100" dist="12700" dir="16200000">
              <a:srgbClr val="000000">
                <a:alpha val="20000"/>
              </a:srgbClr>
            </a:outerShdw>
          </a:effectLst>
        </p:spPr>
      </p:sp>
      <p:sp>
        <p:nvSpPr>
          <p:cNvPr id="12" name="Text 9"/>
          <p:cNvSpPr/>
          <p:nvPr/>
        </p:nvSpPr>
        <p:spPr>
          <a:xfrm>
            <a:off x="502920" y="2404872"/>
            <a:ext cx="8229600" cy="256032"/>
          </a:xfrm>
          <a:prstGeom prst="rect">
            <a:avLst/>
          </a:prstGeom>
          <a:noFill/>
          <a:ln/>
        </p:spPr>
        <p:txBody>
          <a:bodyPr wrap="square"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Drill B: Stop Weaviate</a:t>
            </a:r>
            <a:endParaRPr lang="en-US" sz="1300" dirty="0"/>
          </a:p>
        </p:txBody>
      </p:sp>
      <p:sp>
        <p:nvSpPr>
          <p:cNvPr id="13" name="Text 10"/>
          <p:cNvSpPr/>
          <p:nvPr/>
        </p:nvSpPr>
        <p:spPr>
          <a:xfrm>
            <a:off x="502920" y="2679192"/>
            <a:ext cx="8229600" cy="201168"/>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Break: docker stop weaviate  |  Fix: docker start weaviate</a:t>
            </a:r>
            <a:endParaRPr lang="en-US" sz="1150" dirty="0"/>
          </a:p>
        </p:txBody>
      </p:sp>
      <p:sp>
        <p:nvSpPr>
          <p:cNvPr id="14" name="Text 11"/>
          <p:cNvSpPr/>
          <p:nvPr/>
        </p:nvSpPr>
        <p:spPr>
          <a:xfrm>
            <a:off x="502920" y="2916936"/>
            <a:ext cx="8229600" cy="237744"/>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/health reports weaviate:false — /debug/retrieve fails — all retrieval broken.</a:t>
            </a:r>
            <a:endParaRPr lang="en-US" sz="1100" dirty="0"/>
          </a:p>
        </p:txBody>
      </p:sp>
      <p:sp>
        <p:nvSpPr>
          <p:cNvPr id="15" name="Shape 12"/>
          <p:cNvSpPr/>
          <p:nvPr/>
        </p:nvSpPr>
        <p:spPr>
          <a:xfrm>
            <a:off x="365760" y="3374136"/>
            <a:ext cx="8412480" cy="868680"/>
          </a:xfrm>
          <a:prstGeom prst="rect">
            <a:avLst/>
          </a:prstGeom>
          <a:solidFill>
            <a:srgbClr val="192C20"/>
          </a:solidFill>
          <a:ln/>
          <a:effectLst>
            <a:outerShdw sx="100000" sy="100000" kx="0" ky="0" algn="bl" rotWithShape="0" blurRad="38100" dist="12700" dir="16200000">
              <a:srgbClr val="000000">
                <a:alpha val="20000"/>
              </a:srgbClr>
            </a:outerShdw>
          </a:effectLst>
        </p:spPr>
      </p:sp>
      <p:sp>
        <p:nvSpPr>
          <p:cNvPr id="16" name="Text 13"/>
          <p:cNvSpPr/>
          <p:nvPr/>
        </p:nvSpPr>
        <p:spPr>
          <a:xfrm>
            <a:off x="502920" y="3429000"/>
            <a:ext cx="8229600" cy="256032"/>
          </a:xfrm>
          <a:prstGeom prst="rect">
            <a:avLst/>
          </a:prstGeom>
          <a:noFill/>
          <a:ln/>
        </p:spPr>
        <p:txBody>
          <a:bodyPr wrap="square"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Drill C: Stop text2vec-transformers</a:t>
            </a:r>
            <a:endParaRPr lang="en-US" sz="1300" dirty="0"/>
          </a:p>
        </p:txBody>
      </p:sp>
      <p:sp>
        <p:nvSpPr>
          <p:cNvPr id="17" name="Text 14"/>
          <p:cNvSpPr/>
          <p:nvPr/>
        </p:nvSpPr>
        <p:spPr>
          <a:xfrm>
            <a:off x="502920" y="3703320"/>
            <a:ext cx="8229600" cy="201168"/>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Break: docker stop text2vec-transformers  |  Fix: docker start text2vec-transformers</a:t>
            </a:r>
            <a:endParaRPr lang="en-US" sz="1150" dirty="0"/>
          </a:p>
        </p:txBody>
      </p:sp>
      <p:sp>
        <p:nvSpPr>
          <p:cNvPr id="18" name="Text 15"/>
          <p:cNvSpPr/>
          <p:nvPr/>
        </p:nvSpPr>
        <p:spPr>
          <a:xfrm>
            <a:off x="502920" y="3941064"/>
            <a:ext cx="8229600" cy="237744"/>
          </a:xfrm>
          <a:prstGeom prst="rect">
            <a:avLst/>
          </a:prstGeom>
          <a:noFill/>
          <a:ln/>
        </p:spPr>
        <p:txBody>
          <a:bodyPr wrap="square" rtlCol="0" anchor="ctr"/>
          <a:lstStyle/>
          <a:p>
            <a:pPr indent="0" marL="0">
              <a:buNone/>
            </a:pPr>
            <a:r>
              <a:rPr lang="en-US" sz="1100" dirty="0">
                <a:solidFill>
                  <a:srgbClr val="D8ECEC"/>
                </a:solidFill>
                <a:latin typeface="Calibri" pitchFamily="34" charset="0"/>
                <a:ea typeface="Calibri" pitchFamily="34" charset="-122"/>
                <a:cs typeface="Calibri" pitchFamily="34" charset="-120"/>
              </a:rPr>
              <a:t>Existing vectors still searchable (already stored). New ingest fails. New query embedding fails.</a:t>
            </a:r>
            <a:endParaRPr lang="en-US" sz="1100" dirty="0"/>
          </a:p>
        </p:txBody>
      </p:sp>
      <p:sp>
        <p:nvSpPr>
          <p:cNvPr id="19" name="Text 16"/>
          <p:cNvSpPr/>
          <p:nvPr/>
        </p:nvSpPr>
        <p:spPr>
          <a:xfrm>
            <a:off x="365760" y="4480560"/>
            <a:ext cx="8412480" cy="274320"/>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Verify Weaviate has data: curl http://weaviate:8080/v1/objects?class=LabDoc (run from inside ingestion-api container)</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10 — Conclusion (Part 1): What You Actually Built</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You built the same layered RAG system as Lab 1 — with Weaviate powering the retrieval layer:</a:t>
            </a:r>
            <a:endParaRPr lang="en-US" sz="1400" dirty="0"/>
          </a:p>
        </p:txBody>
      </p:sp>
      <p:sp>
        <p:nvSpPr>
          <p:cNvPr id="7" name="Shape 4"/>
          <p:cNvSpPr/>
          <p:nvPr/>
        </p:nvSpPr>
        <p:spPr>
          <a:xfrm>
            <a:off x="320040" y="1261872"/>
            <a:ext cx="8503920" cy="594360"/>
          </a:xfrm>
          <a:prstGeom prst="rect">
            <a:avLst/>
          </a:prstGeom>
          <a:solidFill>
            <a:srgbClr val="008B80"/>
          </a:solidFill>
          <a:ln/>
          <a:effectLst>
            <a:outerShdw sx="100000" sy="100000" kx="0" ky="0" algn="bl" rotWithShape="0" blurRad="38100" dist="12700" dir="16200000">
              <a:srgbClr val="000000">
                <a:alpha val="10000"/>
              </a:srgbClr>
            </a:outerShdw>
          </a:effectLst>
        </p:spPr>
      </p:sp>
      <p:sp>
        <p:nvSpPr>
          <p:cNvPr id="8" name="Text 5"/>
          <p:cNvSpPr/>
          <p:nvPr/>
        </p:nvSpPr>
        <p:spPr>
          <a:xfrm>
            <a:off x="457200" y="1316736"/>
            <a:ext cx="4114800" cy="25603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Layer 1 — Edge Control (NGINX)</a:t>
            </a:r>
            <a:endParaRPr lang="en-US" sz="1250" dirty="0"/>
          </a:p>
        </p:txBody>
      </p:sp>
      <p:sp>
        <p:nvSpPr>
          <p:cNvPr id="9" name="Text 6"/>
          <p:cNvSpPr/>
          <p:nvPr/>
        </p:nvSpPr>
        <p:spPr>
          <a:xfrm>
            <a:off x="4663440" y="1335024"/>
            <a:ext cx="3977640" cy="438912"/>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Reject unauthorized traffic before it reaches internal services</a:t>
            </a:r>
            <a:endParaRPr lang="en-US" sz="1200" dirty="0"/>
          </a:p>
        </p:txBody>
      </p:sp>
      <p:sp>
        <p:nvSpPr>
          <p:cNvPr id="10" name="Shape 7"/>
          <p:cNvSpPr/>
          <p:nvPr/>
        </p:nvSpPr>
        <p:spPr>
          <a:xfrm>
            <a:off x="320040" y="1965960"/>
            <a:ext cx="8503920" cy="594360"/>
          </a:xfrm>
          <a:prstGeom prst="rect">
            <a:avLst/>
          </a:prstGeom>
          <a:solidFill>
            <a:srgbClr val="00C4B4"/>
          </a:solidFill>
          <a:ln/>
          <a:effectLst>
            <a:outerShdw sx="100000" sy="100000" kx="0" ky="0" algn="bl" rotWithShape="0" blurRad="38100" dist="12700" dir="16200000">
              <a:srgbClr val="000000">
                <a:alpha val="10000"/>
              </a:srgbClr>
            </a:outerShdw>
          </a:effectLst>
        </p:spPr>
      </p:sp>
      <p:sp>
        <p:nvSpPr>
          <p:cNvPr id="11" name="Text 8"/>
          <p:cNvSpPr/>
          <p:nvPr/>
        </p:nvSpPr>
        <p:spPr>
          <a:xfrm>
            <a:off x="457200" y="2020824"/>
            <a:ext cx="4114800" cy="25603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Layer 2 — App Orchestration (FastAPI)</a:t>
            </a:r>
            <a:endParaRPr lang="en-US" sz="1250" dirty="0"/>
          </a:p>
        </p:txBody>
      </p:sp>
      <p:sp>
        <p:nvSpPr>
          <p:cNvPr id="12" name="Text 9"/>
          <p:cNvSpPr/>
          <p:nvPr/>
        </p:nvSpPr>
        <p:spPr>
          <a:xfrm>
            <a:off x="4663440" y="2039112"/>
            <a:ext cx="3977640" cy="438912"/>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Weaviate GraphQL queries instead of Qdrant REST — same coordinator role</a:t>
            </a:r>
            <a:endParaRPr lang="en-US" sz="1200" dirty="0"/>
          </a:p>
        </p:txBody>
      </p:sp>
      <p:sp>
        <p:nvSpPr>
          <p:cNvPr id="13" name="Shape 10"/>
          <p:cNvSpPr/>
          <p:nvPr/>
        </p:nvSpPr>
        <p:spPr>
          <a:xfrm>
            <a:off x="320040" y="2670048"/>
            <a:ext cx="8503920" cy="594360"/>
          </a:xfrm>
          <a:prstGeom prst="rect">
            <a:avLst/>
          </a:prstGeom>
          <a:solidFill>
            <a:srgbClr val="0D1B2A"/>
          </a:solidFill>
          <a:ln/>
          <a:effectLst>
            <a:outerShdw sx="100000" sy="100000" kx="0" ky="0" algn="bl" rotWithShape="0" blurRad="38100" dist="12700" dir="16200000">
              <a:srgbClr val="000000">
                <a:alpha val="10000"/>
              </a:srgbClr>
            </a:outerShdw>
          </a:effectLst>
        </p:spPr>
      </p:sp>
      <p:sp>
        <p:nvSpPr>
          <p:cNvPr id="14" name="Text 11"/>
          <p:cNvSpPr/>
          <p:nvPr/>
        </p:nvSpPr>
        <p:spPr>
          <a:xfrm>
            <a:off x="457200" y="2724912"/>
            <a:ext cx="4114800" cy="25603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Layer 3 — Retrieval (Weaviate + text2vec)</a:t>
            </a:r>
            <a:endParaRPr lang="en-US" sz="1250" dirty="0"/>
          </a:p>
        </p:txBody>
      </p:sp>
      <p:sp>
        <p:nvSpPr>
          <p:cNvPr id="15" name="Text 12"/>
          <p:cNvSpPr/>
          <p:nvPr/>
        </p:nvSpPr>
        <p:spPr>
          <a:xfrm>
            <a:off x="4663440" y="2743200"/>
            <a:ext cx="3977640" cy="438912"/>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Class-based schema + auto-embedding + nearText semantic search</a:t>
            </a:r>
            <a:endParaRPr lang="en-US" sz="1200" dirty="0"/>
          </a:p>
        </p:txBody>
      </p:sp>
      <p:sp>
        <p:nvSpPr>
          <p:cNvPr id="16" name="Shape 13"/>
          <p:cNvSpPr/>
          <p:nvPr/>
        </p:nvSpPr>
        <p:spPr>
          <a:xfrm>
            <a:off x="320040" y="3374136"/>
            <a:ext cx="8503920" cy="594360"/>
          </a:xfrm>
          <a:prstGeom prst="rect">
            <a:avLst/>
          </a:prstGeom>
          <a:solidFill>
            <a:srgbClr val="008B80"/>
          </a:solidFill>
          <a:ln/>
          <a:effectLst>
            <a:outerShdw sx="100000" sy="100000" kx="0" ky="0" algn="bl" rotWithShape="0" blurRad="38100" dist="12700" dir="16200000">
              <a:srgbClr val="000000">
                <a:alpha val="10000"/>
              </a:srgbClr>
            </a:outerShdw>
          </a:effectLst>
        </p:spPr>
      </p:sp>
      <p:sp>
        <p:nvSpPr>
          <p:cNvPr id="17" name="Text 14"/>
          <p:cNvSpPr/>
          <p:nvPr/>
        </p:nvSpPr>
        <p:spPr>
          <a:xfrm>
            <a:off x="457200" y="3429000"/>
            <a:ext cx="4114800" cy="25603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Layer 4 — Prompt Construction</a:t>
            </a:r>
            <a:endParaRPr lang="en-US" sz="1250" dirty="0"/>
          </a:p>
        </p:txBody>
      </p:sp>
      <p:sp>
        <p:nvSpPr>
          <p:cNvPr id="18" name="Text 15"/>
          <p:cNvSpPr/>
          <p:nvPr/>
        </p:nvSpPr>
        <p:spPr>
          <a:xfrm>
            <a:off x="4663440" y="3447288"/>
            <a:ext cx="3977640" cy="438912"/>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Grounding — LLM only sees what you pass in (same as Lab 1)</a:t>
            </a:r>
            <a:endParaRPr lang="en-US" sz="1200" dirty="0"/>
          </a:p>
        </p:txBody>
      </p:sp>
      <p:sp>
        <p:nvSpPr>
          <p:cNvPr id="19" name="Shape 16"/>
          <p:cNvSpPr/>
          <p:nvPr/>
        </p:nvSpPr>
        <p:spPr>
          <a:xfrm>
            <a:off x="320040" y="4078224"/>
            <a:ext cx="8503920" cy="594360"/>
          </a:xfrm>
          <a:prstGeom prst="rect">
            <a:avLst/>
          </a:prstGeom>
          <a:solidFill>
            <a:srgbClr val="00C4B4"/>
          </a:solidFill>
          <a:ln/>
          <a:effectLst>
            <a:outerShdw sx="100000" sy="100000" kx="0" ky="0" algn="bl" rotWithShape="0" blurRad="38100" dist="12700" dir="16200000">
              <a:srgbClr val="000000">
                <a:alpha val="10000"/>
              </a:srgbClr>
            </a:outerShdw>
          </a:effectLst>
        </p:spPr>
      </p:sp>
      <p:sp>
        <p:nvSpPr>
          <p:cNvPr id="20" name="Text 17"/>
          <p:cNvSpPr/>
          <p:nvPr/>
        </p:nvSpPr>
        <p:spPr>
          <a:xfrm>
            <a:off x="457200" y="4133088"/>
            <a:ext cx="4114800" cy="25603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Layer 5 — Generation (Ollama)</a:t>
            </a:r>
            <a:endParaRPr lang="en-US" sz="1250" dirty="0"/>
          </a:p>
        </p:txBody>
      </p:sp>
      <p:sp>
        <p:nvSpPr>
          <p:cNvPr id="21" name="Text 18"/>
          <p:cNvSpPr/>
          <p:nvPr/>
        </p:nvSpPr>
        <p:spPr>
          <a:xfrm>
            <a:off x="4663440" y="4151376"/>
            <a:ext cx="3977640" cy="438912"/>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Local, private, bounded — identical to Lab 1</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10 — Conclusion (Part 2): Skills + Production Parallels</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402336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Weaviate-specific skills gained:</a:t>
            </a:r>
            <a:endParaRPr lang="en-US" sz="1400" dirty="0"/>
          </a:p>
        </p:txBody>
      </p:sp>
      <p:sp>
        <p:nvSpPr>
          <p:cNvPr id="7" name="Text 4"/>
          <p:cNvSpPr/>
          <p:nvPr/>
        </p:nvSpPr>
        <p:spPr>
          <a:xfrm>
            <a:off x="365760" y="1298448"/>
            <a:ext cx="402336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Reading and debugging GraphQL nearText queries</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Managing class schema immutability</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Interpreting distance scores correctly</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Understanding auto-embedding coupling</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The patches/ workflow for module deployment</a:t>
            </a:r>
            <a:endParaRPr lang="en-US" sz="1300" dirty="0"/>
          </a:p>
        </p:txBody>
      </p:sp>
      <p:sp>
        <p:nvSpPr>
          <p:cNvPr id="8" name="Text 5"/>
          <p:cNvSpPr/>
          <p:nvPr/>
        </p:nvSpPr>
        <p:spPr>
          <a:xfrm>
            <a:off x="4754880" y="914400"/>
            <a:ext cx="402336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Cross-lab comparison skills:</a:t>
            </a:r>
            <a:endParaRPr lang="en-US" sz="1400" dirty="0"/>
          </a:p>
        </p:txBody>
      </p:sp>
      <p:sp>
        <p:nvSpPr>
          <p:cNvPr id="9" name="Text 6"/>
          <p:cNvSpPr/>
          <p:nvPr/>
        </p:nvSpPr>
        <p:spPr>
          <a:xfrm>
            <a:off x="4754880" y="1298448"/>
            <a:ext cx="402336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Qdrant: flexible payload, manual embed, similarity score</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Weaviate: typed class, auto embed, distance score</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Same architecture pattern works for both</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Retrieval layer is the only significant change</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Generation, auth, UI are identical across labs</a:t>
            </a:r>
            <a:endParaRPr lang="en-US" sz="1300" dirty="0"/>
          </a:p>
        </p:txBody>
      </p:sp>
      <p:sp>
        <p:nvSpPr>
          <p:cNvPr id="10" name="Text 7"/>
          <p:cNvSpPr/>
          <p:nvPr/>
        </p:nvSpPr>
        <p:spPr>
          <a:xfrm>
            <a:off x="365760" y="2971800"/>
            <a:ext cx="841248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You can now explain:</a:t>
            </a:r>
            <a:endParaRPr lang="en-US" sz="1400" dirty="0"/>
          </a:p>
        </p:txBody>
      </p:sp>
      <p:sp>
        <p:nvSpPr>
          <p:cNvPr id="11" name="Text 8"/>
          <p:cNvSpPr/>
          <p:nvPr/>
        </p:nvSpPr>
        <p:spPr>
          <a:xfrm>
            <a:off x="365760" y="3337560"/>
            <a:ext cx="84124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Why Weaviate's class schema is more constraining than Qdrant — and why that constraint can be valuable</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Why distance=0.12 is a better match than distance=0.89</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Why text2vec-transformers must be running for both insert AND query operations</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How to debug the 3-service dependency chain: text2vec → Weaviate → ingestion-api</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How layered debugging works — isolate before diagnosing (same discipline as Lab 1)</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Security Memory Extension — Overview</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What the Security Memory extension adds:</a:t>
            </a:r>
            <a:endParaRPr lang="en-US" sz="1400" dirty="0"/>
          </a:p>
        </p:txBody>
      </p:sp>
      <p:sp>
        <p:nvSpPr>
          <p:cNvPr id="7" name="Shape 4"/>
          <p:cNvSpPr/>
          <p:nvPr/>
        </p:nvSpPr>
        <p:spPr>
          <a:xfrm>
            <a:off x="320040" y="1261872"/>
            <a:ext cx="4023360" cy="3200400"/>
          </a:xfrm>
          <a:prstGeom prst="rect">
            <a:avLst/>
          </a:prstGeom>
          <a:solidFill>
            <a:srgbClr val="0D1B2A"/>
          </a:solidFill>
          <a:ln/>
          <a:effectLst>
            <a:outerShdw sx="100000" sy="100000" kx="0" ky="0" algn="bl" rotWithShape="0" blurRad="63500" dist="25400" dir="16200000">
              <a:srgbClr val="000000">
                <a:alpha val="10000"/>
              </a:srgbClr>
            </a:outerShdw>
          </a:effectLst>
        </p:spPr>
      </p:sp>
      <p:sp>
        <p:nvSpPr>
          <p:cNvPr id="8" name="Text 5"/>
          <p:cNvSpPr/>
          <p:nvPr/>
        </p:nvSpPr>
        <p:spPr>
          <a:xfrm>
            <a:off x="457200" y="1371600"/>
            <a:ext cx="374904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LabDoc (main class)</a:t>
            </a:r>
            <a:endParaRPr lang="en-US" sz="1400" dirty="0"/>
          </a:p>
        </p:txBody>
      </p:sp>
      <p:sp>
        <p:nvSpPr>
          <p:cNvPr id="9" name="Text 6"/>
          <p:cNvSpPr/>
          <p:nvPr/>
        </p:nvSpPr>
        <p:spPr>
          <a:xfrm>
            <a:off x="457200" y="173736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General cybersecurity articles</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Ingested via bin/ingest_sample.sh</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Powers the /chat endpoint</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Core lessons 1-10</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sample_articles.jsonl dataset</a:t>
            </a:r>
            <a:endParaRPr lang="en-US" sz="1250" dirty="0"/>
          </a:p>
        </p:txBody>
      </p:sp>
      <p:sp>
        <p:nvSpPr>
          <p:cNvPr id="10" name="Shape 7"/>
          <p:cNvSpPr/>
          <p:nvPr/>
        </p:nvSpPr>
        <p:spPr>
          <a:xfrm>
            <a:off x="4800600" y="1261872"/>
            <a:ext cx="4023360" cy="3200400"/>
          </a:xfrm>
          <a:prstGeom prst="rect">
            <a:avLst/>
          </a:prstGeom>
          <a:solidFill>
            <a:srgbClr val="0A2520"/>
          </a:solidFill>
          <a:ln/>
          <a:effectLst>
            <a:outerShdw sx="100000" sy="100000" kx="0" ky="0" algn="bl" rotWithShape="0" blurRad="63500" dist="25400" dir="16200000">
              <a:srgbClr val="000000">
                <a:alpha val="10000"/>
              </a:srgbClr>
            </a:outerShdw>
          </a:effectLst>
        </p:spPr>
      </p:sp>
      <p:sp>
        <p:nvSpPr>
          <p:cNvPr id="11" name="Text 8"/>
          <p:cNvSpPr/>
          <p:nvPr/>
        </p:nvSpPr>
        <p:spPr>
          <a:xfrm>
            <a:off x="4937760" y="1371600"/>
            <a:ext cx="3749040" cy="320040"/>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ExpandedVSCodeMemory</a:t>
            </a:r>
            <a:endParaRPr lang="en-US" sz="1400" dirty="0"/>
          </a:p>
        </p:txBody>
      </p:sp>
      <p:sp>
        <p:nvSpPr>
          <p:cNvPr id="12" name="Text 9"/>
          <p:cNvSpPr/>
          <p:nvPr/>
        </p:nvSpPr>
        <p:spPr>
          <a:xfrm>
            <a:off x="4937760" y="173736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NIST, CIS, MITRE, OWASP standards</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Ingested in Lesson 4.1 via docker exec</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Powers /memory/query endpoint</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Security classifier triggers injection</a:t>
            </a:r>
            <a:endParaRPr lang="en-US" sz="1250" dirty="0"/>
          </a:p>
          <a:p>
            <a:pPr marL="342900" indent="-342900">
              <a:spcAft>
                <a:spcPts val="400"/>
              </a:spcAft>
              <a:buSzPct val="100000"/>
              <a:buChar char="•"/>
            </a:pPr>
            <a:r>
              <a:rPr lang="en-US" sz="1250" dirty="0">
                <a:solidFill>
                  <a:srgbClr val="D8ECEC"/>
                </a:solidFill>
                <a:latin typeface="Calibri" pitchFamily="34" charset="0"/>
                <a:ea typeface="Calibri" pitchFamily="34" charset="-122"/>
                <a:cs typeface="Calibri" pitchFamily="34" charset="-120"/>
              </a:rPr>
              <a:t>Grounded citeable security reviews</a:t>
            </a:r>
            <a:endParaRPr lang="en-US" sz="1250" dirty="0"/>
          </a:p>
        </p:txBody>
      </p:sp>
      <p:sp>
        <p:nvSpPr>
          <p:cNvPr id="13" name="Text 10"/>
          <p:cNvSpPr/>
          <p:nvPr/>
        </p:nvSpPr>
        <p:spPr>
          <a:xfrm>
            <a:off x="320040" y="4572000"/>
            <a:ext cx="8503920" cy="274320"/>
          </a:xfrm>
          <a:prstGeom prst="rect">
            <a:avLst/>
          </a:prstGeom>
          <a:noFill/>
          <a:ln/>
        </p:spPr>
        <p:txBody>
          <a:bodyPr wrap="square" rtlCol="0" anchor="ctr"/>
          <a:lstStyle/>
          <a:p>
            <a:pPr algn="ctr" indent="0" marL="0">
              <a:buNone/>
            </a:pPr>
            <a:r>
              <a:rPr lang="en-US" sz="1250" i="1" dirty="0">
                <a:solidFill>
                  <a:srgbClr val="F4A261"/>
                </a:solidFill>
                <a:latin typeface="Calibri" pitchFamily="34" charset="0"/>
                <a:ea typeface="Calibri" pitchFamily="34" charset="-122"/>
                <a:cs typeface="Calibri" pitchFamily="34" charset="-120"/>
              </a:rPr>
              <a:t>⚠ Weaviate: module lives in patches/ folder and must be copied with docker cp after every container rebuild.</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4.1 — Building Security Memory (Part 1): Corpus &amp; Config</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What security memory means (same as Lab 1):</a:t>
            </a:r>
            <a:endParaRPr lang="en-US" sz="1400" dirty="0"/>
          </a:p>
        </p:txBody>
      </p:sp>
      <p:sp>
        <p:nvSpPr>
          <p:cNvPr id="7" name="Text 4"/>
          <p:cNvSpPr/>
          <p:nvPr/>
        </p:nvSpPr>
        <p:spPr>
          <a:xfrm>
            <a:off x="365760" y="1298448"/>
            <a:ext cx="8412480" cy="9601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E63946"/>
                </a:solidFill>
                <a:latin typeface="Calibri" pitchFamily="34" charset="0"/>
                <a:ea typeface="Calibri" pitchFamily="34" charset="-122"/>
                <a:cs typeface="Calibri" pitchFamily="34" charset="-120"/>
              </a:rPr>
              <a:t>NOT a fine-tuned model or persistent model state</a:t>
            </a:r>
            <a:endParaRPr lang="en-US" sz="1300" dirty="0"/>
          </a:p>
          <a:p>
            <a:pPr marL="342900" indent="-342900">
              <a:spcAft>
                <a:spcPts val="300"/>
              </a:spcAft>
              <a:buSzPct val="100000"/>
              <a:buChar char="•"/>
            </a:pPr>
            <a:r>
              <a:rPr lang="en-US" sz="1300" dirty="0">
                <a:solidFill>
                  <a:srgbClr val="2DC653"/>
                </a:solidFill>
                <a:latin typeface="Calibri" pitchFamily="34" charset="0"/>
                <a:ea typeface="Calibri" pitchFamily="34" charset="-122"/>
                <a:cs typeface="Calibri" pitchFamily="34" charset="-120"/>
              </a:rPr>
              <a:t>IS a curated reference corpus stored as searchable Weaviate objects in ExpandedVSCodeMemory class</a:t>
            </a:r>
            <a:endParaRPr lang="en-US" sz="1300" dirty="0"/>
          </a:p>
          <a:p>
            <a:pPr marL="342900" indent="-342900">
              <a:spcAft>
                <a:spcPts val="300"/>
              </a:spcAft>
              <a:buSzPct val="100000"/>
              <a:buChar char="•"/>
            </a:pPr>
            <a:r>
              <a:rPr lang="en-US" sz="1300" dirty="0">
                <a:solidFill>
                  <a:srgbClr val="2DC653"/>
                </a:solidFill>
                <a:latin typeface="Calibri" pitchFamily="34" charset="0"/>
                <a:ea typeface="Calibri" pitchFamily="34" charset="-122"/>
                <a:cs typeface="Calibri" pitchFamily="34" charset="-120"/>
              </a:rPr>
              <a:t>Weaviate auto-embeds each chunk via text2vec-transformers during ingestion — no separate embed call</a:t>
            </a:r>
            <a:endParaRPr lang="en-US" sz="1300" dirty="0"/>
          </a:p>
        </p:txBody>
      </p:sp>
      <p:sp>
        <p:nvSpPr>
          <p:cNvPr id="8" name="Text 5"/>
          <p:cNvSpPr/>
          <p:nvPr/>
        </p:nvSpPr>
        <p:spPr>
          <a:xfrm>
            <a:off x="365760" y="2377440"/>
            <a:ext cx="841248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Corpus organization (security-memory/data/):</a:t>
            </a:r>
            <a:endParaRPr lang="en-US" sz="1400" dirty="0"/>
          </a:p>
        </p:txBody>
      </p:sp>
      <p:sp>
        <p:nvSpPr>
          <p:cNvPr id="9" name="Shape 6"/>
          <p:cNvSpPr/>
          <p:nvPr/>
        </p:nvSpPr>
        <p:spPr>
          <a:xfrm>
            <a:off x="365760" y="2743200"/>
            <a:ext cx="4069080" cy="384048"/>
          </a:xfrm>
          <a:prstGeom prst="rect">
            <a:avLst/>
          </a:prstGeom>
          <a:solidFill>
            <a:srgbClr val="192C20"/>
          </a:solidFill>
          <a:ln/>
        </p:spPr>
      </p:sp>
      <p:sp>
        <p:nvSpPr>
          <p:cNvPr id="10" name="Text 7"/>
          <p:cNvSpPr/>
          <p:nvPr/>
        </p:nvSpPr>
        <p:spPr>
          <a:xfrm>
            <a:off x="475488" y="2743200"/>
            <a:ext cx="1097280" cy="384048"/>
          </a:xfrm>
          <a:prstGeom prst="rect">
            <a:avLst/>
          </a:prstGeom>
          <a:noFill/>
          <a:ln/>
        </p:spPr>
        <p:txBody>
          <a:bodyPr wrap="square" rtlCol="0" anchor="ctr"/>
          <a:lstStyle/>
          <a:p>
            <a:pPr indent="0" marL="0">
              <a:buNone/>
            </a:pPr>
            <a:r>
              <a:rPr lang="en-US" sz="1250" b="1" dirty="0">
                <a:solidFill>
                  <a:srgbClr val="00C4B4"/>
                </a:solidFill>
                <a:latin typeface="Consolas" pitchFamily="34" charset="0"/>
                <a:ea typeface="Consolas" pitchFamily="34" charset="-122"/>
                <a:cs typeface="Consolas" pitchFamily="34" charset="-120"/>
              </a:rPr>
              <a:t>nist/</a:t>
            </a:r>
            <a:endParaRPr lang="en-US" sz="1250" dirty="0"/>
          </a:p>
        </p:txBody>
      </p:sp>
      <p:sp>
        <p:nvSpPr>
          <p:cNvPr id="11" name="Text 8"/>
          <p:cNvSpPr/>
          <p:nvPr/>
        </p:nvSpPr>
        <p:spPr>
          <a:xfrm>
            <a:off x="1627632" y="2743200"/>
            <a:ext cx="2697480" cy="384048"/>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NIST Cybersecurity Framework, NIST 800-53</a:t>
            </a:r>
            <a:endParaRPr lang="en-US" sz="1200" dirty="0"/>
          </a:p>
        </p:txBody>
      </p:sp>
      <p:sp>
        <p:nvSpPr>
          <p:cNvPr id="12" name="Shape 9"/>
          <p:cNvSpPr/>
          <p:nvPr/>
        </p:nvSpPr>
        <p:spPr>
          <a:xfrm>
            <a:off x="4663440" y="2743200"/>
            <a:ext cx="4069080" cy="384048"/>
          </a:xfrm>
          <a:prstGeom prst="rect">
            <a:avLst/>
          </a:prstGeom>
          <a:solidFill>
            <a:srgbClr val="192C20"/>
          </a:solidFill>
          <a:ln/>
        </p:spPr>
      </p:sp>
      <p:sp>
        <p:nvSpPr>
          <p:cNvPr id="13" name="Text 10"/>
          <p:cNvSpPr/>
          <p:nvPr/>
        </p:nvSpPr>
        <p:spPr>
          <a:xfrm>
            <a:off x="4773168" y="2743200"/>
            <a:ext cx="1097280" cy="384048"/>
          </a:xfrm>
          <a:prstGeom prst="rect">
            <a:avLst/>
          </a:prstGeom>
          <a:noFill/>
          <a:ln/>
        </p:spPr>
        <p:txBody>
          <a:bodyPr wrap="square" rtlCol="0" anchor="ctr"/>
          <a:lstStyle/>
          <a:p>
            <a:pPr indent="0" marL="0">
              <a:buNone/>
            </a:pPr>
            <a:r>
              <a:rPr lang="en-US" sz="1250" b="1" dirty="0">
                <a:solidFill>
                  <a:srgbClr val="00C4B4"/>
                </a:solidFill>
                <a:latin typeface="Consolas" pitchFamily="34" charset="0"/>
                <a:ea typeface="Consolas" pitchFamily="34" charset="-122"/>
                <a:cs typeface="Consolas" pitchFamily="34" charset="-120"/>
              </a:rPr>
              <a:t>cis/</a:t>
            </a:r>
            <a:endParaRPr lang="en-US" sz="1250" dirty="0"/>
          </a:p>
        </p:txBody>
      </p:sp>
      <p:sp>
        <p:nvSpPr>
          <p:cNvPr id="14" name="Text 11"/>
          <p:cNvSpPr/>
          <p:nvPr/>
        </p:nvSpPr>
        <p:spPr>
          <a:xfrm>
            <a:off x="5925312" y="2743200"/>
            <a:ext cx="2697480" cy="384048"/>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CIS Controls v8, CIS Docker Benchmark</a:t>
            </a:r>
            <a:endParaRPr lang="en-US" sz="1200" dirty="0"/>
          </a:p>
        </p:txBody>
      </p:sp>
      <p:sp>
        <p:nvSpPr>
          <p:cNvPr id="15" name="Shape 12"/>
          <p:cNvSpPr/>
          <p:nvPr/>
        </p:nvSpPr>
        <p:spPr>
          <a:xfrm>
            <a:off x="365760" y="3218688"/>
            <a:ext cx="4069080" cy="384048"/>
          </a:xfrm>
          <a:prstGeom prst="rect">
            <a:avLst/>
          </a:prstGeom>
          <a:solidFill>
            <a:srgbClr val="192C20"/>
          </a:solidFill>
          <a:ln/>
        </p:spPr>
      </p:sp>
      <p:sp>
        <p:nvSpPr>
          <p:cNvPr id="16" name="Text 13"/>
          <p:cNvSpPr/>
          <p:nvPr/>
        </p:nvSpPr>
        <p:spPr>
          <a:xfrm>
            <a:off x="475488" y="3218688"/>
            <a:ext cx="1097280" cy="384048"/>
          </a:xfrm>
          <a:prstGeom prst="rect">
            <a:avLst/>
          </a:prstGeom>
          <a:noFill/>
          <a:ln/>
        </p:spPr>
        <p:txBody>
          <a:bodyPr wrap="square" rtlCol="0" anchor="ctr"/>
          <a:lstStyle/>
          <a:p>
            <a:pPr indent="0" marL="0">
              <a:buNone/>
            </a:pPr>
            <a:r>
              <a:rPr lang="en-US" sz="1250" b="1" dirty="0">
                <a:solidFill>
                  <a:srgbClr val="00C4B4"/>
                </a:solidFill>
                <a:latin typeface="Consolas" pitchFamily="34" charset="0"/>
                <a:ea typeface="Consolas" pitchFamily="34" charset="-122"/>
                <a:cs typeface="Consolas" pitchFamily="34" charset="-120"/>
              </a:rPr>
              <a:t>mitre/</a:t>
            </a:r>
            <a:endParaRPr lang="en-US" sz="1250" dirty="0"/>
          </a:p>
        </p:txBody>
      </p:sp>
      <p:sp>
        <p:nvSpPr>
          <p:cNvPr id="17" name="Text 14"/>
          <p:cNvSpPr/>
          <p:nvPr/>
        </p:nvSpPr>
        <p:spPr>
          <a:xfrm>
            <a:off x="1627632" y="3218688"/>
            <a:ext cx="2697480" cy="384048"/>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MITRE ATT&amp;CK Enterprise, CAPEC</a:t>
            </a:r>
            <a:endParaRPr lang="en-US" sz="1200" dirty="0"/>
          </a:p>
        </p:txBody>
      </p:sp>
      <p:sp>
        <p:nvSpPr>
          <p:cNvPr id="18" name="Shape 15"/>
          <p:cNvSpPr/>
          <p:nvPr/>
        </p:nvSpPr>
        <p:spPr>
          <a:xfrm>
            <a:off x="4663440" y="3218688"/>
            <a:ext cx="4069080" cy="384048"/>
          </a:xfrm>
          <a:prstGeom prst="rect">
            <a:avLst/>
          </a:prstGeom>
          <a:solidFill>
            <a:srgbClr val="192C20"/>
          </a:solidFill>
          <a:ln/>
        </p:spPr>
      </p:sp>
      <p:sp>
        <p:nvSpPr>
          <p:cNvPr id="19" name="Text 16"/>
          <p:cNvSpPr/>
          <p:nvPr/>
        </p:nvSpPr>
        <p:spPr>
          <a:xfrm>
            <a:off x="4773168" y="3218688"/>
            <a:ext cx="1097280" cy="384048"/>
          </a:xfrm>
          <a:prstGeom prst="rect">
            <a:avLst/>
          </a:prstGeom>
          <a:noFill/>
          <a:ln/>
        </p:spPr>
        <p:txBody>
          <a:bodyPr wrap="square" rtlCol="0" anchor="ctr"/>
          <a:lstStyle/>
          <a:p>
            <a:pPr indent="0" marL="0">
              <a:buNone/>
            </a:pPr>
            <a:r>
              <a:rPr lang="en-US" sz="1250" b="1" dirty="0">
                <a:solidFill>
                  <a:srgbClr val="00C4B4"/>
                </a:solidFill>
                <a:latin typeface="Consolas" pitchFamily="34" charset="0"/>
                <a:ea typeface="Consolas" pitchFamily="34" charset="-122"/>
                <a:cs typeface="Consolas" pitchFamily="34" charset="-120"/>
              </a:rPr>
              <a:t>owasp/</a:t>
            </a:r>
            <a:endParaRPr lang="en-US" sz="1250" dirty="0"/>
          </a:p>
        </p:txBody>
      </p:sp>
      <p:sp>
        <p:nvSpPr>
          <p:cNvPr id="20" name="Text 17"/>
          <p:cNvSpPr/>
          <p:nvPr/>
        </p:nvSpPr>
        <p:spPr>
          <a:xfrm>
            <a:off x="5925312" y="3218688"/>
            <a:ext cx="2697480" cy="384048"/>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OWASP Top 10, OWASP API Security Top 10</a:t>
            </a:r>
            <a:endParaRPr lang="en-US" sz="1200" dirty="0"/>
          </a:p>
        </p:txBody>
      </p:sp>
      <p:sp>
        <p:nvSpPr>
          <p:cNvPr id="21" name="Shape 18"/>
          <p:cNvSpPr/>
          <p:nvPr/>
        </p:nvSpPr>
        <p:spPr>
          <a:xfrm>
            <a:off x="365760" y="3694176"/>
            <a:ext cx="4069080" cy="384048"/>
          </a:xfrm>
          <a:prstGeom prst="rect">
            <a:avLst/>
          </a:prstGeom>
          <a:solidFill>
            <a:srgbClr val="192C20"/>
          </a:solidFill>
          <a:ln/>
        </p:spPr>
      </p:sp>
      <p:sp>
        <p:nvSpPr>
          <p:cNvPr id="22" name="Text 19"/>
          <p:cNvSpPr/>
          <p:nvPr/>
        </p:nvSpPr>
        <p:spPr>
          <a:xfrm>
            <a:off x="475488" y="3694176"/>
            <a:ext cx="1097280" cy="384048"/>
          </a:xfrm>
          <a:prstGeom prst="rect">
            <a:avLst/>
          </a:prstGeom>
          <a:noFill/>
          <a:ln/>
        </p:spPr>
        <p:txBody>
          <a:bodyPr wrap="square" rtlCol="0" anchor="ctr"/>
          <a:lstStyle/>
          <a:p>
            <a:pPr indent="0" marL="0">
              <a:buNone/>
            </a:pPr>
            <a:r>
              <a:rPr lang="en-US" sz="1250" b="1" dirty="0">
                <a:solidFill>
                  <a:srgbClr val="00C4B4"/>
                </a:solidFill>
                <a:latin typeface="Consolas" pitchFamily="34" charset="0"/>
                <a:ea typeface="Consolas" pitchFamily="34" charset="-122"/>
                <a:cs typeface="Consolas" pitchFamily="34" charset="-120"/>
              </a:rPr>
              <a:t>cisa/</a:t>
            </a:r>
            <a:endParaRPr lang="en-US" sz="1250" dirty="0"/>
          </a:p>
        </p:txBody>
      </p:sp>
      <p:sp>
        <p:nvSpPr>
          <p:cNvPr id="23" name="Text 20"/>
          <p:cNvSpPr/>
          <p:nvPr/>
        </p:nvSpPr>
        <p:spPr>
          <a:xfrm>
            <a:off x="1627632" y="3694176"/>
            <a:ext cx="2697480" cy="384048"/>
          </a:xfrm>
          <a:prstGeom prst="rect">
            <a:avLst/>
          </a:prstGeom>
          <a:noFill/>
          <a:ln/>
        </p:spPr>
        <p:txBody>
          <a:bodyPr wrap="square" rtlCol="0" anchor="ctr"/>
          <a:lstStyle/>
          <a:p>
            <a:pPr indent="0" marL="0">
              <a:buNone/>
            </a:pPr>
            <a:r>
              <a:rPr lang="en-US" sz="1200" dirty="0">
                <a:solidFill>
                  <a:srgbClr val="D8ECEC"/>
                </a:solidFill>
                <a:latin typeface="Calibri" pitchFamily="34" charset="0"/>
                <a:ea typeface="Calibri" pitchFamily="34" charset="-122"/>
                <a:cs typeface="Calibri" pitchFamily="34" charset="-120"/>
              </a:rPr>
              <a:t>CISA advisories and guidance</a:t>
            </a:r>
            <a:endParaRPr lang="en-US" sz="1200" dirty="0"/>
          </a:p>
        </p:txBody>
      </p:sp>
      <p:sp>
        <p:nvSpPr>
          <p:cNvPr id="24" name="Text 21"/>
          <p:cNvSpPr/>
          <p:nvPr/>
        </p:nvSpPr>
        <p:spPr>
          <a:xfrm>
            <a:off x="365760" y="4526280"/>
            <a:ext cx="8412480" cy="274320"/>
          </a:xfrm>
          <a:prstGeom prst="rect">
            <a:avLst/>
          </a:prstGeom>
          <a:noFill/>
          <a:ln/>
        </p:spPr>
        <p:txBody>
          <a:bodyPr wrap="square" rtlCol="0" anchor="ctr"/>
          <a:lstStyle/>
          <a:p>
            <a:pPr indent="0" marL="0">
              <a:buNone/>
            </a:pPr>
            <a:r>
              <a:rPr lang="en-US" sz="1100" dirty="0">
                <a:solidFill>
                  <a:srgbClr val="FFD166"/>
                </a:solidFill>
                <a:latin typeface="Consolas" pitchFamily="34" charset="0"/>
                <a:ea typeface="Consolas" pitchFamily="34" charset="-122"/>
                <a:cs typeface="Consolas" pitchFamily="34" charset="-120"/>
              </a:rPr>
              <a:t>Env vars: SECURITY_COLLECTION=ExpandedVSCodeMemory | SECURITY_TOP_K=6 | SECURITY_CHUNK_CHARS=1200 | SECURITY_CHUNK_OVERLAP=200</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4.1 — Building Security Memory (Part 2): Patches + Ingestion + Verification</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 Weaviate-specific: apply the patches module first!</a:t>
            </a:r>
            <a:endParaRPr lang="en-US" sz="1400" dirty="0"/>
          </a:p>
        </p:txBody>
      </p:sp>
      <p:sp>
        <p:nvSpPr>
          <p:cNvPr id="7" name="Shape 4"/>
          <p:cNvSpPr/>
          <p:nvPr/>
        </p:nvSpPr>
        <p:spPr>
          <a:xfrm>
            <a:off x="320040" y="1234440"/>
            <a:ext cx="8503920" cy="896112"/>
          </a:xfrm>
          <a:prstGeom prst="rect">
            <a:avLst/>
          </a:prstGeom>
          <a:solidFill>
            <a:srgbClr val="0D1B2A"/>
          </a:solidFill>
          <a:ln/>
        </p:spPr>
      </p:sp>
      <p:sp>
        <p:nvSpPr>
          <p:cNvPr id="8" name="Text 5"/>
          <p:cNvSpPr/>
          <p:nvPr/>
        </p:nvSpPr>
        <p:spPr>
          <a:xfrm>
            <a:off x="457200" y="1252728"/>
            <a:ext cx="8321040" cy="859536"/>
          </a:xfrm>
          <a:prstGeom prst="rect">
            <a:avLst/>
          </a:prstGeom>
          <a:noFill/>
          <a:ln/>
        </p:spPr>
        <p:txBody>
          <a:bodyPr wrap="square" rtlCol="0" anchor="ctr"/>
          <a:lstStyle/>
          <a:p>
            <a:pPr indent="0" marL="0">
              <a:buNone/>
            </a:pPr>
            <a:r>
              <a:rPr lang="en-US" sz="1200" dirty="0">
                <a:solidFill>
                  <a:srgbClr val="00C4B4"/>
                </a:solidFill>
                <a:latin typeface="Consolas" pitchFamily="34" charset="0"/>
                <a:ea typeface="Consolas" pitchFamily="34" charset="-122"/>
                <a:cs typeface="Consolas" pitchFamily="34" charset="-120"/>
              </a:rPr>
              <a:t>docker compose up -d --build ingestion-api</a:t>
            </a:r>
            <a:endParaRPr lang="en-US" sz="1200" dirty="0"/>
          </a:p>
          <a:p>
            <a:pPr indent="0" marL="0">
              <a:buNone/>
            </a:pPr>
            <a:r>
              <a:rPr lang="en-US" sz="1200" dirty="0">
                <a:solidFill>
                  <a:srgbClr val="00C4B4"/>
                </a:solidFill>
                <a:latin typeface="Consolas" pitchFamily="34" charset="0"/>
                <a:ea typeface="Consolas" pitchFamily="34" charset="-122"/>
                <a:cs typeface="Consolas" pitchFamily="34" charset="-120"/>
              </a:rPr>
              <a:t>docker cp patches/ingestion-api/app/security_memory ingestion-api:/app/app/security_memory</a:t>
            </a:r>
            <a:endParaRPr lang="en-US" sz="1200" dirty="0"/>
          </a:p>
          <a:p>
            <a:pPr indent="0" marL="0">
              <a:buNone/>
            </a:pPr>
            <a:r>
              <a:rPr lang="en-US" sz="1200" dirty="0">
                <a:solidFill>
                  <a:srgbClr val="00C4B4"/>
                </a:solidFill>
                <a:latin typeface="Consolas" pitchFamily="34" charset="0"/>
                <a:ea typeface="Consolas" pitchFamily="34" charset="-122"/>
                <a:cs typeface="Consolas" pitchFamily="34" charset="-120"/>
              </a:rPr>
              <a:t>docker compose restart ingestion-api</a:t>
            </a:r>
            <a:endParaRPr lang="en-US" sz="1200" dirty="0"/>
          </a:p>
        </p:txBody>
      </p:sp>
      <p:sp>
        <p:nvSpPr>
          <p:cNvPr id="9" name="Text 6"/>
          <p:cNvSpPr/>
          <p:nvPr/>
        </p:nvSpPr>
        <p:spPr>
          <a:xfrm>
            <a:off x="320040" y="2240280"/>
            <a:ext cx="850392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Then run ingestion (30 min – 2 hours):</a:t>
            </a:r>
            <a:endParaRPr lang="en-US" sz="1400" dirty="0"/>
          </a:p>
        </p:txBody>
      </p:sp>
      <p:sp>
        <p:nvSpPr>
          <p:cNvPr id="10" name="Shape 7"/>
          <p:cNvSpPr/>
          <p:nvPr/>
        </p:nvSpPr>
        <p:spPr>
          <a:xfrm>
            <a:off x="320040" y="2606040"/>
            <a:ext cx="8503920" cy="384048"/>
          </a:xfrm>
          <a:prstGeom prst="rect">
            <a:avLst/>
          </a:prstGeom>
          <a:solidFill>
            <a:srgbClr val="0D1B2A"/>
          </a:solidFill>
          <a:ln/>
        </p:spPr>
      </p:sp>
      <p:sp>
        <p:nvSpPr>
          <p:cNvPr id="11" name="Text 8"/>
          <p:cNvSpPr/>
          <p:nvPr/>
        </p:nvSpPr>
        <p:spPr>
          <a:xfrm>
            <a:off x="457200" y="2624328"/>
            <a:ext cx="8321040" cy="347472"/>
          </a:xfrm>
          <a:prstGeom prst="rect">
            <a:avLst/>
          </a:prstGeom>
          <a:noFill/>
          <a:ln/>
        </p:spPr>
        <p:txBody>
          <a:bodyPr wrap="square" rtlCol="0" anchor="ctr"/>
          <a:lstStyle/>
          <a:p>
            <a:pPr indent="0" marL="0">
              <a:buNone/>
            </a:pPr>
            <a:r>
              <a:rPr lang="en-US" sz="1300" dirty="0">
                <a:solidFill>
                  <a:srgbClr val="00C4B4"/>
                </a:solidFill>
                <a:latin typeface="Consolas" pitchFamily="34" charset="0"/>
                <a:ea typeface="Consolas" pitchFamily="34" charset="-122"/>
                <a:cs typeface="Consolas" pitchFamily="34" charset="-120"/>
              </a:rPr>
              <a:t>docker exec -i ingestion-api python -m app.security_memory.ingest</a:t>
            </a:r>
            <a:endParaRPr lang="en-US" sz="1300" dirty="0"/>
          </a:p>
        </p:txBody>
      </p:sp>
      <p:sp>
        <p:nvSpPr>
          <p:cNvPr id="12" name="Text 9"/>
          <p:cNvSpPr/>
          <p:nvPr/>
        </p:nvSpPr>
        <p:spPr>
          <a:xfrm>
            <a:off x="320040" y="3090672"/>
            <a:ext cx="850392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Verify ingestion (GraphQL — Weaviate has no dashboard like Qdrant):</a:t>
            </a:r>
            <a:endParaRPr lang="en-US" sz="1400" dirty="0"/>
          </a:p>
        </p:txBody>
      </p:sp>
      <p:sp>
        <p:nvSpPr>
          <p:cNvPr id="13" name="Shape 10"/>
          <p:cNvSpPr/>
          <p:nvPr/>
        </p:nvSpPr>
        <p:spPr>
          <a:xfrm>
            <a:off x="320040" y="3456432"/>
            <a:ext cx="8503920" cy="621792"/>
          </a:xfrm>
          <a:prstGeom prst="rect">
            <a:avLst/>
          </a:prstGeom>
          <a:solidFill>
            <a:srgbClr val="0D1B2A"/>
          </a:solidFill>
          <a:ln/>
        </p:spPr>
      </p:sp>
      <p:sp>
        <p:nvSpPr>
          <p:cNvPr id="14" name="Text 11"/>
          <p:cNvSpPr/>
          <p:nvPr/>
        </p:nvSpPr>
        <p:spPr>
          <a:xfrm>
            <a:off x="457200" y="3474720"/>
            <a:ext cx="8321040" cy="585216"/>
          </a:xfrm>
          <a:prstGeom prst="rect">
            <a:avLst/>
          </a:prstGeom>
          <a:noFill/>
          <a:ln/>
        </p:spPr>
        <p:txBody>
          <a:bodyPr wrap="square" rtlCol="0" anchor="ctr"/>
          <a:lstStyle/>
          <a:p>
            <a:pPr indent="0" marL="0">
              <a:buNone/>
            </a:pPr>
            <a:r>
              <a:rPr lang="en-US" sz="1150" dirty="0">
                <a:solidFill>
                  <a:srgbClr val="00C4B4"/>
                </a:solidFill>
                <a:latin typeface="Consolas" pitchFamily="34" charset="0"/>
                <a:ea typeface="Consolas" pitchFamily="34" charset="-122"/>
                <a:cs typeface="Consolas" pitchFamily="34" charset="-120"/>
              </a:rPr>
              <a:t>docker exec -i ingestion-api python -c "</a:t>
            </a:r>
            <a:endParaRPr lang="en-US" sz="1150" dirty="0"/>
          </a:p>
          <a:p>
            <a:pPr indent="0" marL="0">
              <a:buNone/>
            </a:pPr>
            <a:r>
              <a:rPr lang="en-US" sz="1150" dirty="0">
                <a:solidFill>
                  <a:srgbClr val="00C4B4"/>
                </a:solidFill>
                <a:latin typeface="Consolas" pitchFamily="34" charset="0"/>
                <a:ea typeface="Consolas" pitchFamily="34" charset="-122"/>
                <a:cs typeface="Consolas" pitchFamily="34" charset="-120"/>
              </a:rPr>
              <a:t>import httpx, os</a:t>
            </a:r>
            <a:endParaRPr lang="en-US" sz="1150" dirty="0"/>
          </a:p>
          <a:p>
            <a:pPr indent="0" marL="0">
              <a:buNone/>
            </a:pPr>
            <a:r>
              <a:rPr lang="en-US" sz="1150" dirty="0">
                <a:solidFill>
                  <a:srgbClr val="00C4B4"/>
                </a:solidFill>
                <a:latin typeface="Consolas" pitchFamily="34" charset="0"/>
                <a:ea typeface="Consolas" pitchFamily="34" charset="-122"/>
                <a:cs typeface="Consolas" pitchFamily="34" charset="-120"/>
              </a:rPr>
              <a:t>r = httpx.post(f'http://weaviate:8080/v1/graphql', json={'query': '{ Aggregate { ExpandedVSCodeMemory { meta { count } } } }'})</a:t>
            </a:r>
            <a:endParaRPr lang="en-US" sz="1150" dirty="0"/>
          </a:p>
          <a:p>
            <a:pPr indent="0" marL="0">
              <a:buNone/>
            </a:pPr>
            <a:r>
              <a:rPr lang="en-US" sz="1150" dirty="0">
                <a:solidFill>
                  <a:srgbClr val="00C4B4"/>
                </a:solidFill>
                <a:latin typeface="Consolas" pitchFamily="34" charset="0"/>
                <a:ea typeface="Consolas" pitchFamily="34" charset="-122"/>
                <a:cs typeface="Consolas" pitchFamily="34" charset="-120"/>
              </a:rPr>
              <a:t>print(r.json())"</a:t>
            </a:r>
            <a:endParaRPr lang="en-US" sz="1150" dirty="0"/>
          </a:p>
        </p:txBody>
      </p:sp>
      <p:sp>
        <p:nvSpPr>
          <p:cNvPr id="15" name="Text 12"/>
          <p:cNvSpPr/>
          <p:nvPr/>
        </p:nvSpPr>
        <p:spPr>
          <a:xfrm>
            <a:off x="320040" y="4187952"/>
            <a:ext cx="8503920" cy="320040"/>
          </a:xfrm>
          <a:prstGeom prst="rect">
            <a:avLst/>
          </a:prstGeom>
          <a:noFill/>
          <a:ln/>
        </p:spPr>
        <p:txBody>
          <a:bodyPr wrap="square" rtlCol="0" anchor="ctr"/>
          <a:lstStyle/>
          <a:p>
            <a:pPr indent="0" marL="0">
              <a:buNone/>
            </a:pPr>
            <a:r>
              <a:rPr lang="en-US" sz="1250" i="1" dirty="0">
                <a:solidFill>
                  <a:srgbClr val="2DC653"/>
                </a:solidFill>
                <a:latin typeface="Calibri" pitchFamily="34" charset="0"/>
                <a:ea typeface="Calibri" pitchFamily="34" charset="-122"/>
                <a:cs typeface="Calibri" pitchFamily="34" charset="-120"/>
              </a:rPr>
              <a:t>✓ Complete when: count &gt; 0 and /memory/query returns relevant chunks with distance scores.</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4.2 — Security Tool API: /memory/health &amp; /memory/query</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Tool contract — same concept as Lab 1, Weaviate-specific response:</a:t>
            </a:r>
            <a:endParaRPr lang="en-US" sz="1400" dirty="0"/>
          </a:p>
        </p:txBody>
      </p:sp>
      <p:sp>
        <p:nvSpPr>
          <p:cNvPr id="7" name="Text 4"/>
          <p:cNvSpPr/>
          <p:nvPr/>
        </p:nvSpPr>
        <p:spPr>
          <a:xfrm>
            <a:off x="365760" y="1298448"/>
            <a:ext cx="4023360" cy="292608"/>
          </a:xfrm>
          <a:prstGeom prst="rect">
            <a:avLst/>
          </a:prstGeom>
          <a:noFill/>
          <a:ln/>
        </p:spPr>
        <p:txBody>
          <a:bodyPr wrap="square"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Request shape (identical to Lab 1):</a:t>
            </a:r>
            <a:endParaRPr lang="en-US" sz="1300" dirty="0"/>
          </a:p>
        </p:txBody>
      </p:sp>
      <p:sp>
        <p:nvSpPr>
          <p:cNvPr id="8" name="Shape 5"/>
          <p:cNvSpPr/>
          <p:nvPr/>
        </p:nvSpPr>
        <p:spPr>
          <a:xfrm>
            <a:off x="365760" y="1627632"/>
            <a:ext cx="4023360" cy="1005840"/>
          </a:xfrm>
          <a:prstGeom prst="rect">
            <a:avLst/>
          </a:prstGeom>
          <a:solidFill>
            <a:srgbClr val="192C20"/>
          </a:solidFill>
          <a:ln/>
        </p:spPr>
      </p:sp>
      <p:sp>
        <p:nvSpPr>
          <p:cNvPr id="9" name="Text 6"/>
          <p:cNvSpPr/>
          <p:nvPr/>
        </p:nvSpPr>
        <p:spPr>
          <a:xfrm>
            <a:off x="502920" y="1645920"/>
            <a:ext cx="3749040" cy="960120"/>
          </a:xfrm>
          <a:prstGeom prst="rect">
            <a:avLst/>
          </a:prstGeom>
          <a:noFill/>
          <a:ln/>
        </p:spPr>
        <p:txBody>
          <a:bodyPr wrap="square" rtlCol="0" anchor="t"/>
          <a:lstStyle/>
          <a:p>
            <a:pPr indent="0" marL="0">
              <a:buNone/>
            </a:pPr>
            <a:r>
              <a:rPr lang="en-US" sz="1100" dirty="0">
                <a:solidFill>
                  <a:srgbClr val="00C4B4"/>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00C4B4"/>
                </a:solidFill>
                <a:latin typeface="Consolas" pitchFamily="34" charset="0"/>
                <a:ea typeface="Consolas" pitchFamily="34" charset="-122"/>
                <a:cs typeface="Consolas" pitchFamily="34" charset="-120"/>
              </a:rPr>
              <a:t>  "query": "docker security best practices",</a:t>
            </a:r>
            <a:endParaRPr lang="en-US" sz="1100" dirty="0"/>
          </a:p>
          <a:p>
            <a:pPr indent="0" marL="0">
              <a:buNone/>
            </a:pPr>
            <a:r>
              <a:rPr lang="en-US" sz="1100" dirty="0">
                <a:solidFill>
                  <a:srgbClr val="00C4B4"/>
                </a:solidFill>
                <a:latin typeface="Consolas" pitchFamily="34" charset="0"/>
                <a:ea typeface="Consolas" pitchFamily="34" charset="-122"/>
                <a:cs typeface="Consolas" pitchFamily="34" charset="-120"/>
              </a:rPr>
              <a:t>  "tags": ["docker", "cis"],</a:t>
            </a:r>
            <a:endParaRPr lang="en-US" sz="1100" dirty="0"/>
          </a:p>
          <a:p>
            <a:pPr indent="0" marL="0">
              <a:buNone/>
            </a:pPr>
            <a:r>
              <a:rPr lang="en-US" sz="1100" dirty="0">
                <a:solidFill>
                  <a:srgbClr val="00C4B4"/>
                </a:solidFill>
                <a:latin typeface="Consolas" pitchFamily="34" charset="0"/>
                <a:ea typeface="Consolas" pitchFamily="34" charset="-122"/>
                <a:cs typeface="Consolas" pitchFamily="34" charset="-120"/>
              </a:rPr>
              <a:t>  "top_k": 6</a:t>
            </a:r>
            <a:endParaRPr lang="en-US" sz="1100" dirty="0"/>
          </a:p>
          <a:p>
            <a:pPr indent="0" marL="0">
              <a:buNone/>
            </a:pPr>
            <a:r>
              <a:rPr lang="en-US" sz="1100" dirty="0">
                <a:solidFill>
                  <a:srgbClr val="00C4B4"/>
                </a:solidFill>
                <a:latin typeface="Consolas" pitchFamily="34" charset="0"/>
                <a:ea typeface="Consolas" pitchFamily="34" charset="-122"/>
                <a:cs typeface="Consolas" pitchFamily="34" charset="-120"/>
              </a:rPr>
              <a:t>}</a:t>
            </a:r>
            <a:endParaRPr lang="en-US" sz="1100" dirty="0"/>
          </a:p>
        </p:txBody>
      </p:sp>
      <p:sp>
        <p:nvSpPr>
          <p:cNvPr id="10" name="Text 7"/>
          <p:cNvSpPr/>
          <p:nvPr/>
        </p:nvSpPr>
        <p:spPr>
          <a:xfrm>
            <a:off x="4754880" y="1298448"/>
            <a:ext cx="4023360" cy="292608"/>
          </a:xfrm>
          <a:prstGeom prst="rect">
            <a:avLst/>
          </a:prstGeom>
          <a:noFill/>
          <a:ln/>
        </p:spPr>
        <p:txBody>
          <a:bodyPr wrap="square"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Response — Weaviate version:</a:t>
            </a:r>
            <a:endParaRPr lang="en-US" sz="1300" dirty="0"/>
          </a:p>
        </p:txBody>
      </p:sp>
      <p:sp>
        <p:nvSpPr>
          <p:cNvPr id="11" name="Text 8"/>
          <p:cNvSpPr/>
          <p:nvPr/>
        </p:nvSpPr>
        <p:spPr>
          <a:xfrm>
            <a:off x="4754880" y="1627632"/>
            <a:ext cx="4023360" cy="15544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score — Weaviate DISTANCE (0-2, LOWER = better match)</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title — document title</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source — subfolder name (e.g. 'cis')</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tags — inferred tags list</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chunk_index — chunk position</a:t>
            </a:r>
            <a:endParaRPr lang="en-US" sz="1200" dirty="0"/>
          </a:p>
          <a:p>
            <a:pPr marL="342900" indent="-342900">
              <a:spcAft>
                <a:spcPts val="400"/>
              </a:spcAft>
              <a:buSzPct val="100000"/>
              <a:buChar char="•"/>
            </a:pPr>
            <a:r>
              <a:rPr lang="en-US" sz="1200" dirty="0">
                <a:solidFill>
                  <a:srgbClr val="D8ECEC"/>
                </a:solidFill>
                <a:latin typeface="Calibri" pitchFamily="34" charset="0"/>
                <a:ea typeface="Calibri" pitchFamily="34" charset="-122"/>
                <a:cs typeface="Calibri" pitchFamily="34" charset="-120"/>
              </a:rPr>
              <a:t>text — the actual chunk content</a:t>
            </a:r>
            <a:endParaRPr lang="en-US" sz="1200" dirty="0"/>
          </a:p>
        </p:txBody>
      </p:sp>
      <p:sp>
        <p:nvSpPr>
          <p:cNvPr id="12" name="Shape 9"/>
          <p:cNvSpPr/>
          <p:nvPr/>
        </p:nvSpPr>
        <p:spPr>
          <a:xfrm>
            <a:off x="365760" y="2743200"/>
            <a:ext cx="8412480" cy="384048"/>
          </a:xfrm>
          <a:prstGeom prst="rect">
            <a:avLst/>
          </a:prstGeom>
          <a:solidFill>
            <a:srgbClr val="2A1800"/>
          </a:solidFill>
          <a:ln/>
        </p:spPr>
      </p:sp>
      <p:sp>
        <p:nvSpPr>
          <p:cNvPr id="13" name="Text 10"/>
          <p:cNvSpPr/>
          <p:nvPr/>
        </p:nvSpPr>
        <p:spPr>
          <a:xfrm>
            <a:off x="502920" y="2743200"/>
            <a:ext cx="8229600" cy="384048"/>
          </a:xfrm>
          <a:prstGeom prst="rect">
            <a:avLst/>
          </a:prstGeom>
          <a:noFill/>
          <a:ln/>
        </p:spPr>
        <p:txBody>
          <a:bodyPr wrap="square" rtlCol="0" anchor="ctr"/>
          <a:lstStyle/>
          <a:p>
            <a:pPr indent="0" marL="0">
              <a:buNone/>
            </a:pPr>
            <a:r>
              <a:rPr lang="en-US" sz="1250" dirty="0">
                <a:solidFill>
                  <a:srgbClr val="F4A261"/>
                </a:solidFill>
                <a:latin typeface="Calibri" pitchFamily="34" charset="0"/>
                <a:ea typeface="Calibri" pitchFamily="34" charset="-122"/>
                <a:cs typeface="Calibri" pitchFamily="34" charset="-120"/>
              </a:rPr>
              <a:t>⚠ Score interpretation: score=0.12 is EXCELLENT. score=0.89 is POOR. This is OPPOSITE to Qdrant where score=0.89 would be excellent.</a:t>
            </a:r>
            <a:endParaRPr lang="en-US" sz="1250" dirty="0"/>
          </a:p>
        </p:txBody>
      </p:sp>
      <p:sp>
        <p:nvSpPr>
          <p:cNvPr id="14" name="Text 11"/>
          <p:cNvSpPr/>
          <p:nvPr/>
        </p:nvSpPr>
        <p:spPr>
          <a:xfrm>
            <a:off x="365760" y="3246120"/>
            <a:ext cx="8412480" cy="292608"/>
          </a:xfrm>
          <a:prstGeom prst="rect">
            <a:avLst/>
          </a:prstGeom>
          <a:noFill/>
          <a:ln/>
        </p:spPr>
        <p:txBody>
          <a:bodyPr wrap="square" rtlCol="0" anchor="ctr"/>
          <a:lstStyle/>
          <a:p>
            <a:pPr indent="0" marL="0">
              <a:buNone/>
            </a:pPr>
            <a:r>
              <a:rPr lang="en-US" sz="1300" b="1" dirty="0">
                <a:solidFill>
                  <a:srgbClr val="00C4B4"/>
                </a:solidFill>
                <a:latin typeface="Calibri" pitchFamily="34" charset="0"/>
                <a:ea typeface="Calibri" pitchFamily="34" charset="-122"/>
                <a:cs typeface="Calibri" pitchFamily="34" charset="-120"/>
              </a:rPr>
              <a:t>Test health:</a:t>
            </a:r>
            <a:endParaRPr lang="en-US" sz="1300" dirty="0"/>
          </a:p>
        </p:txBody>
      </p:sp>
      <p:sp>
        <p:nvSpPr>
          <p:cNvPr id="15" name="Shape 12"/>
          <p:cNvSpPr/>
          <p:nvPr/>
        </p:nvSpPr>
        <p:spPr>
          <a:xfrm>
            <a:off x="365760" y="3584448"/>
            <a:ext cx="8412480" cy="384048"/>
          </a:xfrm>
          <a:prstGeom prst="rect">
            <a:avLst/>
          </a:prstGeom>
          <a:solidFill>
            <a:srgbClr val="192C20"/>
          </a:solidFill>
          <a:ln/>
        </p:spPr>
      </p:sp>
      <p:sp>
        <p:nvSpPr>
          <p:cNvPr id="16" name="Text 13"/>
          <p:cNvSpPr/>
          <p:nvPr/>
        </p:nvSpPr>
        <p:spPr>
          <a:xfrm>
            <a:off x="502920" y="3602736"/>
            <a:ext cx="8229600" cy="347472"/>
          </a:xfrm>
          <a:prstGeom prst="rect">
            <a:avLst/>
          </a:prstGeom>
          <a:noFill/>
          <a:ln/>
        </p:spPr>
        <p:txBody>
          <a:bodyPr wrap="square" rtlCol="0" anchor="ctr"/>
          <a:lstStyle/>
          <a:p>
            <a:pPr indent="0" marL="0">
              <a:buNone/>
            </a:pPr>
            <a:r>
              <a:rPr lang="en-US" sz="1200" dirty="0">
                <a:solidFill>
                  <a:srgbClr val="00C4B4"/>
                </a:solidFill>
                <a:latin typeface="Consolas" pitchFamily="34" charset="0"/>
                <a:ea typeface="Consolas" pitchFamily="34" charset="-122"/>
                <a:cs typeface="Consolas" pitchFamily="34" charset="-120"/>
              </a:rPr>
              <a:t>curl -sS -H "X-API-Key: $EDGE_API_KEY" http://localhost:8088/memory/health | python -m json.tool</a:t>
            </a:r>
            <a:endParaRPr lang="en-US" sz="1200" dirty="0"/>
          </a:p>
        </p:txBody>
      </p:sp>
      <p:sp>
        <p:nvSpPr>
          <p:cNvPr id="17" name="Text 14"/>
          <p:cNvSpPr/>
          <p:nvPr/>
        </p:nvSpPr>
        <p:spPr>
          <a:xfrm>
            <a:off x="365760" y="4069080"/>
            <a:ext cx="8412480" cy="274320"/>
          </a:xfrm>
          <a:prstGeom prst="rect">
            <a:avLst/>
          </a:prstGeom>
          <a:noFill/>
          <a:ln/>
        </p:spPr>
        <p:txBody>
          <a:bodyPr wrap="square" rtlCol="0" anchor="ctr"/>
          <a:lstStyle/>
          <a:p>
            <a:pPr indent="0" marL="0">
              <a:buNone/>
            </a:pPr>
            <a:r>
              <a:rPr lang="en-US" sz="1200" i="1" dirty="0">
                <a:solidFill>
                  <a:srgbClr val="2DC653"/>
                </a:solidFill>
                <a:latin typeface="Calibri" pitchFamily="34" charset="0"/>
                <a:ea typeface="Calibri" pitchFamily="34" charset="-122"/>
                <a:cs typeface="Calibri" pitchFamily="34" charset="-120"/>
              </a:rPr>
              <a:t>✓ /memory/health returns ok:true · /memory/query returns chunks with distance scores · base lab unaffected</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4.2 — Optional: Chat Integration &amp; Enhancements</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Optional Steps — same as Lab 1, add to main.py progressively:</a:t>
            </a:r>
            <a:endParaRPr lang="en-US" sz="1400" dirty="0"/>
          </a:p>
        </p:txBody>
      </p:sp>
      <p:sp>
        <p:nvSpPr>
          <p:cNvPr id="7" name="Shape 4"/>
          <p:cNvSpPr/>
          <p:nvPr/>
        </p:nvSpPr>
        <p:spPr>
          <a:xfrm>
            <a:off x="320040" y="1261872"/>
            <a:ext cx="8503920" cy="594360"/>
          </a:xfrm>
          <a:prstGeom prst="rect">
            <a:avLst/>
          </a:prstGeom>
          <a:solidFill>
            <a:srgbClr val="FFFFFF"/>
          </a:solidFill>
          <a:ln/>
          <a:effectLst>
            <a:outerShdw sx="100000" sy="100000" kx="0" ky="0" algn="bl" rotWithShape="0" blurRad="38100" dist="12700" dir="16200000">
              <a:srgbClr val="000000">
                <a:alpha val="8000"/>
              </a:srgbClr>
            </a:outerShdw>
          </a:effectLst>
        </p:spPr>
      </p:sp>
      <p:sp>
        <p:nvSpPr>
          <p:cNvPr id="8" name="Shape 5"/>
          <p:cNvSpPr/>
          <p:nvPr/>
        </p:nvSpPr>
        <p:spPr>
          <a:xfrm>
            <a:off x="320040" y="1261872"/>
            <a:ext cx="438912" cy="594360"/>
          </a:xfrm>
          <a:prstGeom prst="rect">
            <a:avLst/>
          </a:prstGeom>
          <a:solidFill>
            <a:srgbClr val="00C4B4"/>
          </a:solidFill>
          <a:ln/>
        </p:spPr>
      </p:sp>
      <p:sp>
        <p:nvSpPr>
          <p:cNvPr id="9" name="Text 6"/>
          <p:cNvSpPr/>
          <p:nvPr/>
        </p:nvSpPr>
        <p:spPr>
          <a:xfrm>
            <a:off x="320040" y="1261872"/>
            <a:ext cx="438912" cy="5943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868680" y="1316736"/>
            <a:ext cx="2560320" cy="256032"/>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is_security_related()</a:t>
            </a:r>
            <a:endParaRPr lang="en-US" sz="1300" dirty="0"/>
          </a:p>
        </p:txBody>
      </p:sp>
      <p:sp>
        <p:nvSpPr>
          <p:cNvPr id="11" name="Text 8"/>
          <p:cNvSpPr/>
          <p:nvPr/>
        </p:nvSpPr>
        <p:spPr>
          <a:xfrm>
            <a:off x="868680" y="1591056"/>
            <a:ext cx="7818120" cy="20116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Ollama classifier — asks YES/NO if message is security-related. Runs before retrieval.</a:t>
            </a:r>
            <a:endParaRPr lang="en-US" sz="1200" dirty="0"/>
          </a:p>
        </p:txBody>
      </p:sp>
      <p:sp>
        <p:nvSpPr>
          <p:cNvPr id="12" name="Shape 9"/>
          <p:cNvSpPr/>
          <p:nvPr/>
        </p:nvSpPr>
        <p:spPr>
          <a:xfrm>
            <a:off x="320040" y="1965960"/>
            <a:ext cx="8503920" cy="594360"/>
          </a:xfrm>
          <a:prstGeom prst="rect">
            <a:avLst/>
          </a:prstGeom>
          <a:solidFill>
            <a:srgbClr val="FFFFFF"/>
          </a:solidFill>
          <a:ln/>
          <a:effectLst>
            <a:outerShdw sx="100000" sy="100000" kx="0" ky="0" algn="bl" rotWithShape="0" blurRad="38100" dist="12700" dir="16200000">
              <a:srgbClr val="000000">
                <a:alpha val="8000"/>
              </a:srgbClr>
            </a:outerShdw>
          </a:effectLst>
        </p:spPr>
      </p:sp>
      <p:sp>
        <p:nvSpPr>
          <p:cNvPr id="13" name="Shape 10"/>
          <p:cNvSpPr/>
          <p:nvPr/>
        </p:nvSpPr>
        <p:spPr>
          <a:xfrm>
            <a:off x="320040" y="1965960"/>
            <a:ext cx="438912" cy="594360"/>
          </a:xfrm>
          <a:prstGeom prst="rect">
            <a:avLst/>
          </a:prstGeom>
          <a:solidFill>
            <a:srgbClr val="00C4B4"/>
          </a:solidFill>
          <a:ln/>
        </p:spPr>
      </p:sp>
      <p:sp>
        <p:nvSpPr>
          <p:cNvPr id="14" name="Text 11"/>
          <p:cNvSpPr/>
          <p:nvPr/>
        </p:nvSpPr>
        <p:spPr>
          <a:xfrm>
            <a:off x="320040" y="1965960"/>
            <a:ext cx="438912" cy="5943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p:nvPr/>
        </p:nvSpPr>
        <p:spPr>
          <a:xfrm>
            <a:off x="868680" y="2020824"/>
            <a:ext cx="2560320" cy="256032"/>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get_memory_context()</a:t>
            </a:r>
            <a:endParaRPr lang="en-US" sz="1300" dirty="0"/>
          </a:p>
        </p:txBody>
      </p:sp>
      <p:sp>
        <p:nvSpPr>
          <p:cNvPr id="16" name="Text 13"/>
          <p:cNvSpPr/>
          <p:nvPr/>
        </p:nvSpPr>
        <p:spPr>
          <a:xfrm>
            <a:off x="868680" y="2295144"/>
            <a:ext cx="7818120" cy="20116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Fetches top-4 chunks from /memory/query, formats for prompt injection.</a:t>
            </a:r>
            <a:endParaRPr lang="en-US" sz="1200" dirty="0"/>
          </a:p>
        </p:txBody>
      </p:sp>
      <p:sp>
        <p:nvSpPr>
          <p:cNvPr id="17" name="Shape 14"/>
          <p:cNvSpPr/>
          <p:nvPr/>
        </p:nvSpPr>
        <p:spPr>
          <a:xfrm>
            <a:off x="320040" y="2670048"/>
            <a:ext cx="8503920" cy="594360"/>
          </a:xfrm>
          <a:prstGeom prst="rect">
            <a:avLst/>
          </a:prstGeom>
          <a:solidFill>
            <a:srgbClr val="FFFFFF"/>
          </a:solidFill>
          <a:ln/>
          <a:effectLst>
            <a:outerShdw sx="100000" sy="100000" kx="0" ky="0" algn="bl" rotWithShape="0" blurRad="38100" dist="12700" dir="16200000">
              <a:srgbClr val="000000">
                <a:alpha val="8000"/>
              </a:srgbClr>
            </a:outerShdw>
          </a:effectLst>
        </p:spPr>
      </p:sp>
      <p:sp>
        <p:nvSpPr>
          <p:cNvPr id="18" name="Shape 15"/>
          <p:cNvSpPr/>
          <p:nvPr/>
        </p:nvSpPr>
        <p:spPr>
          <a:xfrm>
            <a:off x="320040" y="2670048"/>
            <a:ext cx="438912" cy="594360"/>
          </a:xfrm>
          <a:prstGeom prst="rect">
            <a:avLst/>
          </a:prstGeom>
          <a:solidFill>
            <a:srgbClr val="00C4B4"/>
          </a:solidFill>
          <a:ln/>
        </p:spPr>
      </p:sp>
      <p:sp>
        <p:nvSpPr>
          <p:cNvPr id="19" name="Text 16"/>
          <p:cNvSpPr/>
          <p:nvPr/>
        </p:nvSpPr>
        <p:spPr>
          <a:xfrm>
            <a:off x="320040" y="2670048"/>
            <a:ext cx="438912" cy="5943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868680" y="2724912"/>
            <a:ext cx="2560320" cy="256032"/>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Update _chat_impl</a:t>
            </a:r>
            <a:endParaRPr lang="en-US" sz="1300" dirty="0"/>
          </a:p>
        </p:txBody>
      </p:sp>
      <p:sp>
        <p:nvSpPr>
          <p:cNvPr id="21" name="Text 18"/>
          <p:cNvSpPr/>
          <p:nvPr/>
        </p:nvSpPr>
        <p:spPr>
          <a:xfrm>
            <a:off x="868680" y="2999232"/>
            <a:ext cx="7818120" cy="20116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Security-related → inject Weaviate memory chunks before build_prompt(). Enriches context.</a:t>
            </a:r>
            <a:endParaRPr lang="en-US" sz="1200" dirty="0"/>
          </a:p>
        </p:txBody>
      </p:sp>
      <p:sp>
        <p:nvSpPr>
          <p:cNvPr id="22" name="Shape 19"/>
          <p:cNvSpPr/>
          <p:nvPr/>
        </p:nvSpPr>
        <p:spPr>
          <a:xfrm>
            <a:off x="320040" y="3374136"/>
            <a:ext cx="8503920" cy="594360"/>
          </a:xfrm>
          <a:prstGeom prst="rect">
            <a:avLst/>
          </a:prstGeom>
          <a:solidFill>
            <a:srgbClr val="FFFFFF"/>
          </a:solidFill>
          <a:ln/>
          <a:effectLst>
            <a:outerShdw sx="100000" sy="100000" kx="0" ky="0" algn="bl" rotWithShape="0" blurRad="38100" dist="12700" dir="16200000">
              <a:srgbClr val="000000">
                <a:alpha val="8000"/>
              </a:srgbClr>
            </a:outerShdw>
          </a:effectLst>
        </p:spPr>
      </p:sp>
      <p:sp>
        <p:nvSpPr>
          <p:cNvPr id="23" name="Shape 20"/>
          <p:cNvSpPr/>
          <p:nvPr/>
        </p:nvSpPr>
        <p:spPr>
          <a:xfrm>
            <a:off x="320040" y="3374136"/>
            <a:ext cx="438912" cy="594360"/>
          </a:xfrm>
          <a:prstGeom prst="rect">
            <a:avLst/>
          </a:prstGeom>
          <a:solidFill>
            <a:srgbClr val="F4A261"/>
          </a:solidFill>
          <a:ln/>
        </p:spPr>
      </p:sp>
      <p:sp>
        <p:nvSpPr>
          <p:cNvPr id="24" name="Text 21"/>
          <p:cNvSpPr/>
          <p:nvPr/>
        </p:nvSpPr>
        <p:spPr>
          <a:xfrm>
            <a:off x="320040" y="3374136"/>
            <a:ext cx="438912" cy="5943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2"/>
          <p:cNvSpPr/>
          <p:nvPr/>
        </p:nvSpPr>
        <p:spPr>
          <a:xfrm>
            <a:off x="868680" y="3429000"/>
            <a:ext cx="2560320" cy="256032"/>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get_followup_suggestions()</a:t>
            </a:r>
            <a:endParaRPr lang="en-US" sz="1300" dirty="0"/>
          </a:p>
        </p:txBody>
      </p:sp>
      <p:sp>
        <p:nvSpPr>
          <p:cNvPr id="26" name="Text 23"/>
          <p:cNvSpPr/>
          <p:nvPr/>
        </p:nvSpPr>
        <p:spPr>
          <a:xfrm>
            <a:off x="868680" y="3703320"/>
            <a:ext cx="7818120" cy="20116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After answer: Ollama suggests 2-3 follow-up questions. Returned as followups[] in response.</a:t>
            </a:r>
            <a:endParaRPr lang="en-US" sz="1200" dirty="0"/>
          </a:p>
        </p:txBody>
      </p:sp>
      <p:sp>
        <p:nvSpPr>
          <p:cNvPr id="27" name="Shape 24"/>
          <p:cNvSpPr/>
          <p:nvPr/>
        </p:nvSpPr>
        <p:spPr>
          <a:xfrm>
            <a:off x="320040" y="4078224"/>
            <a:ext cx="8503920" cy="594360"/>
          </a:xfrm>
          <a:prstGeom prst="rect">
            <a:avLst/>
          </a:prstGeom>
          <a:solidFill>
            <a:srgbClr val="FFFFFF"/>
          </a:solidFill>
          <a:ln/>
          <a:effectLst>
            <a:outerShdw sx="100000" sy="100000" kx="0" ky="0" algn="bl" rotWithShape="0" blurRad="38100" dist="12700" dir="16200000">
              <a:srgbClr val="000000">
                <a:alpha val="8000"/>
              </a:srgbClr>
            </a:outerShdw>
          </a:effectLst>
        </p:spPr>
      </p:sp>
      <p:sp>
        <p:nvSpPr>
          <p:cNvPr id="28" name="Shape 25"/>
          <p:cNvSpPr/>
          <p:nvPr/>
        </p:nvSpPr>
        <p:spPr>
          <a:xfrm>
            <a:off x="320040" y="4078224"/>
            <a:ext cx="438912" cy="594360"/>
          </a:xfrm>
          <a:prstGeom prst="rect">
            <a:avLst/>
          </a:prstGeom>
          <a:solidFill>
            <a:srgbClr val="F4A261"/>
          </a:solidFill>
          <a:ln/>
        </p:spPr>
      </p:sp>
      <p:sp>
        <p:nvSpPr>
          <p:cNvPr id="29" name="Text 26"/>
          <p:cNvSpPr/>
          <p:nvPr/>
        </p:nvSpPr>
        <p:spPr>
          <a:xfrm>
            <a:off x="320040" y="4078224"/>
            <a:ext cx="438912" cy="5943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Text 27"/>
          <p:cNvSpPr/>
          <p:nvPr/>
        </p:nvSpPr>
        <p:spPr>
          <a:xfrm>
            <a:off x="868680" y="4133088"/>
            <a:ext cx="2560320" cy="256032"/>
          </a:xfrm>
          <a:prstGeom prst="rect">
            <a:avLst/>
          </a:prstGeom>
          <a:noFill/>
          <a:ln/>
        </p:spPr>
        <p:txBody>
          <a:bodyPr wrap="square"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enforce_security_scope()</a:t>
            </a:r>
            <a:endParaRPr lang="en-US" sz="1300" dirty="0"/>
          </a:p>
        </p:txBody>
      </p:sp>
      <p:sp>
        <p:nvSpPr>
          <p:cNvPr id="31" name="Text 28"/>
          <p:cNvSpPr/>
          <p:nvPr/>
        </p:nvSpPr>
        <p:spPr>
          <a:xfrm>
            <a:off x="868680" y="4407408"/>
            <a:ext cx="7818120" cy="201168"/>
          </a:xfrm>
          <a:prstGeom prst="rect">
            <a:avLst/>
          </a:prstGeom>
          <a:noFill/>
          <a:ln/>
        </p:spPr>
        <p:txBody>
          <a:bodyPr wrap="square" rtlCol="0" anchor="ctr"/>
          <a:lstStyle/>
          <a:p>
            <a:pPr indent="0" marL="0">
              <a:buNone/>
            </a:pPr>
            <a:r>
              <a:rPr lang="en-US" sz="1200" dirty="0">
                <a:solidFill>
                  <a:srgbClr val="7A9BAA"/>
                </a:solidFill>
                <a:latin typeface="Calibri" pitchFamily="34" charset="0"/>
                <a:ea typeface="Calibri" pitchFamily="34" charset="-122"/>
                <a:cs typeface="Calibri" pitchFamily="34" charset="-120"/>
              </a:rPr>
              <a:t>Optional: restrict chatbot to security topics. Non-security questions get a polite redirect.</a:t>
            </a:r>
            <a:endParaRPr lang="en-US" sz="1200" dirty="0"/>
          </a:p>
        </p:txBody>
      </p:sp>
      <p:sp>
        <p:nvSpPr>
          <p:cNvPr id="32" name="Text 29"/>
          <p:cNvSpPr/>
          <p:nvPr/>
        </p:nvSpPr>
        <p:spPr>
          <a:xfrm>
            <a:off x="320040" y="4828032"/>
            <a:ext cx="8503920" cy="228600"/>
          </a:xfrm>
          <a:prstGeom prst="rect">
            <a:avLst/>
          </a:prstGeom>
          <a:noFill/>
          <a:ln/>
        </p:spPr>
        <p:txBody>
          <a:bodyPr wrap="square" rtlCol="0" anchor="ctr"/>
          <a:lstStyle/>
          <a:p>
            <a:pPr indent="0" marL="0">
              <a:buNone/>
            </a:pPr>
            <a:r>
              <a:rPr lang="en-US" sz="1200" dirty="0">
                <a:solidFill>
                  <a:srgbClr val="F4A261"/>
                </a:solidFill>
                <a:latin typeface="Calibri" pitchFamily="34" charset="0"/>
                <a:ea typeface="Calibri" pitchFamily="34" charset="-122"/>
                <a:cs typeface="Calibri" pitchFamily="34" charset="-120"/>
              </a:rPr>
              <a:t>Remember the Weaviate rebuild workflow after any code change: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Lesson 4.3 — IDE Integration (Part 1): Grounded Security Reviews</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What 'grounded' means — same concept as Lab 1:</a:t>
            </a:r>
            <a:endParaRPr lang="en-US" sz="1400" dirty="0"/>
          </a:p>
        </p:txBody>
      </p:sp>
      <p:sp>
        <p:nvSpPr>
          <p:cNvPr id="7" name="Text 4"/>
          <p:cNvSpPr/>
          <p:nvPr/>
        </p:nvSpPr>
        <p:spPr>
          <a:xfrm>
            <a:off x="365760" y="1298448"/>
            <a:ext cx="8412480" cy="10058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F4A261"/>
                </a:solidFill>
                <a:latin typeface="Calibri" pitchFamily="34" charset="0"/>
                <a:ea typeface="Calibri" pitchFamily="34" charset="-122"/>
                <a:cs typeface="Calibri" pitchFamily="34" charset="-120"/>
              </a:rPr>
              <a:t>Ungrounded: 'The AI said containers should not run as root'</a:t>
            </a:r>
            <a:endParaRPr lang="en-US" sz="1300" dirty="0"/>
          </a:p>
          <a:p>
            <a:pPr marL="342900" indent="-342900">
              <a:spcAft>
                <a:spcPts val="300"/>
              </a:spcAft>
              <a:buSzPct val="100000"/>
              <a:buChar char="•"/>
            </a:pPr>
            <a:r>
              <a:rPr lang="en-US" sz="1300" dirty="0">
                <a:solidFill>
                  <a:srgbClr val="2DC653"/>
                </a:solidFill>
                <a:latin typeface="Calibri" pitchFamily="34" charset="0"/>
                <a:ea typeface="Calibri" pitchFamily="34" charset="-122"/>
                <a:cs typeface="Calibri" pitchFamily="34" charset="-120"/>
              </a:rPr>
              <a:t>Grounded: 'CIS Docker Benchmark section 4.1 says containers should not run as root' (with Weaviate chunk cited)</a:t>
            </a:r>
            <a:endParaRPr lang="en-US" sz="1300" dirty="0"/>
          </a:p>
          <a:p>
            <a:pPr marL="342900" indent="-342900">
              <a:spcAft>
                <a:spcPts val="400"/>
              </a:spcAft>
              <a:buSzPct val="100000"/>
              <a:buChar char="•"/>
            </a:pPr>
            <a:r>
              <a:rPr lang="en-US" sz="1300" dirty="0">
                <a:solidFill>
                  <a:srgbClr val="0D1B2A"/>
                </a:solidFill>
                <a:latin typeface="Calibri" pitchFamily="34" charset="0"/>
                <a:ea typeface="Calibri" pitchFamily="34" charset="-122"/>
                <a:cs typeface="Calibri" pitchFamily="34" charset="-120"/>
              </a:rPr>
              <a:t>Weaviate's distance score tells you how confident the retrieval was — low distance = strong citation</a:t>
            </a:r>
            <a:endParaRPr lang="en-US" sz="1300" dirty="0"/>
          </a:p>
        </p:txBody>
      </p:sp>
      <p:sp>
        <p:nvSpPr>
          <p:cNvPr id="8" name="Text 5"/>
          <p:cNvSpPr/>
          <p:nvPr/>
        </p:nvSpPr>
        <p:spPr>
          <a:xfrm>
            <a:off x="365760" y="2423160"/>
            <a:ext cx="841248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The Core 2-Step Workflow:</a:t>
            </a:r>
            <a:endParaRPr lang="en-US" sz="1400" dirty="0"/>
          </a:p>
        </p:txBody>
      </p:sp>
      <p:sp>
        <p:nvSpPr>
          <p:cNvPr id="9" name="Shape 6"/>
          <p:cNvSpPr/>
          <p:nvPr/>
        </p:nvSpPr>
        <p:spPr>
          <a:xfrm>
            <a:off x="365760" y="2788920"/>
            <a:ext cx="4023360" cy="1600200"/>
          </a:xfrm>
          <a:prstGeom prst="rect">
            <a:avLst/>
          </a:prstGeom>
          <a:solidFill>
            <a:srgbClr val="192C20"/>
          </a:solidFill>
          <a:ln/>
        </p:spPr>
      </p:sp>
      <p:sp>
        <p:nvSpPr>
          <p:cNvPr id="10" name="Text 7"/>
          <p:cNvSpPr/>
          <p:nvPr/>
        </p:nvSpPr>
        <p:spPr>
          <a:xfrm>
            <a:off x="502920" y="2852928"/>
            <a:ext cx="3749040" cy="320040"/>
          </a:xfrm>
          <a:prstGeom prst="rect">
            <a:avLst/>
          </a:prstGeom>
          <a:noFill/>
          <a:ln/>
        </p:spPr>
        <p:txBody>
          <a:bodyPr wrap="square" rtlCol="0" anchor="ctr"/>
          <a:lstStyle/>
          <a:p>
            <a:pPr indent="0" marL="0">
              <a:buNone/>
            </a:pPr>
            <a:r>
              <a:rPr lang="en-US" sz="1300" b="1" dirty="0">
                <a:solidFill>
                  <a:srgbClr val="00C4B4"/>
                </a:solidFill>
                <a:latin typeface="Calibri" pitchFamily="34" charset="0"/>
                <a:ea typeface="Calibri" pitchFamily="34" charset="-122"/>
                <a:cs typeface="Calibri" pitchFamily="34" charset="-120"/>
              </a:rPr>
              <a:t>Step 1: Retrieve security context</a:t>
            </a:r>
            <a:endParaRPr lang="en-US" sz="1300" dirty="0"/>
          </a:p>
        </p:txBody>
      </p:sp>
      <p:sp>
        <p:nvSpPr>
          <p:cNvPr id="11" name="Text 8"/>
          <p:cNvSpPr/>
          <p:nvPr/>
        </p:nvSpPr>
        <p:spPr>
          <a:xfrm>
            <a:off x="502920" y="3218688"/>
            <a:ext cx="3749040" cy="1051560"/>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curl /memory/query with your topic</a:t>
            </a:r>
            <a:endParaRPr lang="en-US" sz="1150" dirty="0"/>
          </a:p>
          <a:p>
            <a:pPr indent="0" marL="0">
              <a:buNone/>
            </a:pPr>
            <a:r>
              <a:rPr lang="en-US" sz="1150" dirty="0">
                <a:solidFill>
                  <a:srgbClr val="D8ECEC"/>
                </a:solidFill>
                <a:latin typeface="Calibri" pitchFamily="34" charset="0"/>
                <a:ea typeface="Calibri" pitchFamily="34" charset="-122"/>
                <a:cs typeface="Calibri" pitchFamily="34" charset="-120"/>
              </a:rPr>
              <a:t>→ save to /tmp/security_context.json</a:t>
            </a:r>
            <a:endParaRPr lang="en-US" sz="1150" dirty="0"/>
          </a:p>
          <a:p>
            <a:pPr indent="0" marL="0">
              <a:buNone/>
            </a:pPr>
            <a:r>
              <a:rPr lang="en-US" sz="1150" dirty="0">
                <a:solidFill>
                  <a:srgbClr val="D8ECEC"/>
                </a:solidFill>
                <a:latin typeface="Calibri" pitchFamily="34" charset="0"/>
                <a:ea typeface="Calibri" pitchFamily="34" charset="-122"/>
                <a:cs typeface="Calibri" pitchFamily="34" charset="-120"/>
              </a:rPr>
              <a:t>→ preview: cat | python -m json.tool</a:t>
            </a:r>
            <a:endParaRPr lang="en-US" sz="1150" dirty="0"/>
          </a:p>
          <a:p>
            <a:pPr indent="0" marL="0">
              <a:buNone/>
            </a:pPr>
            <a:r>
              <a:rPr lang="en-US" sz="1150" dirty="0">
                <a:solidFill>
                  <a:srgbClr val="D8ECEC"/>
                </a:solidFill>
                <a:latin typeface="Calibri" pitchFamily="34" charset="0"/>
                <a:ea typeface="Calibri" pitchFamily="34" charset="-122"/>
                <a:cs typeface="Calibri" pitchFamily="34" charset="-120"/>
              </a:rPr>
              <a:t>→ check distance scores — below 0.5 is good</a:t>
            </a:r>
            <a:endParaRPr lang="en-US" sz="1150" dirty="0"/>
          </a:p>
        </p:txBody>
      </p:sp>
      <p:sp>
        <p:nvSpPr>
          <p:cNvPr id="12" name="Shape 9"/>
          <p:cNvSpPr/>
          <p:nvPr/>
        </p:nvSpPr>
        <p:spPr>
          <a:xfrm>
            <a:off x="4754880" y="2788920"/>
            <a:ext cx="4023360" cy="1600200"/>
          </a:xfrm>
          <a:prstGeom prst="rect">
            <a:avLst/>
          </a:prstGeom>
          <a:solidFill>
            <a:srgbClr val="192C20"/>
          </a:solidFill>
          <a:ln/>
        </p:spPr>
      </p:sp>
      <p:sp>
        <p:nvSpPr>
          <p:cNvPr id="13" name="Text 10"/>
          <p:cNvSpPr/>
          <p:nvPr/>
        </p:nvSpPr>
        <p:spPr>
          <a:xfrm>
            <a:off x="4892040" y="2852928"/>
            <a:ext cx="3749040" cy="320040"/>
          </a:xfrm>
          <a:prstGeom prst="rect">
            <a:avLst/>
          </a:prstGeom>
          <a:noFill/>
          <a:ln/>
        </p:spPr>
        <p:txBody>
          <a:bodyPr wrap="square" rtlCol="0" anchor="ctr"/>
          <a:lstStyle/>
          <a:p>
            <a:pPr indent="0" marL="0">
              <a:buNone/>
            </a:pPr>
            <a:r>
              <a:rPr lang="en-US" sz="1300" b="1" dirty="0">
                <a:solidFill>
                  <a:srgbClr val="00C4B4"/>
                </a:solidFill>
                <a:latin typeface="Calibri" pitchFamily="34" charset="0"/>
                <a:ea typeface="Calibri" pitchFamily="34" charset="-122"/>
                <a:cs typeface="Calibri" pitchFamily="34" charset="-120"/>
              </a:rPr>
              <a:t>Step 2: Use context in IDE chat</a:t>
            </a:r>
            <a:endParaRPr lang="en-US" sz="1300" dirty="0"/>
          </a:p>
        </p:txBody>
      </p:sp>
      <p:sp>
        <p:nvSpPr>
          <p:cNvPr id="14" name="Text 11"/>
          <p:cNvSpPr/>
          <p:nvPr/>
        </p:nvSpPr>
        <p:spPr>
          <a:xfrm>
            <a:off x="4892040" y="3218688"/>
            <a:ext cx="3749040" cy="1051560"/>
          </a:xfrm>
          <a:prstGeom prst="rect">
            <a:avLst/>
          </a:prstGeom>
          <a:noFill/>
          <a:ln/>
        </p:spPr>
        <p:txBody>
          <a:bodyPr wrap="square" rtlCol="0" anchor="ctr"/>
          <a:lstStyle/>
          <a:p>
            <a:pPr indent="0" marL="0">
              <a:buNone/>
            </a:pPr>
            <a:r>
              <a:rPr lang="en-US" sz="1150" dirty="0">
                <a:solidFill>
                  <a:srgbClr val="D8ECEC"/>
                </a:solidFill>
                <a:latin typeface="Calibri" pitchFamily="34" charset="0"/>
                <a:ea typeface="Calibri" pitchFamily="34" charset="-122"/>
                <a:cs typeface="Calibri" pitchFamily="34" charset="-120"/>
              </a:rPr>
              <a:t>Paste chunks + file into Copilot/Cursor</a:t>
            </a:r>
            <a:endParaRPr lang="en-US" sz="1150" dirty="0"/>
          </a:p>
          <a:p>
            <a:pPr indent="0" marL="0">
              <a:buNone/>
            </a:pPr>
            <a:r>
              <a:rPr lang="en-US" sz="1150" dirty="0">
                <a:solidFill>
                  <a:srgbClr val="D8ECEC"/>
                </a:solidFill>
                <a:latin typeface="Calibri" pitchFamily="34" charset="0"/>
                <a:ea typeface="Calibri" pitchFamily="34" charset="-122"/>
                <a:cs typeface="Calibri" pitchFamily="34" charset="-120"/>
              </a:rPr>
              <a:t>→ 'Identify issues, cite each reference'</a:t>
            </a:r>
            <a:endParaRPr lang="en-US" sz="1150" dirty="0"/>
          </a:p>
          <a:p>
            <a:pPr indent="0" marL="0">
              <a:buNone/>
            </a:pPr>
            <a:r>
              <a:rPr lang="en-US" sz="1150" dirty="0">
                <a:solidFill>
                  <a:srgbClr val="D8ECEC"/>
                </a:solidFill>
                <a:latin typeface="Calibri" pitchFamily="34" charset="0"/>
                <a:ea typeface="Calibri" pitchFamily="34" charset="-122"/>
                <a:cs typeface="Calibri" pitchFamily="34" charset="-120"/>
              </a:rPr>
              <a:t>→ 'Do not invent citations'</a:t>
            </a:r>
            <a:endParaRPr lang="en-US" sz="1150" dirty="0"/>
          </a:p>
          <a:p>
            <a:pPr indent="0" marL="0">
              <a:buNone/>
            </a:pPr>
            <a:r>
              <a:rPr lang="en-US" sz="1150" dirty="0">
                <a:solidFill>
                  <a:srgbClr val="D8ECEC"/>
                </a:solidFill>
                <a:latin typeface="Calibri" pitchFamily="34" charset="0"/>
                <a:ea typeface="Calibri" pitchFamily="34" charset="-122"/>
                <a:cs typeface="Calibri" pitchFamily="34" charset="-120"/>
              </a:rPr>
              <a:t>→ Chunks with low distance are most reliable</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5F4"/>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 4.3 — IDE Integration (Part 2): Prompt Library, Gradio UI &amp; MCP</a:t>
            </a:r>
            <a:endParaRPr lang="en-US" sz="2200" dirty="0"/>
          </a:p>
        </p:txBody>
      </p:sp>
      <p:sp>
        <p:nvSpPr>
          <p:cNvPr id="4" name="Shape 2"/>
          <p:cNvSpPr/>
          <p:nvPr/>
        </p:nvSpPr>
        <p:spPr>
          <a:xfrm>
            <a:off x="0" y="4892040"/>
            <a:ext cx="9144000" cy="251460"/>
          </a:xfrm>
          <a:prstGeom prst="rect">
            <a:avLst/>
          </a:prstGeom>
          <a:solidFill>
            <a:srgbClr val="00C4B4"/>
          </a:solidFill>
          <a:ln/>
        </p:spPr>
      </p:sp>
      <p:sp>
        <p:nvSpPr>
          <p:cNvPr id="6" name="Text 3"/>
          <p:cNvSpPr/>
          <p:nvPr/>
        </p:nvSpPr>
        <p:spPr>
          <a:xfrm>
            <a:off x="320040" y="868680"/>
            <a:ext cx="850392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5 Prompt Templates in security-memory/prompts/:</a:t>
            </a:r>
            <a:endParaRPr lang="en-US" sz="1400" dirty="0"/>
          </a:p>
        </p:txBody>
      </p:sp>
      <p:sp>
        <p:nvSpPr>
          <p:cNvPr id="7" name="Shape 4"/>
          <p:cNvSpPr/>
          <p:nvPr/>
        </p:nvSpPr>
        <p:spPr>
          <a:xfrm>
            <a:off x="320040" y="1261872"/>
            <a:ext cx="8503920" cy="45720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8" name="Shape 5"/>
          <p:cNvSpPr/>
          <p:nvPr/>
        </p:nvSpPr>
        <p:spPr>
          <a:xfrm>
            <a:off x="320040" y="1261872"/>
            <a:ext cx="73152" cy="457200"/>
          </a:xfrm>
          <a:prstGeom prst="rect">
            <a:avLst/>
          </a:prstGeom>
          <a:solidFill>
            <a:srgbClr val="00C4B4"/>
          </a:solidFill>
          <a:ln/>
        </p:spPr>
      </p:sp>
      <p:sp>
        <p:nvSpPr>
          <p:cNvPr id="9" name="Text 6"/>
          <p:cNvSpPr/>
          <p:nvPr/>
        </p:nvSpPr>
        <p:spPr>
          <a:xfrm>
            <a:off x="475488" y="1298448"/>
            <a:ext cx="2560320" cy="237744"/>
          </a:xfrm>
          <a:prstGeom prst="rect">
            <a:avLst/>
          </a:prstGeom>
          <a:noFill/>
          <a:ln/>
        </p:spPr>
        <p:txBody>
          <a:bodyPr wrap="square" rtlCol="0" anchor="ctr"/>
          <a:lstStyle/>
          <a:p>
            <a:pPr indent="0" marL="0">
              <a:buNone/>
            </a:pPr>
            <a:r>
              <a:rPr lang="en-US" sz="1200" b="1" dirty="0">
                <a:solidFill>
                  <a:srgbClr val="0D1B2A"/>
                </a:solidFill>
                <a:latin typeface="Consolas" pitchFamily="34" charset="0"/>
                <a:ea typeface="Consolas" pitchFamily="34" charset="-122"/>
                <a:cs typeface="Consolas" pitchFamily="34" charset="-120"/>
              </a:rPr>
              <a:t>01-dockerfile-review.md</a:t>
            </a:r>
            <a:endParaRPr lang="en-US" sz="1200" dirty="0"/>
          </a:p>
        </p:txBody>
      </p:sp>
      <p:sp>
        <p:nvSpPr>
          <p:cNvPr id="10" name="Text 7"/>
          <p:cNvSpPr/>
          <p:nvPr/>
        </p:nvSpPr>
        <p:spPr>
          <a:xfrm>
            <a:off x="3127248" y="1316736"/>
            <a:ext cx="5577840" cy="34747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Insecure base images, root processes, hardcoded secrets, missing HEALTHCHECK — CIS + OWASP</a:t>
            </a:r>
            <a:endParaRPr lang="en-US" sz="1150" dirty="0"/>
          </a:p>
        </p:txBody>
      </p:sp>
      <p:sp>
        <p:nvSpPr>
          <p:cNvPr id="11" name="Shape 8"/>
          <p:cNvSpPr/>
          <p:nvPr/>
        </p:nvSpPr>
        <p:spPr>
          <a:xfrm>
            <a:off x="320040" y="1810512"/>
            <a:ext cx="8503920" cy="45720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12" name="Shape 9"/>
          <p:cNvSpPr/>
          <p:nvPr/>
        </p:nvSpPr>
        <p:spPr>
          <a:xfrm>
            <a:off x="320040" y="1810512"/>
            <a:ext cx="73152" cy="457200"/>
          </a:xfrm>
          <a:prstGeom prst="rect">
            <a:avLst/>
          </a:prstGeom>
          <a:solidFill>
            <a:srgbClr val="00C4B4"/>
          </a:solidFill>
          <a:ln/>
        </p:spPr>
      </p:sp>
      <p:sp>
        <p:nvSpPr>
          <p:cNvPr id="13" name="Text 10"/>
          <p:cNvSpPr/>
          <p:nvPr/>
        </p:nvSpPr>
        <p:spPr>
          <a:xfrm>
            <a:off x="475488" y="1847088"/>
            <a:ext cx="2560320" cy="237744"/>
          </a:xfrm>
          <a:prstGeom prst="rect">
            <a:avLst/>
          </a:prstGeom>
          <a:noFill/>
          <a:ln/>
        </p:spPr>
        <p:txBody>
          <a:bodyPr wrap="square" rtlCol="0" anchor="ctr"/>
          <a:lstStyle/>
          <a:p>
            <a:pPr indent="0" marL="0">
              <a:buNone/>
            </a:pPr>
            <a:r>
              <a:rPr lang="en-US" sz="1200" b="1" dirty="0">
                <a:solidFill>
                  <a:srgbClr val="0D1B2A"/>
                </a:solidFill>
                <a:latin typeface="Consolas" pitchFamily="34" charset="0"/>
                <a:ea typeface="Consolas" pitchFamily="34" charset="-122"/>
                <a:cs typeface="Consolas" pitchFamily="34" charset="-120"/>
              </a:rPr>
              <a:t>02-compose-review.md</a:t>
            </a:r>
            <a:endParaRPr lang="en-US" sz="1200" dirty="0"/>
          </a:p>
        </p:txBody>
      </p:sp>
      <p:sp>
        <p:nvSpPr>
          <p:cNvPr id="14" name="Text 11"/>
          <p:cNvSpPr/>
          <p:nvPr/>
        </p:nvSpPr>
        <p:spPr>
          <a:xfrm>
            <a:off x="3127248" y="1865376"/>
            <a:ext cx="5577840" cy="34747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Exposed ports, privileged mode, missing limits, insecure mounts, plain-text secrets</a:t>
            </a:r>
            <a:endParaRPr lang="en-US" sz="1150" dirty="0"/>
          </a:p>
        </p:txBody>
      </p:sp>
      <p:sp>
        <p:nvSpPr>
          <p:cNvPr id="15" name="Shape 12"/>
          <p:cNvSpPr/>
          <p:nvPr/>
        </p:nvSpPr>
        <p:spPr>
          <a:xfrm>
            <a:off x="320040" y="2359152"/>
            <a:ext cx="8503920" cy="45720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16" name="Shape 13"/>
          <p:cNvSpPr/>
          <p:nvPr/>
        </p:nvSpPr>
        <p:spPr>
          <a:xfrm>
            <a:off x="320040" y="2359152"/>
            <a:ext cx="73152" cy="457200"/>
          </a:xfrm>
          <a:prstGeom prst="rect">
            <a:avLst/>
          </a:prstGeom>
          <a:solidFill>
            <a:srgbClr val="00C4B4"/>
          </a:solidFill>
          <a:ln/>
        </p:spPr>
      </p:sp>
      <p:sp>
        <p:nvSpPr>
          <p:cNvPr id="17" name="Text 14"/>
          <p:cNvSpPr/>
          <p:nvPr/>
        </p:nvSpPr>
        <p:spPr>
          <a:xfrm>
            <a:off x="475488" y="2395728"/>
            <a:ext cx="2560320" cy="237744"/>
          </a:xfrm>
          <a:prstGeom prst="rect">
            <a:avLst/>
          </a:prstGeom>
          <a:noFill/>
          <a:ln/>
        </p:spPr>
        <p:txBody>
          <a:bodyPr wrap="square" rtlCol="0" anchor="ctr"/>
          <a:lstStyle/>
          <a:p>
            <a:pPr indent="0" marL="0">
              <a:buNone/>
            </a:pPr>
            <a:r>
              <a:rPr lang="en-US" sz="1200" b="1" dirty="0">
                <a:solidFill>
                  <a:srgbClr val="0D1B2A"/>
                </a:solidFill>
                <a:latin typeface="Consolas" pitchFamily="34" charset="0"/>
                <a:ea typeface="Consolas" pitchFamily="34" charset="-122"/>
                <a:cs typeface="Consolas" pitchFamily="34" charset="-120"/>
              </a:rPr>
              <a:t>03-nginx-review.md</a:t>
            </a:r>
            <a:endParaRPr lang="en-US" sz="1200" dirty="0"/>
          </a:p>
        </p:txBody>
      </p:sp>
      <p:sp>
        <p:nvSpPr>
          <p:cNvPr id="18" name="Text 15"/>
          <p:cNvSpPr/>
          <p:nvPr/>
        </p:nvSpPr>
        <p:spPr>
          <a:xfrm>
            <a:off x="3127248" y="2414016"/>
            <a:ext cx="5577840" cy="34747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Missing HTTP headers, weak TLS, no rate limiting, overly permissive CORS</a:t>
            </a:r>
            <a:endParaRPr lang="en-US" sz="1150" dirty="0"/>
          </a:p>
        </p:txBody>
      </p:sp>
      <p:sp>
        <p:nvSpPr>
          <p:cNvPr id="19" name="Shape 16"/>
          <p:cNvSpPr/>
          <p:nvPr/>
        </p:nvSpPr>
        <p:spPr>
          <a:xfrm>
            <a:off x="320040" y="2907792"/>
            <a:ext cx="8503920" cy="45720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20" name="Shape 17"/>
          <p:cNvSpPr/>
          <p:nvPr/>
        </p:nvSpPr>
        <p:spPr>
          <a:xfrm>
            <a:off x="320040" y="2907792"/>
            <a:ext cx="73152" cy="457200"/>
          </a:xfrm>
          <a:prstGeom prst="rect">
            <a:avLst/>
          </a:prstGeom>
          <a:solidFill>
            <a:srgbClr val="00C4B4"/>
          </a:solidFill>
          <a:ln/>
        </p:spPr>
      </p:sp>
      <p:sp>
        <p:nvSpPr>
          <p:cNvPr id="21" name="Text 18"/>
          <p:cNvSpPr/>
          <p:nvPr/>
        </p:nvSpPr>
        <p:spPr>
          <a:xfrm>
            <a:off x="475488" y="2944368"/>
            <a:ext cx="2560320" cy="237744"/>
          </a:xfrm>
          <a:prstGeom prst="rect">
            <a:avLst/>
          </a:prstGeom>
          <a:noFill/>
          <a:ln/>
        </p:spPr>
        <p:txBody>
          <a:bodyPr wrap="square" rtlCol="0" anchor="ctr"/>
          <a:lstStyle/>
          <a:p>
            <a:pPr indent="0" marL="0">
              <a:buNone/>
            </a:pPr>
            <a:r>
              <a:rPr lang="en-US" sz="1200" b="1" dirty="0">
                <a:solidFill>
                  <a:srgbClr val="0D1B2A"/>
                </a:solidFill>
                <a:latin typeface="Consolas" pitchFamily="34" charset="0"/>
                <a:ea typeface="Consolas" pitchFamily="34" charset="-122"/>
                <a:cs typeface="Consolas" pitchFamily="34" charset="-120"/>
              </a:rPr>
              <a:t>04-api-auth-review.md</a:t>
            </a:r>
            <a:endParaRPr lang="en-US" sz="1200" dirty="0"/>
          </a:p>
        </p:txBody>
      </p:sp>
      <p:sp>
        <p:nvSpPr>
          <p:cNvPr id="22" name="Text 19"/>
          <p:cNvSpPr/>
          <p:nvPr/>
        </p:nvSpPr>
        <p:spPr>
          <a:xfrm>
            <a:off x="3127248" y="2962656"/>
            <a:ext cx="5577840" cy="34747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OWASP API Security Top 10 — broken auth, excessive exposure, missing rate limiting</a:t>
            </a:r>
            <a:endParaRPr lang="en-US" sz="1150" dirty="0"/>
          </a:p>
        </p:txBody>
      </p:sp>
      <p:sp>
        <p:nvSpPr>
          <p:cNvPr id="23" name="Shape 20"/>
          <p:cNvSpPr/>
          <p:nvPr/>
        </p:nvSpPr>
        <p:spPr>
          <a:xfrm>
            <a:off x="320040" y="3456432"/>
            <a:ext cx="8503920" cy="457200"/>
          </a:xfrm>
          <a:prstGeom prst="rect">
            <a:avLst/>
          </a:prstGeom>
          <a:solidFill>
            <a:srgbClr val="FFFFFF"/>
          </a:solidFill>
          <a:ln/>
          <a:effectLst>
            <a:outerShdw sx="100000" sy="100000" kx="0" ky="0" algn="bl" rotWithShape="0" blurRad="38100" dist="12700" dir="16200000">
              <a:srgbClr val="000000">
                <a:alpha val="7000"/>
              </a:srgbClr>
            </a:outerShdw>
          </a:effectLst>
        </p:spPr>
      </p:sp>
      <p:sp>
        <p:nvSpPr>
          <p:cNvPr id="24" name="Shape 21"/>
          <p:cNvSpPr/>
          <p:nvPr/>
        </p:nvSpPr>
        <p:spPr>
          <a:xfrm>
            <a:off x="320040" y="3456432"/>
            <a:ext cx="73152" cy="457200"/>
          </a:xfrm>
          <a:prstGeom prst="rect">
            <a:avLst/>
          </a:prstGeom>
          <a:solidFill>
            <a:srgbClr val="00C4B4"/>
          </a:solidFill>
          <a:ln/>
        </p:spPr>
      </p:sp>
      <p:sp>
        <p:nvSpPr>
          <p:cNvPr id="25" name="Text 22"/>
          <p:cNvSpPr/>
          <p:nvPr/>
        </p:nvSpPr>
        <p:spPr>
          <a:xfrm>
            <a:off x="475488" y="3493008"/>
            <a:ext cx="2560320" cy="237744"/>
          </a:xfrm>
          <a:prstGeom prst="rect">
            <a:avLst/>
          </a:prstGeom>
          <a:noFill/>
          <a:ln/>
        </p:spPr>
        <p:txBody>
          <a:bodyPr wrap="square" rtlCol="0" anchor="ctr"/>
          <a:lstStyle/>
          <a:p>
            <a:pPr indent="0" marL="0">
              <a:buNone/>
            </a:pPr>
            <a:r>
              <a:rPr lang="en-US" sz="1200" b="1" dirty="0">
                <a:solidFill>
                  <a:srgbClr val="0D1B2A"/>
                </a:solidFill>
                <a:latin typeface="Consolas" pitchFamily="34" charset="0"/>
                <a:ea typeface="Consolas" pitchFamily="34" charset="-122"/>
                <a:cs typeface="Consolas" pitchFamily="34" charset="-120"/>
              </a:rPr>
              <a:t>05-dependency-risk-review.md</a:t>
            </a:r>
            <a:endParaRPr lang="en-US" sz="1200" dirty="0"/>
          </a:p>
        </p:txBody>
      </p:sp>
      <p:sp>
        <p:nvSpPr>
          <p:cNvPr id="26" name="Text 23"/>
          <p:cNvSpPr/>
          <p:nvPr/>
        </p:nvSpPr>
        <p:spPr>
          <a:xfrm>
            <a:off x="3127248" y="3511296"/>
            <a:ext cx="5577840" cy="347472"/>
          </a:xfrm>
          <a:prstGeom prst="rect">
            <a:avLst/>
          </a:prstGeom>
          <a:noFill/>
          <a:ln/>
        </p:spPr>
        <p:txBody>
          <a:bodyPr wrap="square" rtlCol="0" anchor="ctr"/>
          <a:lstStyle/>
          <a:p>
            <a:pPr indent="0" marL="0">
              <a:buNone/>
            </a:pPr>
            <a:r>
              <a:rPr lang="en-US" sz="1150" dirty="0">
                <a:solidFill>
                  <a:srgbClr val="7A9BAA"/>
                </a:solidFill>
                <a:latin typeface="Calibri" pitchFamily="34" charset="0"/>
                <a:ea typeface="Calibri" pitchFamily="34" charset="-122"/>
                <a:cs typeface="Calibri" pitchFamily="34" charset="-120"/>
              </a:rPr>
              <a:t>CVEs in requirements.txt, pinned vulnerable versions, unpinned packages</a:t>
            </a:r>
            <a:endParaRPr lang="en-US" sz="1150" dirty="0"/>
          </a:p>
        </p:txBody>
      </p:sp>
      <p:sp>
        <p:nvSpPr>
          <p:cNvPr id="27" name="Text 24"/>
          <p:cNvSpPr/>
          <p:nvPr/>
        </p:nvSpPr>
        <p:spPr>
          <a:xfrm>
            <a:off x="320040" y="4041648"/>
            <a:ext cx="8503920" cy="292608"/>
          </a:xfrm>
          <a:prstGeom prst="rect">
            <a:avLst/>
          </a:prstGeom>
          <a:noFill/>
          <a:ln/>
        </p:spPr>
        <p:txBody>
          <a:bodyPr wrap="square" rtlCol="0" anchor="ctr"/>
          <a:lstStyle/>
          <a:p>
            <a:pPr indent="0" marL="0">
              <a:buNone/>
            </a:pPr>
            <a:r>
              <a:rPr lang="en-US" sz="1300" dirty="0">
                <a:solidFill>
                  <a:srgbClr val="F4A261"/>
                </a:solidFill>
                <a:latin typeface="Calibri" pitchFamily="34" charset="0"/>
                <a:ea typeface="Calibri" pitchFamily="34" charset="-122"/>
                <a:cs typeface="Calibri" pitchFamily="34" charset="-120"/>
              </a:rPr>
              <a:t>Gradio Security Memory tab: distance scores show in results — remind students lower = better for Weaviate.</a:t>
            </a:r>
            <a:endParaRPr lang="en-US" sz="1300" dirty="0"/>
          </a:p>
        </p:txBody>
      </p:sp>
      <p:sp>
        <p:nvSpPr>
          <p:cNvPr id="28" name="Text 25"/>
          <p:cNvSpPr/>
          <p:nvPr/>
        </p:nvSpPr>
        <p:spPr>
          <a:xfrm>
            <a:off x="320040" y="4389120"/>
            <a:ext cx="8503920" cy="292608"/>
          </a:xfrm>
          <a:prstGeom prst="rect">
            <a:avLst/>
          </a:prstGeom>
          <a:noFill/>
          <a:ln/>
        </p:spPr>
        <p:txBody>
          <a:bodyPr wrap="square" rtlCol="0" anchor="ctr"/>
          <a:lstStyle/>
          <a:p>
            <a:pPr indent="0" marL="0">
              <a:buNone/>
            </a:pPr>
            <a:r>
              <a:rPr lang="en-US" sz="1250" dirty="0">
                <a:solidFill>
                  <a:srgbClr val="008B80"/>
                </a:solidFill>
                <a:latin typeface="Calibri" pitchFamily="34" charset="0"/>
                <a:ea typeface="Calibri" pitchFamily="34" charset="-122"/>
                <a:cs typeface="Calibri" pitchFamily="34" charset="-120"/>
              </a:rPr>
              <a:t>Optional MCP: configure Cursor to call /memory/query automatically. Config examples in security-memory/mcp/</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2236"/>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C4B4"/>
          </a:solidFill>
          <a:ln/>
        </p:spPr>
      </p:sp>
      <p:sp>
        <p:nvSpPr>
          <p:cNvPr id="3" name="Text 1"/>
          <p:cNvSpPr/>
          <p:nvPr/>
        </p:nvSpPr>
        <p:spPr>
          <a:xfrm>
            <a:off x="320040" y="0"/>
            <a:ext cx="8503920" cy="77724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What's Next — Extending the System</a:t>
            </a:r>
            <a:endParaRPr lang="en-US" sz="2200" dirty="0"/>
          </a:p>
        </p:txBody>
      </p:sp>
      <p:sp>
        <p:nvSpPr>
          <p:cNvPr id="4" name="Shape 2"/>
          <p:cNvSpPr/>
          <p:nvPr/>
        </p:nvSpPr>
        <p:spPr>
          <a:xfrm>
            <a:off x="0" y="4892040"/>
            <a:ext cx="9144000" cy="251460"/>
          </a:xfrm>
          <a:prstGeom prst="rect">
            <a:avLst/>
          </a:prstGeom>
          <a:solidFill>
            <a:srgbClr val="008B80"/>
          </a:solidFill>
          <a:ln/>
        </p:spPr>
      </p:sp>
      <p:sp>
        <p:nvSpPr>
          <p:cNvPr id="6" name="Text 3"/>
          <p:cNvSpPr/>
          <p:nvPr/>
        </p:nvSpPr>
        <p:spPr>
          <a:xfrm>
            <a:off x="365760" y="914400"/>
            <a:ext cx="8412480" cy="320040"/>
          </a:xfrm>
          <a:prstGeom prst="rect">
            <a:avLst/>
          </a:prstGeom>
          <a:noFill/>
          <a:ln/>
        </p:spPr>
        <p:txBody>
          <a:bodyPr wrap="square" rtlCol="0" anchor="ctr"/>
          <a:lstStyle/>
          <a:p>
            <a:pPr indent="0" marL="0">
              <a:buNone/>
            </a:pPr>
            <a:r>
              <a:rPr lang="en-US" sz="1400" b="1" dirty="0">
                <a:solidFill>
                  <a:srgbClr val="00C4B4"/>
                </a:solidFill>
                <a:latin typeface="Calibri" pitchFamily="34" charset="0"/>
                <a:ea typeface="Calibri" pitchFamily="34" charset="-122"/>
                <a:cs typeface="Calibri" pitchFamily="34" charset="-120"/>
              </a:rPr>
              <a:t>Other labs in this series:</a:t>
            </a:r>
            <a:endParaRPr lang="en-US" sz="1400" dirty="0"/>
          </a:p>
        </p:txBody>
      </p:sp>
      <p:sp>
        <p:nvSpPr>
          <p:cNvPr id="7" name="Shape 4"/>
          <p:cNvSpPr/>
          <p:nvPr/>
        </p:nvSpPr>
        <p:spPr>
          <a:xfrm>
            <a:off x="365760" y="1298448"/>
            <a:ext cx="8412480" cy="1143000"/>
          </a:xfrm>
          <a:prstGeom prst="rect">
            <a:avLst/>
          </a:prstGeom>
          <a:solidFill>
            <a:srgbClr val="192C20"/>
          </a:solidFill>
          <a:ln/>
          <a:effectLst>
            <a:outerShdw sx="100000" sy="100000" kx="0" ky="0" algn="bl" rotWithShape="0" blurRad="50800" dist="25400" dir="16200000">
              <a:srgbClr val="000000">
                <a:alpha val="20000"/>
              </a:srgbClr>
            </a:outerShdw>
          </a:effectLst>
        </p:spPr>
      </p:sp>
      <p:sp>
        <p:nvSpPr>
          <p:cNvPr id="8" name="Shape 5"/>
          <p:cNvSpPr/>
          <p:nvPr/>
        </p:nvSpPr>
        <p:spPr>
          <a:xfrm>
            <a:off x="365760" y="1298448"/>
            <a:ext cx="91440" cy="1143000"/>
          </a:xfrm>
          <a:prstGeom prst="rect">
            <a:avLst/>
          </a:prstGeom>
          <a:solidFill>
            <a:srgbClr val="7A9BAA"/>
          </a:solidFill>
          <a:ln/>
        </p:spPr>
      </p:sp>
      <p:sp>
        <p:nvSpPr>
          <p:cNvPr id="9" name="Text 6"/>
          <p:cNvSpPr/>
          <p:nvPr/>
        </p:nvSpPr>
        <p:spPr>
          <a:xfrm>
            <a:off x="566928" y="1389888"/>
            <a:ext cx="8046720" cy="320040"/>
          </a:xfrm>
          <a:prstGeom prst="rect">
            <a:avLst/>
          </a:prstGeom>
          <a:noFill/>
          <a:ln/>
        </p:spPr>
        <p:txBody>
          <a:bodyPr wrap="square" rtlCol="0" anchor="ctr"/>
          <a:lstStyle/>
          <a:p>
            <a:pPr indent="0" marL="0">
              <a:buNone/>
            </a:pPr>
            <a:r>
              <a:rPr lang="en-US" sz="1500" b="1" dirty="0">
                <a:solidFill>
                  <a:srgbClr val="7A9BAA"/>
                </a:solidFill>
                <a:latin typeface="Calibri" pitchFamily="34" charset="0"/>
                <a:ea typeface="Calibri" pitchFamily="34" charset="-122"/>
                <a:cs typeface="Calibri" pitchFamily="34" charset="-120"/>
              </a:rPr>
              <a:t>Lab 1 — Qdrant</a:t>
            </a:r>
            <a:endParaRPr lang="en-US" sz="1500" dirty="0"/>
          </a:p>
        </p:txBody>
      </p:sp>
      <p:sp>
        <p:nvSpPr>
          <p:cNvPr id="10" name="Text 7"/>
          <p:cNvSpPr/>
          <p:nvPr/>
        </p:nvSpPr>
        <p:spPr>
          <a:xfrm>
            <a:off x="566928" y="1755648"/>
            <a:ext cx="8046720" cy="594360"/>
          </a:xfrm>
          <a:prstGeom prst="rect">
            <a:avLst/>
          </a:prstGeom>
          <a:noFill/>
          <a:ln/>
        </p:spPr>
        <p:txBody>
          <a:bodyPr wrap="square" rtlCol="0" anchor="ctr"/>
          <a:lstStyle/>
          <a:p>
            <a:pPr indent="0" marL="0">
              <a:buNone/>
            </a:pPr>
            <a:r>
              <a:rPr lang="en-US" sz="1250" dirty="0">
                <a:solidFill>
                  <a:srgbClr val="D8ECEC"/>
                </a:solidFill>
                <a:latin typeface="Calibri" pitchFamily="34" charset="0"/>
                <a:ea typeface="Calibri" pitchFamily="34" charset="-122"/>
                <a:cs typeface="Calibri" pitchFamily="34" charset="-120"/>
              </a:rPr>
              <a:t>Key differences: Flexible payload, manual embedding via ingestion API, similarity scores (higher = better), no patches folder</a:t>
            </a:r>
            <a:endParaRPr lang="en-US" sz="1250" dirty="0"/>
          </a:p>
        </p:txBody>
      </p:sp>
      <p:sp>
        <p:nvSpPr>
          <p:cNvPr id="11" name="Shape 8"/>
          <p:cNvSpPr/>
          <p:nvPr/>
        </p:nvSpPr>
        <p:spPr>
          <a:xfrm>
            <a:off x="365760" y="2624328"/>
            <a:ext cx="8412480" cy="1143000"/>
          </a:xfrm>
          <a:prstGeom prst="rect">
            <a:avLst/>
          </a:prstGeom>
          <a:solidFill>
            <a:srgbClr val="192C20"/>
          </a:solidFill>
          <a:ln/>
          <a:effectLst>
            <a:outerShdw sx="100000" sy="100000" kx="0" ky="0" algn="bl" rotWithShape="0" blurRad="50800" dist="25400" dir="16200000">
              <a:srgbClr val="000000">
                <a:alpha val="20000"/>
              </a:srgbClr>
            </a:outerShdw>
          </a:effectLst>
        </p:spPr>
      </p:sp>
      <p:sp>
        <p:nvSpPr>
          <p:cNvPr id="12" name="Shape 9"/>
          <p:cNvSpPr/>
          <p:nvPr/>
        </p:nvSpPr>
        <p:spPr>
          <a:xfrm>
            <a:off x="365760" y="2624328"/>
            <a:ext cx="91440" cy="1143000"/>
          </a:xfrm>
          <a:prstGeom prst="rect">
            <a:avLst/>
          </a:prstGeom>
          <a:solidFill>
            <a:srgbClr val="00C4B4"/>
          </a:solidFill>
          <a:ln/>
        </p:spPr>
      </p:sp>
      <p:sp>
        <p:nvSpPr>
          <p:cNvPr id="13" name="Text 10"/>
          <p:cNvSpPr/>
          <p:nvPr/>
        </p:nvSpPr>
        <p:spPr>
          <a:xfrm>
            <a:off x="566928" y="2715768"/>
            <a:ext cx="8046720" cy="320040"/>
          </a:xfrm>
          <a:prstGeom prst="rect">
            <a:avLst/>
          </a:prstGeom>
          <a:noFill/>
          <a:ln/>
        </p:spPr>
        <p:txBody>
          <a:bodyPr wrap="square" rtlCol="0" anchor="ctr"/>
          <a:lstStyle/>
          <a:p>
            <a:pPr indent="0" marL="0">
              <a:buNone/>
            </a:pPr>
            <a:r>
              <a:rPr lang="en-US" sz="1500" b="1" dirty="0">
                <a:solidFill>
                  <a:srgbClr val="00C4B4"/>
                </a:solidFill>
                <a:latin typeface="Calibri" pitchFamily="34" charset="0"/>
                <a:ea typeface="Calibri" pitchFamily="34" charset="-122"/>
                <a:cs typeface="Calibri" pitchFamily="34" charset="-120"/>
              </a:rPr>
              <a:t>Lab 3 — Milvus</a:t>
            </a:r>
            <a:endParaRPr lang="en-US" sz="1500" dirty="0"/>
          </a:p>
        </p:txBody>
      </p:sp>
      <p:sp>
        <p:nvSpPr>
          <p:cNvPr id="14" name="Text 11"/>
          <p:cNvSpPr/>
          <p:nvPr/>
        </p:nvSpPr>
        <p:spPr>
          <a:xfrm>
            <a:off x="566928" y="3081528"/>
            <a:ext cx="8046720" cy="594360"/>
          </a:xfrm>
          <a:prstGeom prst="rect">
            <a:avLst/>
          </a:prstGeom>
          <a:noFill/>
          <a:ln/>
        </p:spPr>
        <p:txBody>
          <a:bodyPr wrap="square" rtlCol="0" anchor="ctr"/>
          <a:lstStyle/>
          <a:p>
            <a:pPr indent="0" marL="0">
              <a:buNone/>
            </a:pPr>
            <a:r>
              <a:rPr lang="en-US" sz="1250" dirty="0">
                <a:solidFill>
                  <a:srgbClr val="D8ECEC"/>
                </a:solidFill>
                <a:latin typeface="Calibri" pitchFamily="34" charset="0"/>
                <a:ea typeface="Calibri" pitchFamily="34" charset="-122"/>
                <a:cs typeface="Calibri" pitchFamily="34" charset="-120"/>
              </a:rPr>
              <a:t>Key differences: 3-service cluster (etcd + MinIO + Milvus), typed schemas, columnar inserts, gRPC port 19530, explicit flush(), HNSW indexing</a:t>
            </a:r>
            <a:endParaRPr lang="en-US" sz="1250" dirty="0"/>
          </a:p>
        </p:txBody>
      </p:sp>
      <p:sp>
        <p:nvSpPr>
          <p:cNvPr id="15" name="Text 12"/>
          <p:cNvSpPr/>
          <p:nvPr/>
        </p:nvSpPr>
        <p:spPr>
          <a:xfrm>
            <a:off x="365760" y="4041648"/>
            <a:ext cx="8412480" cy="320040"/>
          </a:xfrm>
          <a:prstGeom prst="rect">
            <a:avLst/>
          </a:prstGeom>
          <a:noFill/>
          <a:ln/>
        </p:spPr>
        <p:txBody>
          <a:bodyPr wrap="square"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Further extensions:</a:t>
            </a:r>
            <a:endParaRPr lang="en-US" sz="1400" dirty="0"/>
          </a:p>
        </p:txBody>
      </p:sp>
      <p:sp>
        <p:nvSpPr>
          <p:cNvPr id="16" name="Text 13"/>
          <p:cNvSpPr/>
          <p:nvPr/>
        </p:nvSpPr>
        <p:spPr>
          <a:xfrm>
            <a:off x="365760" y="4407408"/>
            <a:ext cx="8412480" cy="640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Move security_memory to ingestion-api/app/ directly so it bakes into the Docker image (no more docker cp)</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Upgrade Ollama model to llama3.2:3b for better answer quality at the cost of speed</a:t>
            </a:r>
            <a:endParaRPr lang="en-US" sz="1300" dirty="0"/>
          </a:p>
          <a:p>
            <a:pPr marL="342900" indent="-342900">
              <a:spcAft>
                <a:spcPts val="400"/>
              </a:spcAft>
              <a:buSzPct val="100000"/>
              <a:buChar char="•"/>
            </a:pPr>
            <a:r>
              <a:rPr lang="en-US" sz="1300" dirty="0">
                <a:solidFill>
                  <a:srgbClr val="D8ECEC"/>
                </a:solidFill>
                <a:latin typeface="Calibri" pitchFamily="34" charset="0"/>
                <a:ea typeface="Calibri" pitchFamily="34" charset="-122"/>
                <a:cs typeface="Calibri" pitchFamily="34" charset="-120"/>
              </a:rPr>
              <a:t>Add NotebookLM content from lesson files: podcasts, study guides, briefing docs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2 — Production-Grade RAG Infrastructure with Weaviate</dc:title>
  <dc:subject>PptxGenJS Presentation</dc:subject>
  <dc:creator>PptxGenJS</dc:creator>
  <cp:lastModifiedBy>PptxGenJS</cp:lastModifiedBy>
  <cp:revision>1</cp:revision>
  <dcterms:created xsi:type="dcterms:W3CDTF">2026-03-24T00:32:42Z</dcterms:created>
  <dcterms:modified xsi:type="dcterms:W3CDTF">2026-03-24T00:32:42Z</dcterms:modified>
</cp:coreProperties>
</file>